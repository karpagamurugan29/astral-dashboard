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1d4712ed-b3ca-5256-f893-ea28983228ea}">
          <p14:sldIdLst>
            <p14:sldId id="256"/>
            <p14:sldId id="257"/>
            <p14:sldId id="258"/>
            <p14:sldId id="259"/>
          </p14:sldIdLst>
        </p14:section>
        <p14:section name="Staff" id="{d1534bf5-8c23-af29-1f2c-cf5ff95fa4b8}">
          <p14:sldIdLst>
            <p14:sldId id="260"/>
            <p14:sldId id="261"/>
            <p14:sldId id="262"/>
            <p14:sldId id="263"/>
            <p14:sldId id="264"/>
            <p14:sldId id="265"/>
            <p14:sldId id="266"/>
          </p14:sldIdLst>
        </p14:section>
        <p14:section name="Managers &amp; team leads" id="{1c24221b-898d-b328-75d4-4ec08a37398c}">
          <p14:sldIdLst>
            <p14:sldId id="267"/>
            <p14:sldId id="268"/>
            <p14:sldId id="269"/>
            <p14:sldId id="270"/>
          </p14:sldIdLst>
        </p14:section>
        <p14:section name="HR" id="{979c75cf-99d4-9b0e-9bbd-a0b062711da1}">
          <p14:sldIdLst>
            <p14:sldId id="271"/>
            <p14:sldId id="272"/>
          </p14:sldIdLst>
        </p14:section>
        <p14:section name="Accounts" id="{fa1f29b1-c75e-405e-be49-058bfef9bc84}">
          <p14:sldIdLst>
            <p14:sldId id="273"/>
            <p14:sldId id="274"/>
          </p14:sldIdLst>
        </p14:section>
        <p14:section name="Partners &amp; directors" id="{2d6742f2-17b0-9bfe-b6b1-5f3ec708f00b}">
          <p14:sldIdLst>
            <p14:sldId id="275"/>
            <p14:sldId id="276"/>
            <p14:sldId id="277"/>
          </p14:sldIdLst>
        </p14:section>
        <p14:section name="Reference" id="{8abc2934-8320-97b5-f2a6-d3268eda0685}">
          <p14:sldIdLst>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guide to the Astral Workspace app: how an audit moves from client to invoice, how everyday requests are approved, and which screens each role works in. Screenshots are from the live app with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Forgotten timers stop automatically at 7 PM. Only approved time reaches billing. Changing an Audit Checklist never changes audits that are already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1E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515600" cy="14630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r>
              <a:rPr lang="en-US" sz="4800" b="1" dirty="0">
                <a:solidFill>
                  <a:schemeClr val="bg1"/>
                </a:solidFill>
              </a:rPr>
              <a:t>Title</a:t>
            </a:r>
            <a:endParaRPr lang="en-US" sz="4800" dirty="0"/>
          </a:p>
        </p:txBody>
      </p:sp>
      <p:sp>
        <p:nvSpPr>
          <p:cNvPr id="3" name="Text 0"/>
          <p:cNvSpPr/>
          <p:nvPr>
            <p:ph idx="101" type="body" hasCustomPrompt="1"/>
          </p:nvPr>
        </p:nvSpPr>
        <p:spPr>
          <a:xfrm>
            <a:off x="731520" y="3657600"/>
            <a:ext cx="10058400" cy="914400"/>
          </a:xfrm>
          <a:prstGeom prst="rect">
            <a:avLst/>
          </a:prstGeom>
          <a:noFill/>
          <a:ln/>
        </p:spPr>
        <p:txBody>
          <a:bodyPr wrap="square" rtlCol="0"/>
          <a:lstStyle>
            <a:lvl1pPr algn="l" indent="0" marL="0">
              <a:buNone/>
              <a:defRPr lang="en-US" sz="2000" dirty="0">
                <a:solidFill>
                  <a:srgbClr val="CBD5E1"/>
                </a:solidFill>
              </a:defRPr>
            </a:lvl1pPr>
          </a:lstStyle>
          <a:p>
            <a:pPr algn="l" indent="0" marL="0">
              <a:buNone/>
            </a:pPr>
            <a:r>
              <a:rPr lang="en-US" sz="2000" dirty="0">
                <a:solidFill>
                  <a:srgbClr val="CBD5E1"/>
                </a:solidFill>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F1E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058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Section</a:t>
            </a:r>
            <a:endParaRPr lang="en-US" sz="4400" dirty="0"/>
          </a:p>
        </p:txBody>
      </p:sp>
      <p:sp>
        <p:nvSpPr>
          <p:cNvPr id="3" name="Text 0"/>
          <p:cNvSpPr/>
          <p:nvPr>
            <p:ph idx="101" type="body" hasCustomPrompt="1"/>
          </p:nvPr>
        </p:nvSpPr>
        <p:spPr>
          <a:xfrm>
            <a:off x="731520" y="3794760"/>
            <a:ext cx="10058400" cy="1097280"/>
          </a:xfrm>
          <a:prstGeom prst="rect">
            <a:avLst/>
          </a:prstGeom>
          <a:noFill/>
          <a:ln/>
        </p:spPr>
        <p:txBody>
          <a:bodyPr wrap="square" rtlCol="0"/>
          <a:lstStyle>
            <a:lvl1pPr algn="l" indent="0" marL="0">
              <a:buNone/>
              <a:defRPr lang="en-US" sz="1800" dirty="0">
                <a:solidFill>
                  <a:srgbClr val="CBD5E1"/>
                </a:solidFill>
              </a:defRPr>
            </a:lvl1pPr>
          </a:lstStyle>
          <a:p>
            <a:pPr algn="l" indent="0" marL="0">
              <a:buNone/>
            </a:pPr>
            <a:r>
              <a:rPr lang="en-US" sz="1800" dirty="0">
                <a:solidFill>
                  <a:srgbClr val="CBD5E1"/>
                </a:solidFill>
              </a:rPr>
              <a:t>Who</a:t>
            </a: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r>
              <a:rPr lang="en-US" sz="3200" b="1" dirty="0">
                <a:solidFill>
                  <a:schemeClr val="tx2"/>
                </a:solidFill>
              </a:rPr>
              <a:t>Title</a:t>
            </a:r>
            <a:endParaRPr lang="en-US" sz="3200" dirty="0"/>
          </a:p>
        </p:txBody>
      </p:sp>
      <p:sp>
        <p:nvSpPr>
          <p:cNvPr id="3" name="Text 0"/>
          <p:cNvSpPr/>
          <p:nvPr>
            <p:ph idx="101" type="body" hasCustomPrompt="1"/>
          </p:nvPr>
        </p:nvSpPr>
        <p:spPr>
          <a:xfrm>
            <a:off x="548640" y="960120"/>
            <a:ext cx="11064240" cy="365760"/>
          </a:xfrm>
          <a:prstGeom prst="rect">
            <a:avLst/>
          </a:prstGeom>
          <a:noFill/>
          <a:ln/>
        </p:spPr>
        <p:txBody>
          <a:bodyPr wrap="square" rtlCol="0"/>
          <a:lstStyle>
            <a:lvl1pPr algn="l" indent="0" marL="0">
              <a:buNone/>
              <a:defRPr lang="en-US" sz="1500" dirty="0">
                <a:solidFill>
                  <a:srgbClr val="64748B"/>
                </a:solidFill>
              </a:defRPr>
            </a:lvl1pPr>
          </a:lstStyle>
          <a:p>
            <a:pPr algn="l" indent="0" marL="0">
              <a:buNone/>
            </a:pPr>
            <a:r>
              <a:rPr lang="en-US" sz="1500" dirty="0">
                <a:solidFill>
                  <a:srgbClr val="64748B"/>
                </a:solidFill>
              </a:rPr>
              <a:t>Kicker</a:t>
            </a:r>
            <a:endParaRPr lang="en-US" sz="15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94A3B8"/>
                </a:solidFill>
              </a:rPr>
              <a:t>Astral Workspace · Role &amp; screen guide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slideLayout" Target="../slideLayouts/slideLayout4.xml"/><Relationship Id="rId1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image" Target="../media/image-25-11.png"/><Relationship Id="rId12" Type="http://schemas.openxmlformats.org/officeDocument/2006/relationships/image" Target="../media/image-25-12.png"/><Relationship Id="rId13" Type="http://schemas.openxmlformats.org/officeDocument/2006/relationships/image" Target="../media/image-25-13.png"/><Relationship Id="rId14" Type="http://schemas.openxmlformats.org/officeDocument/2006/relationships/image" Target="../media/image-25-14.png"/><Relationship Id="rId15" Type="http://schemas.openxmlformats.org/officeDocument/2006/relationships/image" Target="../media/image-25-15.png"/><Relationship Id="rId16" Type="http://schemas.openxmlformats.org/officeDocument/2006/relationships/image" Target="../media/image-25-16.png"/><Relationship Id="rId17" Type="http://schemas.openxmlformats.org/officeDocument/2006/relationships/image" Target="../media/image-25-17.png"/><Relationship Id="rId18" Type="http://schemas.openxmlformats.org/officeDocument/2006/relationships/slideLayout" Target="../slideLayouts/slideLayout4.xml"/><Relationship Id="rId1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515600" cy="1463040"/>
          </a:xfrm>
          <a:prstGeom prst="rect">
            <a:avLst/>
          </a:prstGeom>
          <a:noFill/>
          <a:ln/>
        </p:spPr>
        <p:txBody>
          <a:bodyPr wrap="square" lIns="0" tIns="0" rIns="0" bIns="0" rtlCol="0" anchor="b"/>
          <a:lstStyle/>
          <a:p>
            <a:pPr algn="l" indent="0" marL="0">
              <a:buNone/>
            </a:pPr>
            <a:r>
              <a:rPr lang="en-US" sz="4800" b="1" dirty="0">
                <a:solidFill>
                  <a:schemeClr val="bg1"/>
                </a:solidFill>
              </a:rPr>
              <a:t>Astral Workspace: who does what, and where</a:t>
            </a:r>
            <a:endParaRPr lang="en-US" sz="4800" dirty="0"/>
          </a:p>
        </p:txBody>
      </p:sp>
      <p:sp>
        <p:nvSpPr>
          <p:cNvPr id="3" name="Text 0"/>
          <p:cNvSpPr/>
          <p:nvPr>
            <p:ph idx="101" type="body" hasCustomPrompt="1"/>
          </p:nvPr>
        </p:nvSpPr>
        <p:spPr>
          <a:xfrm>
            <a:off x="731520" y="3657600"/>
            <a:ext cx="10058400" cy="914400"/>
          </a:xfrm>
          <a:prstGeom prst="rect">
            <a:avLst/>
          </a:prstGeom>
          <a:noFill/>
          <a:ln/>
        </p:spPr>
        <p:txBody>
          <a:bodyPr wrap="square" lIns="0" tIns="0" rIns="0" bIns="0" rtlCol="0" anchor="t"/>
          <a:lstStyle/>
          <a:p>
            <a:pPr algn="l" indent="0" marL="0">
              <a:buNone/>
            </a:pPr>
            <a:r>
              <a:rPr lang="en-US" sz="2000" dirty="0">
                <a:solidFill>
                  <a:srgbClr val="CBD5E1"/>
                </a:solidFill>
              </a:rPr>
              <a:t>The project flow and the screens each role uses — Partners, HR, Accounts, Managers, Team leads and Staff · October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200" b="1" dirty="0">
                <a:solidFill>
                  <a:schemeClr val="tx2"/>
                </a:solidFill>
              </a:rPr>
              <a:t>Six groups of people use the app</a:t>
            </a:r>
            <a:endParaRPr lang="en-US" sz="32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rgbClr val="64748B"/>
                </a:solidFill>
              </a:rPr>
              <a:t>Your designation decides which menu items you see. Admins can change this in Settings › Access Control.</a:t>
            </a:r>
            <a:endParaRPr lang="en-US" sz="1500" dirty="0"/>
          </a:p>
        </p:txBody>
      </p:sp>
      <p:sp>
        <p:nvSpPr>
          <p:cNvPr id="4" name="role-card-1"/>
          <p:cNvSpPr/>
          <p:nvPr/>
        </p:nvSpPr>
        <p:spPr>
          <a:xfrm>
            <a:off x="548640" y="1600200"/>
            <a:ext cx="3520440" cy="2240280"/>
          </a:xfrm>
          <a:prstGeom prst="roundRect">
            <a:avLst>
              <a:gd name="adj" fmla="val 4898"/>
            </a:avLst>
          </a:prstGeom>
          <a:solidFill>
            <a:srgbClr val="F3F5FA"/>
          </a:solidFill>
          <a:ln w="12700">
            <a:solidFill>
              <a:srgbClr val="F3F5FA"/>
            </a:solidFill>
            <a:prstDash val="solid"/>
          </a:ln>
        </p:spPr>
      </p:sp>
      <p:sp>
        <p:nvSpPr>
          <p:cNvPr id="5" name="icon-bg-MdWorkspacePremium"/>
          <p:cNvSpPr/>
          <p:nvPr/>
        </p:nvSpPr>
        <p:spPr>
          <a:xfrm>
            <a:off x="777240" y="1828800"/>
            <a:ext cx="566928" cy="566928"/>
          </a:xfrm>
          <a:prstGeom prst="ellipse">
            <a:avLst/>
          </a:prstGeom>
          <a:solidFill>
            <a:srgbClr val="C8102E"/>
          </a:solidFill>
          <a:ln w="12700">
            <a:solidFill>
              <a:srgbClr val="C8102E"/>
            </a:solidFill>
            <a:prstDash val="solid"/>
          </a:ln>
        </p:spPr>
      </p:sp>
      <p:pic>
        <p:nvPicPr>
          <p:cNvPr id="6" name="icon-MdWorkspacePremium" descr="preencoded.png">    </p:cNvPr>
          <p:cNvPicPr>
            <a:picLocks noChangeAspect="1"/>
          </p:cNvPicPr>
          <p:nvPr/>
        </p:nvPicPr>
        <p:blipFill>
          <a:blip r:embed="rId1"/>
          <a:stretch>
            <a:fillRect/>
          </a:stretch>
        </p:blipFill>
        <p:spPr>
          <a:xfrm>
            <a:off x="913303" y="1964863"/>
            <a:ext cx="294803" cy="294803"/>
          </a:xfrm>
          <a:prstGeom prst="rect">
            <a:avLst/>
          </a:prstGeom>
        </p:spPr>
      </p:pic>
      <p:sp>
        <p:nvSpPr>
          <p:cNvPr id="7" name="Text 4"/>
          <p:cNvSpPr txBox="1"/>
          <p:nvPr/>
        </p:nvSpPr>
        <p:spPr>
          <a:xfrm>
            <a:off x="1463040" y="1801368"/>
            <a:ext cx="2468880" cy="640080"/>
          </a:xfrm>
          <a:prstGeom prst="rect">
            <a:avLst/>
          </a:prstGeom>
          <a:noFill/>
          <a:ln/>
        </p:spPr>
        <p:txBody>
          <a:bodyPr wrap="square" lIns="0" tIns="0" rIns="0" bIns="0" rtlCol="0" anchor="ctr"/>
          <a:lstStyle/>
          <a:p>
            <a:pPr indent="0" marL="0">
              <a:buNone/>
            </a:pPr>
            <a:r>
              <a:rPr lang="en-US" sz="1600" b="1" dirty="0">
                <a:solidFill>
                  <a:srgbClr val="0F172A"/>
                </a:solidFill>
              </a:rPr>
              <a:t>Partners &amp; Directors</a:t>
            </a:r>
            <a:endParaRPr lang="en-US" sz="1600" dirty="0"/>
          </a:p>
        </p:txBody>
      </p:sp>
      <p:sp>
        <p:nvSpPr>
          <p:cNvPr id="8" name="Text 5"/>
          <p:cNvSpPr txBox="1"/>
          <p:nvPr/>
        </p:nvSpPr>
        <p:spPr>
          <a:xfrm>
            <a:off x="777240" y="2514600"/>
            <a:ext cx="3063240" cy="731520"/>
          </a:xfrm>
          <a:prstGeom prst="rect">
            <a:avLst/>
          </a:prstGeom>
          <a:noFill/>
          <a:ln/>
        </p:spPr>
        <p:txBody>
          <a:bodyPr wrap="square" lIns="0" tIns="0" rIns="0" bIns="0" rtlCol="0" anchor="t"/>
          <a:lstStyle/>
          <a:p>
            <a:pPr indent="0" marL="0">
              <a:buNone/>
            </a:pPr>
            <a:r>
              <a:rPr lang="en-US" sz="1400" dirty="0">
                <a:solidFill>
                  <a:srgbClr val="334155"/>
                </a:solidFill>
              </a:rPr>
              <a:t>Run the firm. See every screen, sign off audits and billing, set up access.</a:t>
            </a:r>
            <a:endParaRPr lang="en-US" sz="1400" dirty="0"/>
          </a:p>
        </p:txBody>
      </p:sp>
      <p:sp>
        <p:nvSpPr>
          <p:cNvPr id="9" name="Text 6"/>
          <p:cNvSpPr txBox="1"/>
          <p:nvPr/>
        </p:nvSpPr>
        <p:spPr>
          <a:xfrm>
            <a:off x="777240" y="3291840"/>
            <a:ext cx="3063240" cy="411480"/>
          </a:xfrm>
          <a:prstGeom prst="rect">
            <a:avLst/>
          </a:prstGeom>
          <a:noFill/>
          <a:ln/>
        </p:spPr>
        <p:txBody>
          <a:bodyPr wrap="square" lIns="0" tIns="0" rIns="0" bIns="0" rtlCol="0" anchor="t"/>
          <a:lstStyle/>
          <a:p>
            <a:pPr indent="0" marL="0">
              <a:buNone/>
            </a:pPr>
            <a:r>
              <a:rPr lang="en-US" sz="1200" b="1" dirty="0">
                <a:solidFill>
                  <a:srgbClr val="C8102E"/>
                </a:solidFill>
              </a:rPr>
              <a:t>Main screens: </a:t>
            </a:r>
            <a:pPr indent="0" marL="0">
              <a:buNone/>
            </a:pPr>
            <a:r>
              <a:rPr lang="en-US" sz="1200" dirty="0">
                <a:solidFill>
                  <a:srgbClr val="475569"/>
                </a:solidFill>
              </a:rPr>
              <a:t>Audit Dashboard · Reports · Settings</a:t>
            </a:r>
            <a:endParaRPr lang="en-US" sz="1200" dirty="0"/>
          </a:p>
        </p:txBody>
      </p:sp>
      <p:sp>
        <p:nvSpPr>
          <p:cNvPr id="10" name="role-card-2"/>
          <p:cNvSpPr/>
          <p:nvPr/>
        </p:nvSpPr>
        <p:spPr>
          <a:xfrm>
            <a:off x="4325112" y="1600200"/>
            <a:ext cx="3520440" cy="2240280"/>
          </a:xfrm>
          <a:prstGeom prst="roundRect">
            <a:avLst>
              <a:gd name="adj" fmla="val 4898"/>
            </a:avLst>
          </a:prstGeom>
          <a:solidFill>
            <a:srgbClr val="F3F5FA"/>
          </a:solidFill>
          <a:ln w="12700">
            <a:solidFill>
              <a:srgbClr val="F3F5FA"/>
            </a:solidFill>
            <a:prstDash val="solid"/>
          </a:ln>
        </p:spPr>
      </p:sp>
      <p:sp>
        <p:nvSpPr>
          <p:cNvPr id="11" name="icon-bg-MdBadge"/>
          <p:cNvSpPr/>
          <p:nvPr/>
        </p:nvSpPr>
        <p:spPr>
          <a:xfrm>
            <a:off x="4553712" y="1828800"/>
            <a:ext cx="566928" cy="566928"/>
          </a:xfrm>
          <a:prstGeom prst="ellipse">
            <a:avLst/>
          </a:prstGeom>
          <a:solidFill>
            <a:srgbClr val="7C3AED"/>
          </a:solidFill>
          <a:ln w="12700">
            <a:solidFill>
              <a:srgbClr val="7C3AED"/>
            </a:solidFill>
            <a:prstDash val="solid"/>
          </a:ln>
        </p:spPr>
      </p:sp>
      <p:pic>
        <p:nvPicPr>
          <p:cNvPr id="12" name="icon-MdBadge" descr="preencoded.png">    </p:cNvPr>
          <p:cNvPicPr>
            <a:picLocks noChangeAspect="1"/>
          </p:cNvPicPr>
          <p:nvPr/>
        </p:nvPicPr>
        <p:blipFill>
          <a:blip r:embed="rId2"/>
          <a:stretch>
            <a:fillRect/>
          </a:stretch>
        </p:blipFill>
        <p:spPr>
          <a:xfrm>
            <a:off x="4689775" y="1964863"/>
            <a:ext cx="294803" cy="294803"/>
          </a:xfrm>
          <a:prstGeom prst="rect">
            <a:avLst/>
          </a:prstGeom>
        </p:spPr>
      </p:pic>
      <p:sp>
        <p:nvSpPr>
          <p:cNvPr id="13" name="Text 9"/>
          <p:cNvSpPr txBox="1"/>
          <p:nvPr/>
        </p:nvSpPr>
        <p:spPr>
          <a:xfrm>
            <a:off x="5239512" y="1801368"/>
            <a:ext cx="2468880" cy="640080"/>
          </a:xfrm>
          <a:prstGeom prst="rect">
            <a:avLst/>
          </a:prstGeom>
          <a:noFill/>
          <a:ln/>
        </p:spPr>
        <p:txBody>
          <a:bodyPr wrap="square" lIns="0" tIns="0" rIns="0" bIns="0" rtlCol="0" anchor="ctr"/>
          <a:lstStyle/>
          <a:p>
            <a:pPr indent="0" marL="0">
              <a:buNone/>
            </a:pPr>
            <a:r>
              <a:rPr lang="en-US" sz="1600" b="1" dirty="0">
                <a:solidFill>
                  <a:srgbClr val="0F172A"/>
                </a:solidFill>
              </a:rPr>
              <a:t>HR Head &amp; HR</a:t>
            </a:r>
            <a:endParaRPr lang="en-US" sz="1600" dirty="0"/>
          </a:p>
        </p:txBody>
      </p:sp>
      <p:sp>
        <p:nvSpPr>
          <p:cNvPr id="14" name="Text 10"/>
          <p:cNvSpPr txBox="1"/>
          <p:nvPr/>
        </p:nvSpPr>
        <p:spPr>
          <a:xfrm>
            <a:off x="4553712" y="2514600"/>
            <a:ext cx="3063240" cy="731520"/>
          </a:xfrm>
          <a:prstGeom prst="rect">
            <a:avLst/>
          </a:prstGeom>
          <a:noFill/>
          <a:ln/>
        </p:spPr>
        <p:txBody>
          <a:bodyPr wrap="square" lIns="0" tIns="0" rIns="0" bIns="0" rtlCol="0" anchor="t"/>
          <a:lstStyle/>
          <a:p>
            <a:pPr indent="0" marL="0">
              <a:buNone/>
            </a:pPr>
            <a:r>
              <a:rPr lang="en-US" sz="1400" dirty="0">
                <a:solidFill>
                  <a:srgbClr val="334155"/>
                </a:solidFill>
              </a:rPr>
              <a:t>People records, attendance, leave, helpdesk tickets and payroll inputs.</a:t>
            </a:r>
            <a:endParaRPr lang="en-US" sz="1400" dirty="0"/>
          </a:p>
        </p:txBody>
      </p:sp>
      <p:sp>
        <p:nvSpPr>
          <p:cNvPr id="15" name="Text 11"/>
          <p:cNvSpPr txBox="1"/>
          <p:nvPr/>
        </p:nvSpPr>
        <p:spPr>
          <a:xfrm>
            <a:off x="4553712" y="3291840"/>
            <a:ext cx="3063240" cy="411480"/>
          </a:xfrm>
          <a:prstGeom prst="rect">
            <a:avLst/>
          </a:prstGeom>
          <a:noFill/>
          <a:ln/>
        </p:spPr>
        <p:txBody>
          <a:bodyPr wrap="square" lIns="0" tIns="0" rIns="0" bIns="0" rtlCol="0" anchor="t"/>
          <a:lstStyle/>
          <a:p>
            <a:pPr indent="0" marL="0">
              <a:buNone/>
            </a:pPr>
            <a:r>
              <a:rPr lang="en-US" sz="1200" b="1" dirty="0">
                <a:solidFill>
                  <a:srgbClr val="7C3AED"/>
                </a:solidFill>
              </a:rPr>
              <a:t>Main screens: </a:t>
            </a:r>
            <a:pPr indent="0" marL="0">
              <a:buNone/>
            </a:pPr>
            <a:r>
              <a:rPr lang="en-US" sz="1200" dirty="0">
                <a:solidFill>
                  <a:srgbClr val="475569"/>
                </a:solidFill>
              </a:rPr>
              <a:t>Employees · Team Attendance · HR Tickets</a:t>
            </a:r>
            <a:endParaRPr lang="en-US" sz="1200" dirty="0"/>
          </a:p>
        </p:txBody>
      </p:sp>
      <p:sp>
        <p:nvSpPr>
          <p:cNvPr id="16" name="role-card-3"/>
          <p:cNvSpPr/>
          <p:nvPr/>
        </p:nvSpPr>
        <p:spPr>
          <a:xfrm>
            <a:off x="8101584" y="1600200"/>
            <a:ext cx="3520440" cy="2240280"/>
          </a:xfrm>
          <a:prstGeom prst="roundRect">
            <a:avLst>
              <a:gd name="adj" fmla="val 4898"/>
            </a:avLst>
          </a:prstGeom>
          <a:solidFill>
            <a:srgbClr val="F3F5FA"/>
          </a:solidFill>
          <a:ln w="12700">
            <a:solidFill>
              <a:srgbClr val="F3F5FA"/>
            </a:solidFill>
            <a:prstDash val="solid"/>
          </a:ln>
        </p:spPr>
      </p:sp>
      <p:sp>
        <p:nvSpPr>
          <p:cNvPr id="17" name="icon-bg-MdAccountBalance"/>
          <p:cNvSpPr/>
          <p:nvPr/>
        </p:nvSpPr>
        <p:spPr>
          <a:xfrm>
            <a:off x="8330184" y="1828800"/>
            <a:ext cx="566928" cy="566928"/>
          </a:xfrm>
          <a:prstGeom prst="ellipse">
            <a:avLst/>
          </a:prstGeom>
          <a:solidFill>
            <a:srgbClr val="059669"/>
          </a:solidFill>
          <a:ln w="12700">
            <a:solidFill>
              <a:srgbClr val="059669"/>
            </a:solidFill>
            <a:prstDash val="solid"/>
          </a:ln>
        </p:spPr>
      </p:sp>
      <p:pic>
        <p:nvPicPr>
          <p:cNvPr id="18" name="icon-MdAccountBalance" descr="preencoded.png">    </p:cNvPr>
          <p:cNvPicPr>
            <a:picLocks noChangeAspect="1"/>
          </p:cNvPicPr>
          <p:nvPr/>
        </p:nvPicPr>
        <p:blipFill>
          <a:blip r:embed="rId3"/>
          <a:stretch>
            <a:fillRect/>
          </a:stretch>
        </p:blipFill>
        <p:spPr>
          <a:xfrm>
            <a:off x="8466247" y="1964863"/>
            <a:ext cx="294803" cy="294803"/>
          </a:xfrm>
          <a:prstGeom prst="rect">
            <a:avLst/>
          </a:prstGeom>
        </p:spPr>
      </p:pic>
      <p:sp>
        <p:nvSpPr>
          <p:cNvPr id="19" name="Text 14"/>
          <p:cNvSpPr txBox="1"/>
          <p:nvPr/>
        </p:nvSpPr>
        <p:spPr>
          <a:xfrm>
            <a:off x="9015984" y="1801368"/>
            <a:ext cx="2468880" cy="640080"/>
          </a:xfrm>
          <a:prstGeom prst="rect">
            <a:avLst/>
          </a:prstGeom>
          <a:noFill/>
          <a:ln/>
        </p:spPr>
        <p:txBody>
          <a:bodyPr wrap="square" lIns="0" tIns="0" rIns="0" bIns="0" rtlCol="0" anchor="ctr"/>
          <a:lstStyle/>
          <a:p>
            <a:pPr indent="0" marL="0">
              <a:buNone/>
            </a:pPr>
            <a:r>
              <a:rPr lang="en-US" sz="1600" b="1" dirty="0">
                <a:solidFill>
                  <a:srgbClr val="0F172A"/>
                </a:solidFill>
              </a:rPr>
              <a:t>Accounts Head &amp; Accounts</a:t>
            </a:r>
            <a:endParaRPr lang="en-US" sz="1600" dirty="0"/>
          </a:p>
        </p:txBody>
      </p:sp>
      <p:sp>
        <p:nvSpPr>
          <p:cNvPr id="20" name="Text 15"/>
          <p:cNvSpPr txBox="1"/>
          <p:nvPr/>
        </p:nvSpPr>
        <p:spPr>
          <a:xfrm>
            <a:off x="8330184" y="2514600"/>
            <a:ext cx="3063240" cy="731520"/>
          </a:xfrm>
          <a:prstGeom prst="rect">
            <a:avLst/>
          </a:prstGeom>
          <a:noFill/>
          <a:ln/>
        </p:spPr>
        <p:txBody>
          <a:bodyPr wrap="square" lIns="0" tIns="0" rIns="0" bIns="0" rtlCol="0" anchor="t"/>
          <a:lstStyle/>
          <a:p>
            <a:pPr indent="0" marL="0">
              <a:buNone/>
            </a:pPr>
            <a:r>
              <a:rPr lang="en-US" sz="1400" dirty="0">
                <a:solidFill>
                  <a:srgbClr val="334155"/>
                </a:solidFill>
              </a:rPr>
              <a:t>Approve and reimburse expenses, raise invoices, track collections.</a:t>
            </a:r>
            <a:endParaRPr lang="en-US" sz="1400" dirty="0"/>
          </a:p>
        </p:txBody>
      </p:sp>
      <p:sp>
        <p:nvSpPr>
          <p:cNvPr id="21" name="Text 16"/>
          <p:cNvSpPr txBox="1"/>
          <p:nvPr/>
        </p:nvSpPr>
        <p:spPr>
          <a:xfrm>
            <a:off x="8330184" y="3291840"/>
            <a:ext cx="3063240" cy="411480"/>
          </a:xfrm>
          <a:prstGeom prst="rect">
            <a:avLst/>
          </a:prstGeom>
          <a:noFill/>
          <a:ln/>
        </p:spPr>
        <p:txBody>
          <a:bodyPr wrap="square" lIns="0" tIns="0" rIns="0" bIns="0" rtlCol="0" anchor="t"/>
          <a:lstStyle/>
          <a:p>
            <a:pPr indent="0" marL="0">
              <a:buNone/>
            </a:pPr>
            <a:r>
              <a:rPr lang="en-US" sz="1200" b="1" dirty="0">
                <a:solidFill>
                  <a:srgbClr val="059669"/>
                </a:solidFill>
              </a:rPr>
              <a:t>Main screens: </a:t>
            </a:r>
            <a:pPr indent="0" marL="0">
              <a:buNone/>
            </a:pPr>
            <a:r>
              <a:rPr lang="en-US" sz="1200" dirty="0">
                <a:solidFill>
                  <a:srgbClr val="475569"/>
                </a:solidFill>
              </a:rPr>
              <a:t>Expense Approvals · Billing &amp; Invoices</a:t>
            </a:r>
            <a:endParaRPr lang="en-US" sz="1200" dirty="0"/>
          </a:p>
        </p:txBody>
      </p:sp>
      <p:sp>
        <p:nvSpPr>
          <p:cNvPr id="22" name="role-card-4"/>
          <p:cNvSpPr/>
          <p:nvPr/>
        </p:nvSpPr>
        <p:spPr>
          <a:xfrm>
            <a:off x="548640" y="4114800"/>
            <a:ext cx="3520440" cy="2240280"/>
          </a:xfrm>
          <a:prstGeom prst="roundRect">
            <a:avLst>
              <a:gd name="adj" fmla="val 4898"/>
            </a:avLst>
          </a:prstGeom>
          <a:solidFill>
            <a:srgbClr val="F3F5FA"/>
          </a:solidFill>
          <a:ln w="12700">
            <a:solidFill>
              <a:srgbClr val="F3F5FA"/>
            </a:solidFill>
            <a:prstDash val="solid"/>
          </a:ln>
        </p:spPr>
      </p:sp>
      <p:sp>
        <p:nvSpPr>
          <p:cNvPr id="23" name="icon-bg-MdManageAccounts"/>
          <p:cNvSpPr/>
          <p:nvPr/>
        </p:nvSpPr>
        <p:spPr>
          <a:xfrm>
            <a:off x="777240" y="4343400"/>
            <a:ext cx="566928" cy="566928"/>
          </a:xfrm>
          <a:prstGeom prst="ellipse">
            <a:avLst/>
          </a:prstGeom>
          <a:solidFill>
            <a:srgbClr val="1E40AF"/>
          </a:solidFill>
          <a:ln w="12700">
            <a:solidFill>
              <a:srgbClr val="1E40AF"/>
            </a:solidFill>
            <a:prstDash val="solid"/>
          </a:ln>
        </p:spPr>
      </p:sp>
      <p:pic>
        <p:nvPicPr>
          <p:cNvPr id="24" name="icon-MdManageAccounts" descr="preencoded.png">    </p:cNvPr>
          <p:cNvPicPr>
            <a:picLocks noChangeAspect="1"/>
          </p:cNvPicPr>
          <p:nvPr/>
        </p:nvPicPr>
        <p:blipFill>
          <a:blip r:embed="rId4"/>
          <a:stretch>
            <a:fillRect/>
          </a:stretch>
        </p:blipFill>
        <p:spPr>
          <a:xfrm>
            <a:off x="913303" y="4479463"/>
            <a:ext cx="294803" cy="294803"/>
          </a:xfrm>
          <a:prstGeom prst="rect">
            <a:avLst/>
          </a:prstGeom>
        </p:spPr>
      </p:pic>
      <p:sp>
        <p:nvSpPr>
          <p:cNvPr id="25" name="Text 19"/>
          <p:cNvSpPr txBox="1"/>
          <p:nvPr/>
        </p:nvSpPr>
        <p:spPr>
          <a:xfrm>
            <a:off x="1463040" y="4315968"/>
            <a:ext cx="2468880" cy="640080"/>
          </a:xfrm>
          <a:prstGeom prst="rect">
            <a:avLst/>
          </a:prstGeom>
          <a:noFill/>
          <a:ln/>
        </p:spPr>
        <p:txBody>
          <a:bodyPr wrap="square" lIns="0" tIns="0" rIns="0" bIns="0" rtlCol="0" anchor="ctr"/>
          <a:lstStyle/>
          <a:p>
            <a:pPr indent="0" marL="0">
              <a:buNone/>
            </a:pPr>
            <a:r>
              <a:rPr lang="en-US" sz="1600" b="1" dirty="0">
                <a:solidFill>
                  <a:srgbClr val="0F172A"/>
                </a:solidFill>
              </a:rPr>
              <a:t>Senior Managers &amp; Managers</a:t>
            </a:r>
            <a:endParaRPr lang="en-US" sz="1600" dirty="0"/>
          </a:p>
        </p:txBody>
      </p:sp>
      <p:sp>
        <p:nvSpPr>
          <p:cNvPr id="26" name="Text 20"/>
          <p:cNvSpPr txBox="1"/>
          <p:nvPr/>
        </p:nvSpPr>
        <p:spPr>
          <a:xfrm>
            <a:off x="777240" y="5029200"/>
            <a:ext cx="3063240" cy="731520"/>
          </a:xfrm>
          <a:prstGeom prst="rect">
            <a:avLst/>
          </a:prstGeom>
          <a:noFill/>
          <a:ln/>
        </p:spPr>
        <p:txBody>
          <a:bodyPr wrap="square" lIns="0" tIns="0" rIns="0" bIns="0" rtlCol="0" anchor="t"/>
          <a:lstStyle/>
          <a:p>
            <a:pPr indent="0" marL="0">
              <a:buNone/>
            </a:pPr>
            <a:r>
              <a:rPr lang="en-US" sz="1400" dirty="0">
                <a:solidFill>
                  <a:srgbClr val="334155"/>
                </a:solidFill>
              </a:rPr>
              <a:t>Set up audits, assign the team, approve time, leave and expenses.</a:t>
            </a:r>
            <a:endParaRPr lang="en-US" sz="1400" dirty="0"/>
          </a:p>
        </p:txBody>
      </p:sp>
      <p:sp>
        <p:nvSpPr>
          <p:cNvPr id="27" name="Text 21"/>
          <p:cNvSpPr txBox="1"/>
          <p:nvPr/>
        </p:nvSpPr>
        <p:spPr>
          <a:xfrm>
            <a:off x="777240" y="5806440"/>
            <a:ext cx="3063240" cy="411480"/>
          </a:xfrm>
          <a:prstGeom prst="rect">
            <a:avLst/>
          </a:prstGeom>
          <a:noFill/>
          <a:ln/>
        </p:spPr>
        <p:txBody>
          <a:bodyPr wrap="square" lIns="0" tIns="0" rIns="0" bIns="0" rtlCol="0" anchor="t"/>
          <a:lstStyle/>
          <a:p>
            <a:pPr indent="0" marL="0">
              <a:buNone/>
            </a:pPr>
            <a:r>
              <a:rPr lang="en-US" sz="1200" b="1" dirty="0">
                <a:solidFill>
                  <a:srgbClr val="1E40AF"/>
                </a:solidFill>
              </a:rPr>
              <a:t>Main screens: </a:t>
            </a:r>
            <a:pPr indent="0" marL="0">
              <a:buNone/>
            </a:pPr>
            <a:r>
              <a:rPr lang="en-US" sz="1200" dirty="0">
                <a:solidFill>
                  <a:srgbClr val="475569"/>
                </a:solidFill>
              </a:rPr>
              <a:t>Engagements · Team Workload · Approvals</a:t>
            </a:r>
            <a:endParaRPr lang="en-US" sz="1200" dirty="0"/>
          </a:p>
        </p:txBody>
      </p:sp>
      <p:sp>
        <p:nvSpPr>
          <p:cNvPr id="28" name="role-card-5"/>
          <p:cNvSpPr/>
          <p:nvPr/>
        </p:nvSpPr>
        <p:spPr>
          <a:xfrm>
            <a:off x="4325112" y="4114800"/>
            <a:ext cx="3520440" cy="2240280"/>
          </a:xfrm>
          <a:prstGeom prst="roundRect">
            <a:avLst>
              <a:gd name="adj" fmla="val 4898"/>
            </a:avLst>
          </a:prstGeom>
          <a:solidFill>
            <a:srgbClr val="F3F5FA"/>
          </a:solidFill>
          <a:ln w="12700">
            <a:solidFill>
              <a:srgbClr val="F3F5FA"/>
            </a:solidFill>
            <a:prstDash val="solid"/>
          </a:ln>
        </p:spPr>
      </p:sp>
      <p:sp>
        <p:nvSpPr>
          <p:cNvPr id="29" name="icon-bg-MdSupervisorAccount"/>
          <p:cNvSpPr/>
          <p:nvPr/>
        </p:nvSpPr>
        <p:spPr>
          <a:xfrm>
            <a:off x="4553712" y="4343400"/>
            <a:ext cx="566928" cy="566928"/>
          </a:xfrm>
          <a:prstGeom prst="ellipse">
            <a:avLst/>
          </a:prstGeom>
          <a:solidFill>
            <a:srgbClr val="0284C7"/>
          </a:solidFill>
          <a:ln w="12700">
            <a:solidFill>
              <a:srgbClr val="0284C7"/>
            </a:solidFill>
            <a:prstDash val="solid"/>
          </a:ln>
        </p:spPr>
      </p:sp>
      <p:pic>
        <p:nvPicPr>
          <p:cNvPr id="30" name="icon-MdSupervisorAccount" descr="preencoded.png">    </p:cNvPr>
          <p:cNvPicPr>
            <a:picLocks noChangeAspect="1"/>
          </p:cNvPicPr>
          <p:nvPr/>
        </p:nvPicPr>
        <p:blipFill>
          <a:blip r:embed="rId5"/>
          <a:stretch>
            <a:fillRect/>
          </a:stretch>
        </p:blipFill>
        <p:spPr>
          <a:xfrm>
            <a:off x="4689775" y="4479463"/>
            <a:ext cx="294803" cy="294803"/>
          </a:xfrm>
          <a:prstGeom prst="rect">
            <a:avLst/>
          </a:prstGeom>
        </p:spPr>
      </p:pic>
      <p:sp>
        <p:nvSpPr>
          <p:cNvPr id="31" name="Text 24"/>
          <p:cNvSpPr txBox="1"/>
          <p:nvPr/>
        </p:nvSpPr>
        <p:spPr>
          <a:xfrm>
            <a:off x="5239512" y="4315968"/>
            <a:ext cx="2468880" cy="640080"/>
          </a:xfrm>
          <a:prstGeom prst="rect">
            <a:avLst/>
          </a:prstGeom>
          <a:noFill/>
          <a:ln/>
        </p:spPr>
        <p:txBody>
          <a:bodyPr wrap="square" lIns="0" tIns="0" rIns="0" bIns="0" rtlCol="0" anchor="ctr"/>
          <a:lstStyle/>
          <a:p>
            <a:pPr indent="0" marL="0">
              <a:buNone/>
            </a:pPr>
            <a:r>
              <a:rPr lang="en-US" sz="1600" b="1" dirty="0">
                <a:solidFill>
                  <a:srgbClr val="0F172A"/>
                </a:solidFill>
              </a:rPr>
              <a:t>Senior Consultants (team leads)</a:t>
            </a:r>
            <a:endParaRPr lang="en-US" sz="1600" dirty="0"/>
          </a:p>
        </p:txBody>
      </p:sp>
      <p:sp>
        <p:nvSpPr>
          <p:cNvPr id="32" name="Text 25"/>
          <p:cNvSpPr txBox="1"/>
          <p:nvPr/>
        </p:nvSpPr>
        <p:spPr>
          <a:xfrm>
            <a:off x="4553712" y="5029200"/>
            <a:ext cx="3063240" cy="731520"/>
          </a:xfrm>
          <a:prstGeom prst="rect">
            <a:avLst/>
          </a:prstGeom>
          <a:noFill/>
          <a:ln/>
        </p:spPr>
        <p:txBody>
          <a:bodyPr wrap="square" lIns="0" tIns="0" rIns="0" bIns="0" rtlCol="0" anchor="t"/>
          <a:lstStyle/>
          <a:p>
            <a:pPr indent="0" marL="0">
              <a:buNone/>
            </a:pPr>
            <a:r>
              <a:rPr lang="en-US" sz="1400" dirty="0">
                <a:solidFill>
                  <a:srgbClr val="334155"/>
                </a:solidFill>
              </a:rPr>
              <a:t>Lead fieldwork, review work when set as reviewer, approve their team.</a:t>
            </a:r>
            <a:endParaRPr lang="en-US" sz="1400" dirty="0"/>
          </a:p>
        </p:txBody>
      </p:sp>
      <p:sp>
        <p:nvSpPr>
          <p:cNvPr id="33" name="Text 26"/>
          <p:cNvSpPr txBox="1"/>
          <p:nvPr/>
        </p:nvSpPr>
        <p:spPr>
          <a:xfrm>
            <a:off x="4553712" y="5806440"/>
            <a:ext cx="3063240" cy="411480"/>
          </a:xfrm>
          <a:prstGeom prst="rect">
            <a:avLst/>
          </a:prstGeom>
          <a:noFill/>
          <a:ln/>
        </p:spPr>
        <p:txBody>
          <a:bodyPr wrap="square" lIns="0" tIns="0" rIns="0" bIns="0" rtlCol="0" anchor="t"/>
          <a:lstStyle/>
          <a:p>
            <a:pPr indent="0" marL="0">
              <a:buNone/>
            </a:pPr>
            <a:r>
              <a:rPr lang="en-US" sz="1200" b="1" dirty="0">
                <a:solidFill>
                  <a:srgbClr val="0284C7"/>
                </a:solidFill>
              </a:rPr>
              <a:t>Main screens: </a:t>
            </a:r>
            <a:pPr indent="0" marL="0">
              <a:buNone/>
            </a:pPr>
            <a:r>
              <a:rPr lang="en-US" sz="1200" dirty="0">
                <a:solidFill>
                  <a:srgbClr val="475569"/>
                </a:solidFill>
              </a:rPr>
              <a:t>My Work · Engagements · Leave Approvals</a:t>
            </a:r>
            <a:endParaRPr lang="en-US" sz="1200" dirty="0"/>
          </a:p>
        </p:txBody>
      </p:sp>
      <p:sp>
        <p:nvSpPr>
          <p:cNvPr id="34" name="role-card-6"/>
          <p:cNvSpPr/>
          <p:nvPr/>
        </p:nvSpPr>
        <p:spPr>
          <a:xfrm>
            <a:off x="8101584" y="4114800"/>
            <a:ext cx="3520440" cy="2240280"/>
          </a:xfrm>
          <a:prstGeom prst="roundRect">
            <a:avLst>
              <a:gd name="adj" fmla="val 4898"/>
            </a:avLst>
          </a:prstGeom>
          <a:solidFill>
            <a:srgbClr val="F3F5FA"/>
          </a:solidFill>
          <a:ln w="12700">
            <a:solidFill>
              <a:srgbClr val="F3F5FA"/>
            </a:solidFill>
            <a:prstDash val="solid"/>
          </a:ln>
        </p:spPr>
      </p:sp>
      <p:sp>
        <p:nvSpPr>
          <p:cNvPr id="35" name="icon-bg-MdPerson"/>
          <p:cNvSpPr/>
          <p:nvPr/>
        </p:nvSpPr>
        <p:spPr>
          <a:xfrm>
            <a:off x="8330184" y="4343400"/>
            <a:ext cx="566928" cy="566928"/>
          </a:xfrm>
          <a:prstGeom prst="ellipse">
            <a:avLst/>
          </a:prstGeom>
          <a:solidFill>
            <a:srgbClr val="D97706"/>
          </a:solidFill>
          <a:ln w="12700">
            <a:solidFill>
              <a:srgbClr val="D97706"/>
            </a:solidFill>
            <a:prstDash val="solid"/>
          </a:ln>
        </p:spPr>
      </p:sp>
      <p:pic>
        <p:nvPicPr>
          <p:cNvPr id="36" name="icon-MdPerson" descr="preencoded.png">    </p:cNvPr>
          <p:cNvPicPr>
            <a:picLocks noChangeAspect="1"/>
          </p:cNvPicPr>
          <p:nvPr/>
        </p:nvPicPr>
        <p:blipFill>
          <a:blip r:embed="rId6"/>
          <a:stretch>
            <a:fillRect/>
          </a:stretch>
        </p:blipFill>
        <p:spPr>
          <a:xfrm>
            <a:off x="8466247" y="4479463"/>
            <a:ext cx="294803" cy="294803"/>
          </a:xfrm>
          <a:prstGeom prst="rect">
            <a:avLst/>
          </a:prstGeom>
        </p:spPr>
      </p:pic>
      <p:sp>
        <p:nvSpPr>
          <p:cNvPr id="37" name="Text 29"/>
          <p:cNvSpPr txBox="1"/>
          <p:nvPr/>
        </p:nvSpPr>
        <p:spPr>
          <a:xfrm>
            <a:off x="9015984" y="4315968"/>
            <a:ext cx="2468880" cy="640080"/>
          </a:xfrm>
          <a:prstGeom prst="rect">
            <a:avLst/>
          </a:prstGeom>
          <a:noFill/>
          <a:ln/>
        </p:spPr>
        <p:txBody>
          <a:bodyPr wrap="square" lIns="0" tIns="0" rIns="0" bIns="0" rtlCol="0" anchor="ctr"/>
          <a:lstStyle/>
          <a:p>
            <a:pPr indent="0" marL="0">
              <a:buNone/>
            </a:pPr>
            <a:r>
              <a:rPr lang="en-US" sz="1600" b="1" dirty="0">
                <a:solidFill>
                  <a:srgbClr val="0F172A"/>
                </a:solidFill>
              </a:rPr>
              <a:t>Consultants, Junior Consultants &amp; Associates</a:t>
            </a:r>
            <a:endParaRPr lang="en-US" sz="1600" dirty="0"/>
          </a:p>
        </p:txBody>
      </p:sp>
      <p:sp>
        <p:nvSpPr>
          <p:cNvPr id="38" name="Text 30"/>
          <p:cNvSpPr txBox="1"/>
          <p:nvPr/>
        </p:nvSpPr>
        <p:spPr>
          <a:xfrm>
            <a:off x="8330184" y="5029200"/>
            <a:ext cx="3063240" cy="731520"/>
          </a:xfrm>
          <a:prstGeom prst="rect">
            <a:avLst/>
          </a:prstGeom>
          <a:noFill/>
          <a:ln/>
        </p:spPr>
        <p:txBody>
          <a:bodyPr wrap="square" lIns="0" tIns="0" rIns="0" bIns="0" rtlCol="0" anchor="t"/>
          <a:lstStyle/>
          <a:p>
            <a:pPr indent="0" marL="0">
              <a:buNone/>
            </a:pPr>
            <a:r>
              <a:rPr lang="en-US" sz="1400" dirty="0">
                <a:solidFill>
                  <a:srgbClr val="334155"/>
                </a:solidFill>
              </a:rPr>
              <a:t>Do the audit work, run the timer, submit timesheets, raise requests.</a:t>
            </a:r>
            <a:endParaRPr lang="en-US" sz="1400" dirty="0"/>
          </a:p>
        </p:txBody>
      </p:sp>
      <p:sp>
        <p:nvSpPr>
          <p:cNvPr id="39" name="Text 31"/>
          <p:cNvSpPr txBox="1"/>
          <p:nvPr/>
        </p:nvSpPr>
        <p:spPr>
          <a:xfrm>
            <a:off x="8330184" y="5806440"/>
            <a:ext cx="3063240" cy="411480"/>
          </a:xfrm>
          <a:prstGeom prst="rect">
            <a:avLst/>
          </a:prstGeom>
          <a:noFill/>
          <a:ln/>
        </p:spPr>
        <p:txBody>
          <a:bodyPr wrap="square" lIns="0" tIns="0" rIns="0" bIns="0" rtlCol="0" anchor="t"/>
          <a:lstStyle/>
          <a:p>
            <a:pPr indent="0" marL="0">
              <a:buNone/>
            </a:pPr>
            <a:r>
              <a:rPr lang="en-US" sz="1200" b="1" dirty="0">
                <a:solidFill>
                  <a:srgbClr val="D97706"/>
                </a:solidFill>
              </a:rPr>
              <a:t>Main screens: </a:t>
            </a:r>
            <a:pPr indent="0" marL="0">
              <a:buNone/>
            </a:pPr>
            <a:r>
              <a:rPr lang="en-US" sz="1200" dirty="0">
                <a:solidFill>
                  <a:srgbClr val="475569"/>
                </a:solidFill>
              </a:rPr>
              <a:t>Dashboard · My Work · Timesheets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200" b="1" dirty="0">
                <a:solidFill>
                  <a:schemeClr val="tx2"/>
                </a:solidFill>
              </a:rPr>
              <a:t>How an audit moves from client to invoice</a:t>
            </a:r>
            <a:endParaRPr lang="en-US" sz="32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rgbClr val="64748B"/>
                </a:solidFill>
              </a:rPr>
              <a:t>Eight steps. Managers set it up, staff do the work and log time, Accounts and Partners bill it.</a:t>
            </a:r>
            <a:endParaRPr lang="en-US" sz="1500" dirty="0"/>
          </a:p>
        </p:txBody>
      </p:sp>
      <p:sp>
        <p:nvSpPr>
          <p:cNvPr id="4" name="step-1"/>
          <p:cNvSpPr/>
          <p:nvPr/>
        </p:nvSpPr>
        <p:spPr>
          <a:xfrm>
            <a:off x="548640" y="1600200"/>
            <a:ext cx="2606040" cy="2148840"/>
          </a:xfrm>
          <a:prstGeom prst="roundRect">
            <a:avLst>
              <a:gd name="adj" fmla="val 5106"/>
            </a:avLst>
          </a:prstGeom>
          <a:solidFill>
            <a:srgbClr val="F3F5FA"/>
          </a:solidFill>
          <a:ln w="12700">
            <a:solidFill>
              <a:srgbClr val="F3F5FA"/>
            </a:solidFill>
            <a:prstDash val="solid"/>
          </a:ln>
        </p:spPr>
      </p:sp>
      <p:sp>
        <p:nvSpPr>
          <p:cNvPr id="5" name="icon-bg-MdBusiness"/>
          <p:cNvSpPr/>
          <p:nvPr/>
        </p:nvSpPr>
        <p:spPr>
          <a:xfrm>
            <a:off x="749808" y="1801368"/>
            <a:ext cx="530352" cy="530352"/>
          </a:xfrm>
          <a:prstGeom prst="ellipse">
            <a:avLst/>
          </a:prstGeom>
          <a:solidFill>
            <a:srgbClr val="1E40AF"/>
          </a:solidFill>
          <a:ln w="12700">
            <a:solidFill>
              <a:srgbClr val="1E40AF"/>
            </a:solidFill>
            <a:prstDash val="solid"/>
          </a:ln>
        </p:spPr>
      </p:sp>
      <p:pic>
        <p:nvPicPr>
          <p:cNvPr id="6" name="icon-MdBusiness" descr="preencoded.png">    </p:cNvPr>
          <p:cNvPicPr>
            <a:picLocks noChangeAspect="1"/>
          </p:cNvPicPr>
          <p:nvPr/>
        </p:nvPicPr>
        <p:blipFill>
          <a:blip r:embed="rId1"/>
          <a:stretch>
            <a:fillRect/>
          </a:stretch>
        </p:blipFill>
        <p:spPr>
          <a:xfrm>
            <a:off x="877092" y="1928652"/>
            <a:ext cx="275783" cy="275783"/>
          </a:xfrm>
          <a:prstGeom prst="rect">
            <a:avLst/>
          </a:prstGeom>
        </p:spPr>
      </p:pic>
      <p:sp>
        <p:nvSpPr>
          <p:cNvPr id="7" name="Text 4"/>
          <p:cNvSpPr txBox="1"/>
          <p:nvPr/>
        </p:nvSpPr>
        <p:spPr>
          <a:xfrm>
            <a:off x="1389888" y="1801368"/>
            <a:ext cx="1691640" cy="530352"/>
          </a:xfrm>
          <a:prstGeom prst="rect">
            <a:avLst/>
          </a:prstGeom>
          <a:noFill/>
          <a:ln/>
        </p:spPr>
        <p:txBody>
          <a:bodyPr wrap="square" lIns="0" tIns="0" rIns="0" bIns="0" rtlCol="0" anchor="ctr"/>
          <a:lstStyle/>
          <a:p>
            <a:pPr indent="0" marL="0">
              <a:buNone/>
            </a:pPr>
            <a:r>
              <a:rPr lang="en-US" sz="1500" b="1" dirty="0">
                <a:solidFill>
                  <a:srgbClr val="1E40AF"/>
                </a:solidFill>
              </a:rPr>
              <a:t>1  </a:t>
            </a:r>
            <a:pPr indent="0" marL="0">
              <a:buNone/>
            </a:pPr>
            <a:r>
              <a:rPr lang="en-US" sz="1500" b="1" dirty="0">
                <a:solidFill>
                  <a:srgbClr val="0F172A"/>
                </a:solidFill>
              </a:rPr>
              <a:t>Client</a:t>
            </a:r>
            <a:endParaRPr lang="en-US" sz="1500" dirty="0"/>
          </a:p>
        </p:txBody>
      </p:sp>
      <p:sp>
        <p:nvSpPr>
          <p:cNvPr id="8" name="Text 5"/>
          <p:cNvSpPr txBox="1"/>
          <p:nvPr/>
        </p:nvSpPr>
        <p:spPr>
          <a:xfrm>
            <a:off x="749808" y="2441448"/>
            <a:ext cx="2240280" cy="640080"/>
          </a:xfrm>
          <a:prstGeom prst="rect">
            <a:avLst/>
          </a:prstGeom>
          <a:noFill/>
          <a:ln/>
        </p:spPr>
        <p:txBody>
          <a:bodyPr wrap="square" lIns="0" tIns="0" rIns="0" bIns="0" rtlCol="0" anchor="t"/>
          <a:lstStyle/>
          <a:p>
            <a:pPr indent="0" marL="0">
              <a:buNone/>
            </a:pPr>
            <a:r>
              <a:rPr lang="en-US" sz="1300" dirty="0">
                <a:solidFill>
                  <a:srgbClr val="334155"/>
                </a:solidFill>
              </a:rPr>
              <a:t>Add the company you audit</a:t>
            </a:r>
            <a:endParaRPr lang="en-US" sz="1300" dirty="0"/>
          </a:p>
        </p:txBody>
      </p:sp>
      <p:sp>
        <p:nvSpPr>
          <p:cNvPr id="9" name="Text 6"/>
          <p:cNvSpPr txBox="1"/>
          <p:nvPr/>
        </p:nvSpPr>
        <p:spPr>
          <a:xfrm>
            <a:off x="749808" y="3081528"/>
            <a:ext cx="2240280" cy="566928"/>
          </a:xfrm>
          <a:prstGeom prst="rect">
            <a:avLst/>
          </a:prstGeom>
          <a:noFill/>
          <a:ln/>
        </p:spPr>
        <p:txBody>
          <a:bodyPr wrap="square" lIns="0" tIns="0" rIns="0" bIns="0" rtlCol="0" anchor="t"/>
          <a:lstStyle/>
          <a:p>
            <a:pPr indent="0" marL="0">
              <a:buNone/>
            </a:pPr>
            <a:r>
              <a:rPr lang="en-US" sz="1100" b="1" dirty="0">
                <a:solidFill>
                  <a:srgbClr val="1E40AF"/>
                </a:solidFill>
              </a:rPr>
              <a:t>Manager</a:t>
            </a:r>
            <a:endParaRPr lang="en-US" sz="1100" dirty="0"/>
          </a:p>
          <a:p>
            <a:pPr indent="0" marL="0">
              <a:buNone/>
            </a:pPr>
            <a:r>
              <a:rPr lang="en-US" sz="1100" dirty="0">
                <a:solidFill>
                  <a:srgbClr val="64748B"/>
                </a:solidFill>
              </a:rPr>
              <a:t>Audits › Clients</a:t>
            </a:r>
            <a:endParaRPr lang="en-US" sz="1100" dirty="0"/>
          </a:p>
        </p:txBody>
      </p:sp>
      <p:pic>
        <p:nvPicPr>
          <p:cNvPr id="10" name="arrow-1" descr="preencoded.png">    </p:cNvPr>
          <p:cNvPicPr>
            <a:picLocks noChangeAspect="1"/>
          </p:cNvPicPr>
          <p:nvPr/>
        </p:nvPicPr>
        <p:blipFill>
          <a:blip r:embed="rId2"/>
          <a:stretch>
            <a:fillRect/>
          </a:stretch>
        </p:blipFill>
        <p:spPr>
          <a:xfrm>
            <a:off x="3136392" y="2537460"/>
            <a:ext cx="256032" cy="274320"/>
          </a:xfrm>
          <a:prstGeom prst="rect">
            <a:avLst/>
          </a:prstGeom>
        </p:spPr>
      </p:pic>
      <p:sp>
        <p:nvSpPr>
          <p:cNvPr id="11" name="step-2"/>
          <p:cNvSpPr/>
          <p:nvPr/>
        </p:nvSpPr>
        <p:spPr>
          <a:xfrm>
            <a:off x="3383280" y="1600200"/>
            <a:ext cx="2606040" cy="2148840"/>
          </a:xfrm>
          <a:prstGeom prst="roundRect">
            <a:avLst>
              <a:gd name="adj" fmla="val 5106"/>
            </a:avLst>
          </a:prstGeom>
          <a:solidFill>
            <a:srgbClr val="F3F5FA"/>
          </a:solidFill>
          <a:ln w="12700">
            <a:solidFill>
              <a:srgbClr val="F3F5FA"/>
            </a:solidFill>
            <a:prstDash val="solid"/>
          </a:ln>
        </p:spPr>
      </p:sp>
      <p:sp>
        <p:nvSpPr>
          <p:cNvPr id="12" name="icon-bg-MdFolderOpen"/>
          <p:cNvSpPr/>
          <p:nvPr/>
        </p:nvSpPr>
        <p:spPr>
          <a:xfrm>
            <a:off x="3584448" y="1801368"/>
            <a:ext cx="530352" cy="530352"/>
          </a:xfrm>
          <a:prstGeom prst="ellipse">
            <a:avLst/>
          </a:prstGeom>
          <a:solidFill>
            <a:srgbClr val="1E40AF"/>
          </a:solidFill>
          <a:ln w="12700">
            <a:solidFill>
              <a:srgbClr val="1E40AF"/>
            </a:solidFill>
            <a:prstDash val="solid"/>
          </a:ln>
        </p:spPr>
      </p:sp>
      <p:pic>
        <p:nvPicPr>
          <p:cNvPr id="13" name="icon-MdFolderOpen" descr="preencoded.png">    </p:cNvPr>
          <p:cNvPicPr>
            <a:picLocks noChangeAspect="1"/>
          </p:cNvPicPr>
          <p:nvPr/>
        </p:nvPicPr>
        <p:blipFill>
          <a:blip r:embed="rId3"/>
          <a:stretch>
            <a:fillRect/>
          </a:stretch>
        </p:blipFill>
        <p:spPr>
          <a:xfrm>
            <a:off x="3711732" y="1928652"/>
            <a:ext cx="275783" cy="275783"/>
          </a:xfrm>
          <a:prstGeom prst="rect">
            <a:avLst/>
          </a:prstGeom>
        </p:spPr>
      </p:pic>
      <p:sp>
        <p:nvSpPr>
          <p:cNvPr id="14" name="Text 9"/>
          <p:cNvSpPr txBox="1"/>
          <p:nvPr/>
        </p:nvSpPr>
        <p:spPr>
          <a:xfrm>
            <a:off x="4224528" y="1801368"/>
            <a:ext cx="1691640" cy="530352"/>
          </a:xfrm>
          <a:prstGeom prst="rect">
            <a:avLst/>
          </a:prstGeom>
          <a:noFill/>
          <a:ln/>
        </p:spPr>
        <p:txBody>
          <a:bodyPr wrap="square" lIns="0" tIns="0" rIns="0" bIns="0" rtlCol="0" anchor="ctr"/>
          <a:lstStyle/>
          <a:p>
            <a:pPr indent="0" marL="0">
              <a:buNone/>
            </a:pPr>
            <a:r>
              <a:rPr lang="en-US" sz="1500" b="1" dirty="0">
                <a:solidFill>
                  <a:srgbClr val="1E40AF"/>
                </a:solidFill>
              </a:rPr>
              <a:t>2  </a:t>
            </a:r>
            <a:pPr indent="0" marL="0">
              <a:buNone/>
            </a:pPr>
            <a:r>
              <a:rPr lang="en-US" sz="1500" b="1" dirty="0">
                <a:solidFill>
                  <a:srgbClr val="0F172A"/>
                </a:solidFill>
              </a:rPr>
              <a:t>Project</a:t>
            </a:r>
            <a:endParaRPr lang="en-US" sz="1500" dirty="0"/>
          </a:p>
        </p:txBody>
      </p:sp>
      <p:sp>
        <p:nvSpPr>
          <p:cNvPr id="15" name="Text 10"/>
          <p:cNvSpPr txBox="1"/>
          <p:nvPr/>
        </p:nvSpPr>
        <p:spPr>
          <a:xfrm>
            <a:off x="3584448" y="2441448"/>
            <a:ext cx="2240280" cy="640080"/>
          </a:xfrm>
          <a:prstGeom prst="rect">
            <a:avLst/>
          </a:prstGeom>
          <a:noFill/>
          <a:ln/>
        </p:spPr>
        <p:txBody>
          <a:bodyPr wrap="square" lIns="0" tIns="0" rIns="0" bIns="0" rtlCol="0" anchor="t"/>
          <a:lstStyle/>
          <a:p>
            <a:pPr indent="0" marL="0">
              <a:buNone/>
            </a:pPr>
            <a:r>
              <a:rPr lang="en-US" sz="1300" dirty="0">
                <a:solidFill>
                  <a:srgbClr val="334155"/>
                </a:solidFill>
              </a:rPr>
              <a:t>Optional folder for a client’s audits in a year</a:t>
            </a:r>
            <a:endParaRPr lang="en-US" sz="1300" dirty="0"/>
          </a:p>
        </p:txBody>
      </p:sp>
      <p:sp>
        <p:nvSpPr>
          <p:cNvPr id="16" name="Text 11"/>
          <p:cNvSpPr txBox="1"/>
          <p:nvPr/>
        </p:nvSpPr>
        <p:spPr>
          <a:xfrm>
            <a:off x="3584448" y="3081528"/>
            <a:ext cx="2240280" cy="566928"/>
          </a:xfrm>
          <a:prstGeom prst="rect">
            <a:avLst/>
          </a:prstGeom>
          <a:noFill/>
          <a:ln/>
        </p:spPr>
        <p:txBody>
          <a:bodyPr wrap="square" lIns="0" tIns="0" rIns="0" bIns="0" rtlCol="0" anchor="t"/>
          <a:lstStyle/>
          <a:p>
            <a:pPr indent="0" marL="0">
              <a:buNone/>
            </a:pPr>
            <a:r>
              <a:rPr lang="en-US" sz="1100" b="1" dirty="0">
                <a:solidFill>
                  <a:srgbClr val="1E40AF"/>
                </a:solidFill>
              </a:rPr>
              <a:t>Manager</a:t>
            </a:r>
            <a:endParaRPr lang="en-US" sz="1100" dirty="0"/>
          </a:p>
          <a:p>
            <a:pPr indent="0" marL="0">
              <a:buNone/>
            </a:pPr>
            <a:r>
              <a:rPr lang="en-US" sz="1100" dirty="0">
                <a:solidFill>
                  <a:srgbClr val="64748B"/>
                </a:solidFill>
              </a:rPr>
              <a:t>Audits › Projects</a:t>
            </a:r>
            <a:endParaRPr lang="en-US" sz="1100" dirty="0"/>
          </a:p>
        </p:txBody>
      </p:sp>
      <p:pic>
        <p:nvPicPr>
          <p:cNvPr id="17" name="arrow-2" descr="preencoded.png">    </p:cNvPr>
          <p:cNvPicPr>
            <a:picLocks noChangeAspect="1"/>
          </p:cNvPicPr>
          <p:nvPr/>
        </p:nvPicPr>
        <p:blipFill>
          <a:blip r:embed="rId4"/>
          <a:stretch>
            <a:fillRect/>
          </a:stretch>
        </p:blipFill>
        <p:spPr>
          <a:xfrm>
            <a:off x="5971032" y="2537460"/>
            <a:ext cx="256032" cy="274320"/>
          </a:xfrm>
          <a:prstGeom prst="rect">
            <a:avLst/>
          </a:prstGeom>
        </p:spPr>
      </p:pic>
      <p:sp>
        <p:nvSpPr>
          <p:cNvPr id="18" name="step-3"/>
          <p:cNvSpPr/>
          <p:nvPr/>
        </p:nvSpPr>
        <p:spPr>
          <a:xfrm>
            <a:off x="6217920" y="1600200"/>
            <a:ext cx="2606040" cy="2148840"/>
          </a:xfrm>
          <a:prstGeom prst="roundRect">
            <a:avLst>
              <a:gd name="adj" fmla="val 5106"/>
            </a:avLst>
          </a:prstGeom>
          <a:solidFill>
            <a:srgbClr val="F3F5FA"/>
          </a:solidFill>
          <a:ln w="12700">
            <a:solidFill>
              <a:srgbClr val="F3F5FA"/>
            </a:solidFill>
            <a:prstDash val="solid"/>
          </a:ln>
        </p:spPr>
      </p:sp>
      <p:sp>
        <p:nvSpPr>
          <p:cNvPr id="19" name="icon-bg-MdAssignment"/>
          <p:cNvSpPr/>
          <p:nvPr/>
        </p:nvSpPr>
        <p:spPr>
          <a:xfrm>
            <a:off x="6419088" y="1801368"/>
            <a:ext cx="530352" cy="530352"/>
          </a:xfrm>
          <a:prstGeom prst="ellipse">
            <a:avLst/>
          </a:prstGeom>
          <a:solidFill>
            <a:srgbClr val="1E40AF"/>
          </a:solidFill>
          <a:ln w="12700">
            <a:solidFill>
              <a:srgbClr val="1E40AF"/>
            </a:solidFill>
            <a:prstDash val="solid"/>
          </a:ln>
        </p:spPr>
      </p:sp>
      <p:pic>
        <p:nvPicPr>
          <p:cNvPr id="20" name="icon-MdAssignment" descr="preencoded.png">    </p:cNvPr>
          <p:cNvPicPr>
            <a:picLocks noChangeAspect="1"/>
          </p:cNvPicPr>
          <p:nvPr/>
        </p:nvPicPr>
        <p:blipFill>
          <a:blip r:embed="rId5"/>
          <a:stretch>
            <a:fillRect/>
          </a:stretch>
        </p:blipFill>
        <p:spPr>
          <a:xfrm>
            <a:off x="6546372" y="1928652"/>
            <a:ext cx="275783" cy="275783"/>
          </a:xfrm>
          <a:prstGeom prst="rect">
            <a:avLst/>
          </a:prstGeom>
        </p:spPr>
      </p:pic>
      <p:sp>
        <p:nvSpPr>
          <p:cNvPr id="21" name="Text 14"/>
          <p:cNvSpPr txBox="1"/>
          <p:nvPr/>
        </p:nvSpPr>
        <p:spPr>
          <a:xfrm>
            <a:off x="7059168" y="1801368"/>
            <a:ext cx="1691640" cy="530352"/>
          </a:xfrm>
          <a:prstGeom prst="rect">
            <a:avLst/>
          </a:prstGeom>
          <a:noFill/>
          <a:ln/>
        </p:spPr>
        <p:txBody>
          <a:bodyPr wrap="square" lIns="0" tIns="0" rIns="0" bIns="0" rtlCol="0" anchor="ctr"/>
          <a:lstStyle/>
          <a:p>
            <a:pPr indent="0" marL="0">
              <a:buNone/>
            </a:pPr>
            <a:r>
              <a:rPr lang="en-US" sz="1500" b="1" dirty="0">
                <a:solidFill>
                  <a:srgbClr val="1E40AF"/>
                </a:solidFill>
              </a:rPr>
              <a:t>3  </a:t>
            </a:r>
            <a:pPr indent="0" marL="0">
              <a:buNone/>
            </a:pPr>
            <a:r>
              <a:rPr lang="en-US" sz="1500" b="1" dirty="0">
                <a:solidFill>
                  <a:srgbClr val="0F172A"/>
                </a:solidFill>
              </a:rPr>
              <a:t>Engagement</a:t>
            </a:r>
            <a:endParaRPr lang="en-US" sz="1500" dirty="0"/>
          </a:p>
        </p:txBody>
      </p:sp>
      <p:sp>
        <p:nvSpPr>
          <p:cNvPr id="22" name="Text 15"/>
          <p:cNvSpPr txBox="1"/>
          <p:nvPr/>
        </p:nvSpPr>
        <p:spPr>
          <a:xfrm>
            <a:off x="6419088" y="2441448"/>
            <a:ext cx="2240280" cy="640080"/>
          </a:xfrm>
          <a:prstGeom prst="rect">
            <a:avLst/>
          </a:prstGeom>
          <a:noFill/>
          <a:ln/>
        </p:spPr>
        <p:txBody>
          <a:bodyPr wrap="square" lIns="0" tIns="0" rIns="0" bIns="0" rtlCol="0" anchor="t"/>
          <a:lstStyle/>
          <a:p>
            <a:pPr indent="0" marL="0">
              <a:buNone/>
            </a:pPr>
            <a:r>
              <a:rPr lang="en-US" sz="1300" dirty="0">
                <a:solidFill>
                  <a:srgbClr val="334155"/>
                </a:solidFill>
              </a:rPr>
              <a:t>The audit job: type, deadline, budget hours, team</a:t>
            </a:r>
            <a:endParaRPr lang="en-US" sz="1300" dirty="0"/>
          </a:p>
        </p:txBody>
      </p:sp>
      <p:sp>
        <p:nvSpPr>
          <p:cNvPr id="23" name="Text 16"/>
          <p:cNvSpPr txBox="1"/>
          <p:nvPr/>
        </p:nvSpPr>
        <p:spPr>
          <a:xfrm>
            <a:off x="6419088" y="3081528"/>
            <a:ext cx="2240280" cy="566928"/>
          </a:xfrm>
          <a:prstGeom prst="rect">
            <a:avLst/>
          </a:prstGeom>
          <a:noFill/>
          <a:ln/>
        </p:spPr>
        <p:txBody>
          <a:bodyPr wrap="square" lIns="0" tIns="0" rIns="0" bIns="0" rtlCol="0" anchor="t"/>
          <a:lstStyle/>
          <a:p>
            <a:pPr indent="0" marL="0">
              <a:buNone/>
            </a:pPr>
            <a:r>
              <a:rPr lang="en-US" sz="1100" b="1" dirty="0">
                <a:solidFill>
                  <a:srgbClr val="1E40AF"/>
                </a:solidFill>
              </a:rPr>
              <a:t>Manager</a:t>
            </a:r>
            <a:endParaRPr lang="en-US" sz="1100" dirty="0"/>
          </a:p>
          <a:p>
            <a:pPr indent="0" marL="0">
              <a:buNone/>
            </a:pPr>
            <a:r>
              <a:rPr lang="en-US" sz="1100" dirty="0">
                <a:solidFill>
                  <a:srgbClr val="64748B"/>
                </a:solidFill>
              </a:rPr>
              <a:t>Audits › Engagements</a:t>
            </a:r>
            <a:endParaRPr lang="en-US" sz="1100" dirty="0"/>
          </a:p>
        </p:txBody>
      </p:sp>
      <p:pic>
        <p:nvPicPr>
          <p:cNvPr id="24" name="arrow-3" descr="preencoded.png">    </p:cNvPr>
          <p:cNvPicPr>
            <a:picLocks noChangeAspect="1"/>
          </p:cNvPicPr>
          <p:nvPr/>
        </p:nvPicPr>
        <p:blipFill>
          <a:blip r:embed="rId6"/>
          <a:stretch>
            <a:fillRect/>
          </a:stretch>
        </p:blipFill>
        <p:spPr>
          <a:xfrm>
            <a:off x="8805672" y="2537460"/>
            <a:ext cx="256032" cy="274320"/>
          </a:xfrm>
          <a:prstGeom prst="rect">
            <a:avLst/>
          </a:prstGeom>
        </p:spPr>
      </p:pic>
      <p:sp>
        <p:nvSpPr>
          <p:cNvPr id="25" name="step-4"/>
          <p:cNvSpPr/>
          <p:nvPr/>
        </p:nvSpPr>
        <p:spPr>
          <a:xfrm>
            <a:off x="9052560" y="1600200"/>
            <a:ext cx="2606040" cy="2148840"/>
          </a:xfrm>
          <a:prstGeom prst="roundRect">
            <a:avLst>
              <a:gd name="adj" fmla="val 5106"/>
            </a:avLst>
          </a:prstGeom>
          <a:solidFill>
            <a:srgbClr val="F3F5FA"/>
          </a:solidFill>
          <a:ln w="12700">
            <a:solidFill>
              <a:srgbClr val="F3F5FA"/>
            </a:solidFill>
            <a:prstDash val="solid"/>
          </a:ln>
        </p:spPr>
      </p:sp>
      <p:sp>
        <p:nvSpPr>
          <p:cNvPr id="26" name="icon-bg-MdChecklist"/>
          <p:cNvSpPr/>
          <p:nvPr/>
        </p:nvSpPr>
        <p:spPr>
          <a:xfrm>
            <a:off x="9253728" y="1801368"/>
            <a:ext cx="530352" cy="530352"/>
          </a:xfrm>
          <a:prstGeom prst="ellipse">
            <a:avLst/>
          </a:prstGeom>
          <a:solidFill>
            <a:srgbClr val="7C3AED"/>
          </a:solidFill>
          <a:ln w="12700">
            <a:solidFill>
              <a:srgbClr val="7C3AED"/>
            </a:solidFill>
            <a:prstDash val="solid"/>
          </a:ln>
        </p:spPr>
      </p:sp>
      <p:pic>
        <p:nvPicPr>
          <p:cNvPr id="27" name="icon-MdChecklist" descr="preencoded.png">    </p:cNvPr>
          <p:cNvPicPr>
            <a:picLocks noChangeAspect="1"/>
          </p:cNvPicPr>
          <p:nvPr/>
        </p:nvPicPr>
        <p:blipFill>
          <a:blip r:embed="rId7"/>
          <a:stretch>
            <a:fillRect/>
          </a:stretch>
        </p:blipFill>
        <p:spPr>
          <a:xfrm>
            <a:off x="9381012" y="1928652"/>
            <a:ext cx="275783" cy="275783"/>
          </a:xfrm>
          <a:prstGeom prst="rect">
            <a:avLst/>
          </a:prstGeom>
        </p:spPr>
      </p:pic>
      <p:sp>
        <p:nvSpPr>
          <p:cNvPr id="28" name="Text 19"/>
          <p:cNvSpPr txBox="1"/>
          <p:nvPr/>
        </p:nvSpPr>
        <p:spPr>
          <a:xfrm>
            <a:off x="9893808" y="1801368"/>
            <a:ext cx="1691640" cy="530352"/>
          </a:xfrm>
          <a:prstGeom prst="rect">
            <a:avLst/>
          </a:prstGeom>
          <a:noFill/>
          <a:ln/>
        </p:spPr>
        <p:txBody>
          <a:bodyPr wrap="square" lIns="0" tIns="0" rIns="0" bIns="0" rtlCol="0" anchor="ctr"/>
          <a:lstStyle/>
          <a:p>
            <a:pPr indent="0" marL="0">
              <a:buNone/>
            </a:pPr>
            <a:r>
              <a:rPr lang="en-US" sz="1500" b="1" dirty="0">
                <a:solidFill>
                  <a:srgbClr val="7C3AED"/>
                </a:solidFill>
              </a:rPr>
              <a:t>4  </a:t>
            </a:r>
            <a:pPr indent="0" marL="0">
              <a:buNone/>
            </a:pPr>
            <a:r>
              <a:rPr lang="en-US" sz="1500" b="1" dirty="0">
                <a:solidFill>
                  <a:srgbClr val="0F172A"/>
                </a:solidFill>
              </a:rPr>
              <a:t>Tasks</a:t>
            </a:r>
            <a:endParaRPr lang="en-US" sz="1500" dirty="0"/>
          </a:p>
        </p:txBody>
      </p:sp>
      <p:sp>
        <p:nvSpPr>
          <p:cNvPr id="29" name="Text 20"/>
          <p:cNvSpPr txBox="1"/>
          <p:nvPr/>
        </p:nvSpPr>
        <p:spPr>
          <a:xfrm>
            <a:off x="9253728" y="2441448"/>
            <a:ext cx="2240280" cy="640080"/>
          </a:xfrm>
          <a:prstGeom prst="rect">
            <a:avLst/>
          </a:prstGeom>
          <a:noFill/>
          <a:ln/>
        </p:spPr>
        <p:txBody>
          <a:bodyPr wrap="square" lIns="0" tIns="0" rIns="0" bIns="0" rtlCol="0" anchor="t"/>
          <a:lstStyle/>
          <a:p>
            <a:pPr indent="0" marL="0">
              <a:buNone/>
            </a:pPr>
            <a:r>
              <a:rPr lang="en-US" sz="1300" dirty="0">
                <a:solidFill>
                  <a:srgbClr val="334155"/>
                </a:solidFill>
              </a:rPr>
              <a:t>The active Audit Checklist’s steps become tasks</a:t>
            </a:r>
            <a:endParaRPr lang="en-US" sz="1300" dirty="0"/>
          </a:p>
        </p:txBody>
      </p:sp>
      <p:sp>
        <p:nvSpPr>
          <p:cNvPr id="30" name="Text 21"/>
          <p:cNvSpPr txBox="1"/>
          <p:nvPr/>
        </p:nvSpPr>
        <p:spPr>
          <a:xfrm>
            <a:off x="9253728" y="3081528"/>
            <a:ext cx="2240280" cy="566928"/>
          </a:xfrm>
          <a:prstGeom prst="rect">
            <a:avLst/>
          </a:prstGeom>
          <a:noFill/>
          <a:ln/>
        </p:spPr>
        <p:txBody>
          <a:bodyPr wrap="square" lIns="0" tIns="0" rIns="0" bIns="0" rtlCol="0" anchor="t"/>
          <a:lstStyle/>
          <a:p>
            <a:pPr indent="0" marL="0">
              <a:buNone/>
            </a:pPr>
            <a:r>
              <a:rPr lang="en-US" sz="1100" b="1" dirty="0">
                <a:solidFill>
                  <a:srgbClr val="7C3AED"/>
                </a:solidFill>
              </a:rPr>
              <a:t>Automatic</a:t>
            </a:r>
            <a:endParaRPr lang="en-US" sz="1100" dirty="0"/>
          </a:p>
          <a:p>
            <a:pPr indent="0" marL="0">
              <a:buNone/>
            </a:pPr>
            <a:r>
              <a:rPr lang="en-US" sz="1100" dirty="0">
                <a:solidFill>
                  <a:srgbClr val="64748B"/>
                </a:solidFill>
              </a:rPr>
              <a:t>Audit Checklists</a:t>
            </a:r>
            <a:endParaRPr lang="en-US" sz="1100" dirty="0"/>
          </a:p>
        </p:txBody>
      </p:sp>
      <p:sp>
        <p:nvSpPr>
          <p:cNvPr id="31" name="step-5"/>
          <p:cNvSpPr/>
          <p:nvPr/>
        </p:nvSpPr>
        <p:spPr>
          <a:xfrm>
            <a:off x="548640" y="4069080"/>
            <a:ext cx="2606040" cy="2148840"/>
          </a:xfrm>
          <a:prstGeom prst="roundRect">
            <a:avLst>
              <a:gd name="adj" fmla="val 5106"/>
            </a:avLst>
          </a:prstGeom>
          <a:solidFill>
            <a:srgbClr val="F3F5FA"/>
          </a:solidFill>
          <a:ln w="12700">
            <a:solidFill>
              <a:srgbClr val="F3F5FA"/>
            </a:solidFill>
            <a:prstDash val="solid"/>
          </a:ln>
        </p:spPr>
      </p:sp>
      <p:sp>
        <p:nvSpPr>
          <p:cNvPr id="32" name="icon-bg-MdGroups"/>
          <p:cNvSpPr/>
          <p:nvPr/>
        </p:nvSpPr>
        <p:spPr>
          <a:xfrm>
            <a:off x="749808" y="4270248"/>
            <a:ext cx="530352" cy="530352"/>
          </a:xfrm>
          <a:prstGeom prst="ellipse">
            <a:avLst/>
          </a:prstGeom>
          <a:solidFill>
            <a:srgbClr val="1E40AF"/>
          </a:solidFill>
          <a:ln w="12700">
            <a:solidFill>
              <a:srgbClr val="1E40AF"/>
            </a:solidFill>
            <a:prstDash val="solid"/>
          </a:ln>
        </p:spPr>
      </p:sp>
      <p:pic>
        <p:nvPicPr>
          <p:cNvPr id="33" name="icon-MdGroups" descr="preencoded.png">    </p:cNvPr>
          <p:cNvPicPr>
            <a:picLocks noChangeAspect="1"/>
          </p:cNvPicPr>
          <p:nvPr/>
        </p:nvPicPr>
        <p:blipFill>
          <a:blip r:embed="rId8"/>
          <a:stretch>
            <a:fillRect/>
          </a:stretch>
        </p:blipFill>
        <p:spPr>
          <a:xfrm>
            <a:off x="877092" y="4397532"/>
            <a:ext cx="275783" cy="275783"/>
          </a:xfrm>
          <a:prstGeom prst="rect">
            <a:avLst/>
          </a:prstGeom>
        </p:spPr>
      </p:pic>
      <p:sp>
        <p:nvSpPr>
          <p:cNvPr id="34" name="Text 24"/>
          <p:cNvSpPr txBox="1"/>
          <p:nvPr/>
        </p:nvSpPr>
        <p:spPr>
          <a:xfrm>
            <a:off x="1389888" y="4270248"/>
            <a:ext cx="1691640" cy="530352"/>
          </a:xfrm>
          <a:prstGeom prst="rect">
            <a:avLst/>
          </a:prstGeom>
          <a:noFill/>
          <a:ln/>
        </p:spPr>
        <p:txBody>
          <a:bodyPr wrap="square" lIns="0" tIns="0" rIns="0" bIns="0" rtlCol="0" anchor="ctr"/>
          <a:lstStyle/>
          <a:p>
            <a:pPr indent="0" marL="0">
              <a:buNone/>
            </a:pPr>
            <a:r>
              <a:rPr lang="en-US" sz="1500" b="1" dirty="0">
                <a:solidFill>
                  <a:srgbClr val="1E40AF"/>
                </a:solidFill>
              </a:rPr>
              <a:t>5  </a:t>
            </a:r>
            <a:pPr indent="0" marL="0">
              <a:buNone/>
            </a:pPr>
            <a:r>
              <a:rPr lang="en-US" sz="1500" b="1" dirty="0">
                <a:solidFill>
                  <a:srgbClr val="0F172A"/>
                </a:solidFill>
              </a:rPr>
              <a:t>Assign</a:t>
            </a:r>
            <a:endParaRPr lang="en-US" sz="1500" dirty="0"/>
          </a:p>
        </p:txBody>
      </p:sp>
      <p:sp>
        <p:nvSpPr>
          <p:cNvPr id="35" name="Text 25"/>
          <p:cNvSpPr txBox="1"/>
          <p:nvPr/>
        </p:nvSpPr>
        <p:spPr>
          <a:xfrm>
            <a:off x="749808" y="4910328"/>
            <a:ext cx="2240280" cy="640080"/>
          </a:xfrm>
          <a:prstGeom prst="rect">
            <a:avLst/>
          </a:prstGeom>
          <a:noFill/>
          <a:ln/>
        </p:spPr>
        <p:txBody>
          <a:bodyPr wrap="square" lIns="0" tIns="0" rIns="0" bIns="0" rtlCol="0" anchor="t"/>
          <a:lstStyle/>
          <a:p>
            <a:pPr indent="0" marL="0">
              <a:buNone/>
            </a:pPr>
            <a:r>
              <a:rPr lang="en-US" sz="1300" dirty="0">
                <a:solidFill>
                  <a:srgbClr val="334155"/>
                </a:solidFill>
              </a:rPr>
              <a:t>Owner and reviewer for each task</a:t>
            </a:r>
            <a:endParaRPr lang="en-US" sz="1300" dirty="0"/>
          </a:p>
        </p:txBody>
      </p:sp>
      <p:sp>
        <p:nvSpPr>
          <p:cNvPr id="36" name="Text 26"/>
          <p:cNvSpPr txBox="1"/>
          <p:nvPr/>
        </p:nvSpPr>
        <p:spPr>
          <a:xfrm>
            <a:off x="749808" y="5550408"/>
            <a:ext cx="2240280" cy="566928"/>
          </a:xfrm>
          <a:prstGeom prst="rect">
            <a:avLst/>
          </a:prstGeom>
          <a:noFill/>
          <a:ln/>
        </p:spPr>
        <p:txBody>
          <a:bodyPr wrap="square" lIns="0" tIns="0" rIns="0" bIns="0" rtlCol="0" anchor="t"/>
          <a:lstStyle/>
          <a:p>
            <a:pPr indent="0" marL="0">
              <a:buNone/>
            </a:pPr>
            <a:r>
              <a:rPr lang="en-US" sz="1100" b="1" dirty="0">
                <a:solidFill>
                  <a:srgbClr val="1E40AF"/>
                </a:solidFill>
              </a:rPr>
              <a:t>Manager</a:t>
            </a:r>
            <a:endParaRPr lang="en-US" sz="1100" dirty="0"/>
          </a:p>
          <a:p>
            <a:pPr indent="0" marL="0">
              <a:buNone/>
            </a:pPr>
            <a:r>
              <a:rPr lang="en-US" sz="1100" dirty="0">
                <a:solidFill>
                  <a:srgbClr val="64748B"/>
                </a:solidFill>
              </a:rPr>
              <a:t>Engagement page · Team Workload</a:t>
            </a:r>
            <a:endParaRPr lang="en-US" sz="1100" dirty="0"/>
          </a:p>
        </p:txBody>
      </p:sp>
      <p:pic>
        <p:nvPicPr>
          <p:cNvPr id="37" name="arrow-5" descr="preencoded.png">    </p:cNvPr>
          <p:cNvPicPr>
            <a:picLocks noChangeAspect="1"/>
          </p:cNvPicPr>
          <p:nvPr/>
        </p:nvPicPr>
        <p:blipFill>
          <a:blip r:embed="rId9"/>
          <a:stretch>
            <a:fillRect/>
          </a:stretch>
        </p:blipFill>
        <p:spPr>
          <a:xfrm>
            <a:off x="3136392" y="5006340"/>
            <a:ext cx="256032" cy="274320"/>
          </a:xfrm>
          <a:prstGeom prst="rect">
            <a:avLst/>
          </a:prstGeom>
        </p:spPr>
      </p:pic>
      <p:sp>
        <p:nvSpPr>
          <p:cNvPr id="38" name="step-6"/>
          <p:cNvSpPr/>
          <p:nvPr/>
        </p:nvSpPr>
        <p:spPr>
          <a:xfrm>
            <a:off x="3383280" y="4069080"/>
            <a:ext cx="2606040" cy="2148840"/>
          </a:xfrm>
          <a:prstGeom prst="roundRect">
            <a:avLst>
              <a:gd name="adj" fmla="val 5106"/>
            </a:avLst>
          </a:prstGeom>
          <a:solidFill>
            <a:srgbClr val="F3F5FA"/>
          </a:solidFill>
          <a:ln w="12700">
            <a:solidFill>
              <a:srgbClr val="F3F5FA"/>
            </a:solidFill>
            <a:prstDash val="solid"/>
          </a:ln>
        </p:spPr>
      </p:sp>
      <p:sp>
        <p:nvSpPr>
          <p:cNvPr id="39" name="icon-bg-MdTimer"/>
          <p:cNvSpPr/>
          <p:nvPr/>
        </p:nvSpPr>
        <p:spPr>
          <a:xfrm>
            <a:off x="3584448" y="4270248"/>
            <a:ext cx="530352" cy="530352"/>
          </a:xfrm>
          <a:prstGeom prst="ellipse">
            <a:avLst/>
          </a:prstGeom>
          <a:solidFill>
            <a:srgbClr val="D97706"/>
          </a:solidFill>
          <a:ln w="12700">
            <a:solidFill>
              <a:srgbClr val="D97706"/>
            </a:solidFill>
            <a:prstDash val="solid"/>
          </a:ln>
        </p:spPr>
      </p:sp>
      <p:pic>
        <p:nvPicPr>
          <p:cNvPr id="40" name="icon-MdTimer" descr="preencoded.png">    </p:cNvPr>
          <p:cNvPicPr>
            <a:picLocks noChangeAspect="1"/>
          </p:cNvPicPr>
          <p:nvPr/>
        </p:nvPicPr>
        <p:blipFill>
          <a:blip r:embed="rId10"/>
          <a:stretch>
            <a:fillRect/>
          </a:stretch>
        </p:blipFill>
        <p:spPr>
          <a:xfrm>
            <a:off x="3711732" y="4397532"/>
            <a:ext cx="275783" cy="275783"/>
          </a:xfrm>
          <a:prstGeom prst="rect">
            <a:avLst/>
          </a:prstGeom>
        </p:spPr>
      </p:pic>
      <p:sp>
        <p:nvSpPr>
          <p:cNvPr id="41" name="Text 29"/>
          <p:cNvSpPr txBox="1"/>
          <p:nvPr/>
        </p:nvSpPr>
        <p:spPr>
          <a:xfrm>
            <a:off x="4224528" y="4270248"/>
            <a:ext cx="1691640" cy="530352"/>
          </a:xfrm>
          <a:prstGeom prst="rect">
            <a:avLst/>
          </a:prstGeom>
          <a:noFill/>
          <a:ln/>
        </p:spPr>
        <p:txBody>
          <a:bodyPr wrap="square" lIns="0" tIns="0" rIns="0" bIns="0" rtlCol="0" anchor="ctr"/>
          <a:lstStyle/>
          <a:p>
            <a:pPr indent="0" marL="0">
              <a:buNone/>
            </a:pPr>
            <a:r>
              <a:rPr lang="en-US" sz="1500" b="1" dirty="0">
                <a:solidFill>
                  <a:srgbClr val="D97706"/>
                </a:solidFill>
              </a:rPr>
              <a:t>6  </a:t>
            </a:r>
            <a:pPr indent="0" marL="0">
              <a:buNone/>
            </a:pPr>
            <a:r>
              <a:rPr lang="en-US" sz="1500" b="1" dirty="0">
                <a:solidFill>
                  <a:srgbClr val="0F172A"/>
                </a:solidFill>
              </a:rPr>
              <a:t>Work &amp; time</a:t>
            </a:r>
            <a:endParaRPr lang="en-US" sz="1500" dirty="0"/>
          </a:p>
        </p:txBody>
      </p:sp>
      <p:sp>
        <p:nvSpPr>
          <p:cNvPr id="42" name="Text 30"/>
          <p:cNvSpPr txBox="1"/>
          <p:nvPr/>
        </p:nvSpPr>
        <p:spPr>
          <a:xfrm>
            <a:off x="3584448" y="4910328"/>
            <a:ext cx="2240280" cy="640080"/>
          </a:xfrm>
          <a:prstGeom prst="rect">
            <a:avLst/>
          </a:prstGeom>
          <a:noFill/>
          <a:ln/>
        </p:spPr>
        <p:txBody>
          <a:bodyPr wrap="square" lIns="0" tIns="0" rIns="0" bIns="0" rtlCol="0" anchor="t"/>
          <a:lstStyle/>
          <a:p>
            <a:pPr indent="0" marL="0">
              <a:buNone/>
            </a:pPr>
            <a:r>
              <a:rPr lang="en-US" sz="1300" dirty="0">
                <a:solidFill>
                  <a:srgbClr val="334155"/>
                </a:solidFill>
              </a:rPr>
              <a:t>Start / Stop the timer on a task</a:t>
            </a:r>
            <a:endParaRPr lang="en-US" sz="1300" dirty="0"/>
          </a:p>
        </p:txBody>
      </p:sp>
      <p:sp>
        <p:nvSpPr>
          <p:cNvPr id="43" name="Text 31"/>
          <p:cNvSpPr txBox="1"/>
          <p:nvPr/>
        </p:nvSpPr>
        <p:spPr>
          <a:xfrm>
            <a:off x="3584448" y="5550408"/>
            <a:ext cx="2240280" cy="566928"/>
          </a:xfrm>
          <a:prstGeom prst="rect">
            <a:avLst/>
          </a:prstGeom>
          <a:noFill/>
          <a:ln/>
        </p:spPr>
        <p:txBody>
          <a:bodyPr wrap="square" lIns="0" tIns="0" rIns="0" bIns="0" rtlCol="0" anchor="t"/>
          <a:lstStyle/>
          <a:p>
            <a:pPr indent="0" marL="0">
              <a:buNone/>
            </a:pPr>
            <a:r>
              <a:rPr lang="en-US" sz="1100" b="1" dirty="0">
                <a:solidFill>
                  <a:srgbClr val="D97706"/>
                </a:solidFill>
              </a:rPr>
              <a:t>Staff</a:t>
            </a:r>
            <a:endParaRPr lang="en-US" sz="1100" dirty="0"/>
          </a:p>
          <a:p>
            <a:pPr indent="0" marL="0">
              <a:buNone/>
            </a:pPr>
            <a:r>
              <a:rPr lang="en-US" sz="1100" dirty="0">
                <a:solidFill>
                  <a:srgbClr val="64748B"/>
                </a:solidFill>
              </a:rPr>
              <a:t>Audits › My Work</a:t>
            </a:r>
            <a:endParaRPr lang="en-US" sz="1100" dirty="0"/>
          </a:p>
        </p:txBody>
      </p:sp>
      <p:pic>
        <p:nvPicPr>
          <p:cNvPr id="44" name="arrow-6" descr="preencoded.png">    </p:cNvPr>
          <p:cNvPicPr>
            <a:picLocks noChangeAspect="1"/>
          </p:cNvPicPr>
          <p:nvPr/>
        </p:nvPicPr>
        <p:blipFill>
          <a:blip r:embed="rId11"/>
          <a:stretch>
            <a:fillRect/>
          </a:stretch>
        </p:blipFill>
        <p:spPr>
          <a:xfrm>
            <a:off x="5971032" y="5006340"/>
            <a:ext cx="256032" cy="274320"/>
          </a:xfrm>
          <a:prstGeom prst="rect">
            <a:avLst/>
          </a:prstGeom>
        </p:spPr>
      </p:pic>
      <p:sp>
        <p:nvSpPr>
          <p:cNvPr id="45" name="step-7"/>
          <p:cNvSpPr/>
          <p:nvPr/>
        </p:nvSpPr>
        <p:spPr>
          <a:xfrm>
            <a:off x="6217920" y="4069080"/>
            <a:ext cx="2606040" cy="2148840"/>
          </a:xfrm>
          <a:prstGeom prst="roundRect">
            <a:avLst>
              <a:gd name="adj" fmla="val 5106"/>
            </a:avLst>
          </a:prstGeom>
          <a:solidFill>
            <a:srgbClr val="F3F5FA"/>
          </a:solidFill>
          <a:ln w="12700">
            <a:solidFill>
              <a:srgbClr val="F3F5FA"/>
            </a:solidFill>
            <a:prstDash val="solid"/>
          </a:ln>
        </p:spPr>
      </p:sp>
      <p:sp>
        <p:nvSpPr>
          <p:cNvPr id="46" name="icon-bg-MdFactCheck"/>
          <p:cNvSpPr/>
          <p:nvPr/>
        </p:nvSpPr>
        <p:spPr>
          <a:xfrm>
            <a:off x="6419088" y="4270248"/>
            <a:ext cx="530352" cy="530352"/>
          </a:xfrm>
          <a:prstGeom prst="ellipse">
            <a:avLst/>
          </a:prstGeom>
          <a:solidFill>
            <a:srgbClr val="059669"/>
          </a:solidFill>
          <a:ln w="12700">
            <a:solidFill>
              <a:srgbClr val="059669"/>
            </a:solidFill>
            <a:prstDash val="solid"/>
          </a:ln>
        </p:spPr>
      </p:sp>
      <p:pic>
        <p:nvPicPr>
          <p:cNvPr id="47" name="icon-MdFactCheck" descr="preencoded.png">    </p:cNvPr>
          <p:cNvPicPr>
            <a:picLocks noChangeAspect="1"/>
          </p:cNvPicPr>
          <p:nvPr/>
        </p:nvPicPr>
        <p:blipFill>
          <a:blip r:embed="rId12"/>
          <a:stretch>
            <a:fillRect/>
          </a:stretch>
        </p:blipFill>
        <p:spPr>
          <a:xfrm>
            <a:off x="6546372" y="4397532"/>
            <a:ext cx="275783" cy="275783"/>
          </a:xfrm>
          <a:prstGeom prst="rect">
            <a:avLst/>
          </a:prstGeom>
        </p:spPr>
      </p:pic>
      <p:sp>
        <p:nvSpPr>
          <p:cNvPr id="48" name="Text 34"/>
          <p:cNvSpPr txBox="1"/>
          <p:nvPr/>
        </p:nvSpPr>
        <p:spPr>
          <a:xfrm>
            <a:off x="7059168" y="4270248"/>
            <a:ext cx="1691640" cy="530352"/>
          </a:xfrm>
          <a:prstGeom prst="rect">
            <a:avLst/>
          </a:prstGeom>
          <a:noFill/>
          <a:ln/>
        </p:spPr>
        <p:txBody>
          <a:bodyPr wrap="square" lIns="0" tIns="0" rIns="0" bIns="0" rtlCol="0" anchor="ctr"/>
          <a:lstStyle/>
          <a:p>
            <a:pPr indent="0" marL="0">
              <a:buNone/>
            </a:pPr>
            <a:r>
              <a:rPr lang="en-US" sz="1500" b="1" dirty="0">
                <a:solidFill>
                  <a:srgbClr val="059669"/>
                </a:solidFill>
              </a:rPr>
              <a:t>7  </a:t>
            </a:r>
            <a:pPr indent="0" marL="0">
              <a:buNone/>
            </a:pPr>
            <a:r>
              <a:rPr lang="en-US" sz="1500" b="1" dirty="0">
                <a:solidFill>
                  <a:srgbClr val="0F172A"/>
                </a:solidFill>
              </a:rPr>
              <a:t>Approve</a:t>
            </a:r>
            <a:endParaRPr lang="en-US" sz="1500" dirty="0"/>
          </a:p>
        </p:txBody>
      </p:sp>
      <p:sp>
        <p:nvSpPr>
          <p:cNvPr id="49" name="Text 35"/>
          <p:cNvSpPr txBox="1"/>
          <p:nvPr/>
        </p:nvSpPr>
        <p:spPr>
          <a:xfrm>
            <a:off x="6419088" y="4910328"/>
            <a:ext cx="2240280" cy="640080"/>
          </a:xfrm>
          <a:prstGeom prst="rect">
            <a:avLst/>
          </a:prstGeom>
          <a:noFill/>
          <a:ln/>
        </p:spPr>
        <p:txBody>
          <a:bodyPr wrap="square" lIns="0" tIns="0" rIns="0" bIns="0" rtlCol="0" anchor="t"/>
          <a:lstStyle/>
          <a:p>
            <a:pPr indent="0" marL="0">
              <a:buNone/>
            </a:pPr>
            <a:r>
              <a:rPr lang="en-US" sz="1300" dirty="0">
                <a:solidFill>
                  <a:srgbClr val="334155"/>
                </a:solidFill>
              </a:rPr>
              <a:t>Reviewer approves tasks; manager approves the week</a:t>
            </a:r>
            <a:endParaRPr lang="en-US" sz="1300" dirty="0"/>
          </a:p>
        </p:txBody>
      </p:sp>
      <p:sp>
        <p:nvSpPr>
          <p:cNvPr id="50" name="Text 36"/>
          <p:cNvSpPr txBox="1"/>
          <p:nvPr/>
        </p:nvSpPr>
        <p:spPr>
          <a:xfrm>
            <a:off x="6419088" y="5550408"/>
            <a:ext cx="2240280" cy="566928"/>
          </a:xfrm>
          <a:prstGeom prst="rect">
            <a:avLst/>
          </a:prstGeom>
          <a:noFill/>
          <a:ln/>
        </p:spPr>
        <p:txBody>
          <a:bodyPr wrap="square" lIns="0" tIns="0" rIns="0" bIns="0" rtlCol="0" anchor="t"/>
          <a:lstStyle/>
          <a:p>
            <a:pPr indent="0" marL="0">
              <a:buNone/>
            </a:pPr>
            <a:r>
              <a:rPr lang="en-US" sz="1100" b="1" dirty="0">
                <a:solidFill>
                  <a:srgbClr val="059669"/>
                </a:solidFill>
              </a:rPr>
              <a:t>Reviewer · Manager</a:t>
            </a:r>
            <a:endParaRPr lang="en-US" sz="1100" dirty="0"/>
          </a:p>
          <a:p>
            <a:pPr indent="0" marL="0">
              <a:buNone/>
            </a:pPr>
            <a:r>
              <a:rPr lang="en-US" sz="1100" dirty="0">
                <a:solidFill>
                  <a:srgbClr val="64748B"/>
                </a:solidFill>
              </a:rPr>
              <a:t>Audits › Timesheets › Approvals</a:t>
            </a:r>
            <a:endParaRPr lang="en-US" sz="1100" dirty="0"/>
          </a:p>
        </p:txBody>
      </p:sp>
      <p:pic>
        <p:nvPicPr>
          <p:cNvPr id="51" name="arrow-7" descr="preencoded.png">    </p:cNvPr>
          <p:cNvPicPr>
            <a:picLocks noChangeAspect="1"/>
          </p:cNvPicPr>
          <p:nvPr/>
        </p:nvPicPr>
        <p:blipFill>
          <a:blip r:embed="rId13"/>
          <a:stretch>
            <a:fillRect/>
          </a:stretch>
        </p:blipFill>
        <p:spPr>
          <a:xfrm>
            <a:off x="8805672" y="5006340"/>
            <a:ext cx="256032" cy="274320"/>
          </a:xfrm>
          <a:prstGeom prst="rect">
            <a:avLst/>
          </a:prstGeom>
        </p:spPr>
      </p:pic>
      <p:sp>
        <p:nvSpPr>
          <p:cNvPr id="52" name="step-8"/>
          <p:cNvSpPr/>
          <p:nvPr/>
        </p:nvSpPr>
        <p:spPr>
          <a:xfrm>
            <a:off x="9052560" y="4069080"/>
            <a:ext cx="2606040" cy="2148840"/>
          </a:xfrm>
          <a:prstGeom prst="roundRect">
            <a:avLst>
              <a:gd name="adj" fmla="val 5106"/>
            </a:avLst>
          </a:prstGeom>
          <a:solidFill>
            <a:srgbClr val="F3F5FA"/>
          </a:solidFill>
          <a:ln w="12700">
            <a:solidFill>
              <a:srgbClr val="F3F5FA"/>
            </a:solidFill>
            <a:prstDash val="solid"/>
          </a:ln>
        </p:spPr>
      </p:sp>
      <p:sp>
        <p:nvSpPr>
          <p:cNvPr id="53" name="icon-bg-MdReceiptLong"/>
          <p:cNvSpPr/>
          <p:nvPr/>
        </p:nvSpPr>
        <p:spPr>
          <a:xfrm>
            <a:off x="9253728" y="4270248"/>
            <a:ext cx="530352" cy="530352"/>
          </a:xfrm>
          <a:prstGeom prst="ellipse">
            <a:avLst/>
          </a:prstGeom>
          <a:solidFill>
            <a:srgbClr val="C8102E"/>
          </a:solidFill>
          <a:ln w="12700">
            <a:solidFill>
              <a:srgbClr val="C8102E"/>
            </a:solidFill>
            <a:prstDash val="solid"/>
          </a:ln>
        </p:spPr>
      </p:sp>
      <p:pic>
        <p:nvPicPr>
          <p:cNvPr id="54" name="icon-MdReceiptLong" descr="preencoded.png">    </p:cNvPr>
          <p:cNvPicPr>
            <a:picLocks noChangeAspect="1"/>
          </p:cNvPicPr>
          <p:nvPr/>
        </p:nvPicPr>
        <p:blipFill>
          <a:blip r:embed="rId14"/>
          <a:stretch>
            <a:fillRect/>
          </a:stretch>
        </p:blipFill>
        <p:spPr>
          <a:xfrm>
            <a:off x="9381012" y="4397532"/>
            <a:ext cx="275783" cy="275783"/>
          </a:xfrm>
          <a:prstGeom prst="rect">
            <a:avLst/>
          </a:prstGeom>
        </p:spPr>
      </p:pic>
      <p:sp>
        <p:nvSpPr>
          <p:cNvPr id="55" name="Text 39"/>
          <p:cNvSpPr txBox="1"/>
          <p:nvPr/>
        </p:nvSpPr>
        <p:spPr>
          <a:xfrm>
            <a:off x="9893808" y="4270248"/>
            <a:ext cx="1691640" cy="530352"/>
          </a:xfrm>
          <a:prstGeom prst="rect">
            <a:avLst/>
          </a:prstGeom>
          <a:noFill/>
          <a:ln/>
        </p:spPr>
        <p:txBody>
          <a:bodyPr wrap="square" lIns="0" tIns="0" rIns="0" bIns="0" rtlCol="0" anchor="ctr"/>
          <a:lstStyle/>
          <a:p>
            <a:pPr indent="0" marL="0">
              <a:buNone/>
            </a:pPr>
            <a:r>
              <a:rPr lang="en-US" sz="1500" b="1" dirty="0">
                <a:solidFill>
                  <a:srgbClr val="C8102E"/>
                </a:solidFill>
              </a:rPr>
              <a:t>8  </a:t>
            </a:r>
            <a:pPr indent="0" marL="0">
              <a:buNone/>
            </a:pPr>
            <a:r>
              <a:rPr lang="en-US" sz="1500" b="1" dirty="0">
                <a:solidFill>
                  <a:srgbClr val="0F172A"/>
                </a:solidFill>
              </a:rPr>
              <a:t>Bill</a:t>
            </a:r>
            <a:endParaRPr lang="en-US" sz="1500" dirty="0"/>
          </a:p>
        </p:txBody>
      </p:sp>
      <p:sp>
        <p:nvSpPr>
          <p:cNvPr id="56" name="Text 40"/>
          <p:cNvSpPr txBox="1"/>
          <p:nvPr/>
        </p:nvSpPr>
        <p:spPr>
          <a:xfrm>
            <a:off x="9253728" y="4910328"/>
            <a:ext cx="2240280" cy="640080"/>
          </a:xfrm>
          <a:prstGeom prst="rect">
            <a:avLst/>
          </a:prstGeom>
          <a:noFill/>
          <a:ln/>
        </p:spPr>
        <p:txBody>
          <a:bodyPr wrap="square" lIns="0" tIns="0" rIns="0" bIns="0" rtlCol="0" anchor="t"/>
          <a:lstStyle/>
          <a:p>
            <a:pPr indent="0" marL="0">
              <a:buNone/>
            </a:pPr>
            <a:r>
              <a:rPr lang="en-US" sz="1300" dirty="0">
                <a:solidFill>
                  <a:srgbClr val="334155"/>
                </a:solidFill>
              </a:rPr>
              <a:t>Invoices from fees and approved time</a:t>
            </a:r>
            <a:endParaRPr lang="en-US" sz="1300" dirty="0"/>
          </a:p>
        </p:txBody>
      </p:sp>
      <p:sp>
        <p:nvSpPr>
          <p:cNvPr id="57" name="Text 41"/>
          <p:cNvSpPr txBox="1"/>
          <p:nvPr/>
        </p:nvSpPr>
        <p:spPr>
          <a:xfrm>
            <a:off x="9253728" y="5550408"/>
            <a:ext cx="2240280" cy="566928"/>
          </a:xfrm>
          <a:prstGeom prst="rect">
            <a:avLst/>
          </a:prstGeom>
          <a:noFill/>
          <a:ln/>
        </p:spPr>
        <p:txBody>
          <a:bodyPr wrap="square" lIns="0" tIns="0" rIns="0" bIns="0" rtlCol="0" anchor="t"/>
          <a:lstStyle/>
          <a:p>
            <a:pPr indent="0" marL="0">
              <a:buNone/>
            </a:pPr>
            <a:r>
              <a:rPr lang="en-US" sz="1100" b="1" dirty="0">
                <a:solidFill>
                  <a:srgbClr val="C8102E"/>
                </a:solidFill>
              </a:rPr>
              <a:t>Accounts · Partner</a:t>
            </a:r>
            <a:endParaRPr lang="en-US" sz="1100" dirty="0"/>
          </a:p>
          <a:p>
            <a:pPr indent="0" marL="0">
              <a:buNone/>
            </a:pPr>
            <a:r>
              <a:rPr lang="en-US" sz="1100" dirty="0">
                <a:solidFill>
                  <a:srgbClr val="64748B"/>
                </a:solidFill>
              </a:rPr>
              <a:t>Audits › Billing &amp; Invoices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200" b="1" dirty="0">
                <a:solidFill>
                  <a:schemeClr val="tx2"/>
                </a:solidFill>
              </a:rPr>
              <a:t>Everyday requests and who approves them</a:t>
            </a:r>
            <a:endParaRPr lang="en-US" sz="32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rgbClr val="64748B"/>
                </a:solidFill>
              </a:rPr>
              <a:t>Every request starts from the person’s own screen and lands in an approver’s queue.</a:t>
            </a:r>
            <a:endParaRPr lang="en-US" sz="1500" dirty="0"/>
          </a:p>
        </p:txBody>
      </p:sp>
      <p:graphicFrame>
        <p:nvGraphicFramePr>
          <p:cNvPr id="5" name="approvals-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554480"/>
                <a:gridCol w="2514600"/>
                <a:gridCol w="2240280"/>
                <a:gridCol w="2468880"/>
                <a:gridCol w="2286000"/>
              </a:tblGrid>
              <a:tr h="713232">
                <a:tc>
                  <a:txBody>
                    <a:bodyPr/>
                    <a:lstStyle/>
                    <a:p>
                      <a:pPr indent="0" marL="0">
                        <a:buNone/>
                      </a:pPr>
                      <a:r>
                        <a:rPr lang="en-US" sz="1300" b="1" dirty="0">
                          <a:solidFill>
                            <a:srgbClr val="FFFFFF"/>
                          </a:solidFill>
                        </a:rPr>
                        <a:t>Request</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c>
                  <a:txBody>
                    <a:bodyPr/>
                    <a:lstStyle/>
                    <a:p>
                      <a:pPr indent="0" marL="0">
                        <a:buNone/>
                      </a:pPr>
                      <a:r>
                        <a:rPr lang="en-US" sz="1300" b="1" dirty="0">
                          <a:solidFill>
                            <a:srgbClr val="FFFFFF"/>
                          </a:solidFill>
                        </a:rPr>
                        <a:t>Raised from</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c>
                  <a:txBody>
                    <a:bodyPr/>
                    <a:lstStyle/>
                    <a:p>
                      <a:pPr indent="0" marL="0">
                        <a:buNone/>
                      </a:pPr>
                      <a:r>
                        <a:rPr lang="en-US" sz="1300" b="1" dirty="0">
                          <a:solidFill>
                            <a:srgbClr val="FFFFFF"/>
                          </a:solidFill>
                        </a:rPr>
                        <a:t>Approved by</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c>
                  <a:txBody>
                    <a:bodyPr/>
                    <a:lstStyle/>
                    <a:p>
                      <a:pPr indent="0" marL="0">
                        <a:buNone/>
                      </a:pPr>
                      <a:r>
                        <a:rPr lang="en-US" sz="1300" b="1" dirty="0">
                          <a:solidFill>
                            <a:srgbClr val="FFFFFF"/>
                          </a:solidFill>
                        </a:rPr>
                        <a:t>Approver’s screen</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c>
                  <a:txBody>
                    <a:bodyPr/>
                    <a:lstStyle/>
                    <a:p>
                      <a:pPr indent="0" marL="0">
                        <a:buNone/>
                      </a:pPr>
                      <a:r>
                        <a:rPr lang="en-US" sz="1300" b="1" dirty="0">
                          <a:solidFill>
                            <a:srgbClr val="FFFFFF"/>
                          </a:solidFill>
                        </a:rPr>
                        <a:t>What happens next</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r>
              <a:tr h="713232">
                <a:tc>
                  <a:txBody>
                    <a:bodyPr/>
                    <a:lstStyle/>
                    <a:p>
                      <a:pPr indent="0" marL="0">
                        <a:buNone/>
                      </a:pPr>
                      <a:r>
                        <a:rPr lang="en-US" sz="1300" b="1" dirty="0">
                          <a:solidFill>
                            <a:srgbClr val="0F172A"/>
                          </a:solidFill>
                        </a:rPr>
                        <a:t>Leave</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indent="0" marL="0">
                        <a:buNone/>
                      </a:pPr>
                      <a:r>
                        <a:rPr lang="en-US" sz="1300" dirty="0">
                          <a:solidFill>
                            <a:srgbClr val="334155"/>
                          </a:solidFill>
                        </a:rPr>
                        <a:t>Leave › Apply Leave</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indent="0" marL="0">
                        <a:buNone/>
                      </a:pPr>
                      <a:r>
                        <a:rPr lang="en-US" sz="1300" dirty="0">
                          <a:solidFill>
                            <a:srgbClr val="334155"/>
                          </a:solidFill>
                        </a:rPr>
                        <a:t>Team lead / manager (HR can too)</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indent="0" marL="0">
                        <a:buNone/>
                      </a:pPr>
                      <a:r>
                        <a:rPr lang="en-US" sz="1300" dirty="0">
                          <a:solidFill>
                            <a:srgbClr val="334155"/>
                          </a:solidFill>
                        </a:rPr>
                        <a:t>Leave › Approvals</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indent="0" marL="0">
                        <a:buNone/>
                      </a:pPr>
                      <a:r>
                        <a:rPr lang="en-US" sz="1300" dirty="0">
                          <a:solidFill>
                            <a:srgbClr val="334155"/>
                          </a:solidFill>
                        </a:rPr>
                        <a:t>Balance updates; shows on the team calendar</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r>
              <a:tr h="713232">
                <a:tc>
                  <a:txBody>
                    <a:bodyPr/>
                    <a:lstStyle/>
                    <a:p>
                      <a:pPr indent="0" marL="0">
                        <a:buNone/>
                      </a:pPr>
                      <a:r>
                        <a:rPr lang="en-US" sz="1300" b="1" dirty="0">
                          <a:solidFill>
                            <a:srgbClr val="0F172A"/>
                          </a:solidFill>
                        </a:rPr>
                        <a:t>Missed punch</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rPr>
                        <a:t>Attendance › Regularization</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rPr>
                        <a:t>Team lead / manager</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rPr>
                        <a:t>Attendance › Regularization</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rPr>
                        <a:t>Attendance record is corrected</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713232">
                <a:tc>
                  <a:txBody>
                    <a:bodyPr/>
                    <a:lstStyle/>
                    <a:p>
                      <a:pPr indent="0" marL="0">
                        <a:buNone/>
                      </a:pPr>
                      <a:r>
                        <a:rPr lang="en-US" sz="1300" b="1" dirty="0">
                          <a:solidFill>
                            <a:srgbClr val="0F172A"/>
                          </a:solidFill>
                        </a:rPr>
                        <a:t>Expense claim</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indent="0" marL="0">
                        <a:buNone/>
                      </a:pPr>
                      <a:r>
                        <a:rPr lang="en-US" sz="1300" dirty="0">
                          <a:solidFill>
                            <a:srgbClr val="334155"/>
                          </a:solidFill>
                        </a:rPr>
                        <a:t>Expenses › My Expenses</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indent="0" marL="0">
                        <a:buNone/>
                      </a:pPr>
                      <a:r>
                        <a:rPr lang="en-US" sz="1300" dirty="0">
                          <a:solidFill>
                            <a:srgbClr val="334155"/>
                          </a:solidFill>
                        </a:rPr>
                        <a:t>Manager or Accounts</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indent="0" marL="0">
                        <a:buNone/>
                      </a:pPr>
                      <a:r>
                        <a:rPr lang="en-US" sz="1300" dirty="0">
                          <a:solidFill>
                            <a:srgbClr val="334155"/>
                          </a:solidFill>
                        </a:rPr>
                        <a:t>Expenses › Approvals</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indent="0" marL="0">
                        <a:buNone/>
                      </a:pPr>
                      <a:r>
                        <a:rPr lang="en-US" sz="1300" dirty="0">
                          <a:solidFill>
                            <a:srgbClr val="334155"/>
                          </a:solidFill>
                        </a:rPr>
                        <a:t>Accounts marks it Reimbursed</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r>
              <a:tr h="713232">
                <a:tc>
                  <a:txBody>
                    <a:bodyPr/>
                    <a:lstStyle/>
                    <a:p>
                      <a:pPr indent="0" marL="0">
                        <a:buNone/>
                      </a:pPr>
                      <a:r>
                        <a:rPr lang="en-US" sz="1300" b="1" dirty="0">
                          <a:solidFill>
                            <a:srgbClr val="0F172A"/>
                          </a:solidFill>
                        </a:rPr>
                        <a:t>Timesheet (week)</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rPr>
                        <a:t>Audits › Timesheets › Submit week</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rPr>
                        <a:t>Engagement manager</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rPr>
                        <a:t>Audits › Timesheets › Approvals</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rPr>
                        <a:t>Only approved time is billed</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713232">
                <a:tc>
                  <a:txBody>
                    <a:bodyPr/>
                    <a:lstStyle/>
                    <a:p>
                      <a:pPr indent="0" marL="0">
                        <a:buNone/>
                      </a:pPr>
                      <a:r>
                        <a:rPr lang="en-US" sz="1300" b="1" dirty="0">
                          <a:solidFill>
                            <a:srgbClr val="0F172A"/>
                          </a:solidFill>
                        </a:rPr>
                        <a:t>HR question</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indent="0" marL="0">
                        <a:buNone/>
                      </a:pPr>
                      <a:r>
                        <a:rPr lang="en-US" sz="1300" dirty="0">
                          <a:solidFill>
                            <a:srgbClr val="334155"/>
                          </a:solidFill>
                        </a:rPr>
                        <a:t>HR Helpdesk › Raise a ticket</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indent="0" marL="0">
                        <a:buNone/>
                      </a:pPr>
                      <a:r>
                        <a:rPr lang="en-US" sz="1300" dirty="0">
                          <a:solidFill>
                            <a:srgbClr val="334155"/>
                          </a:solidFill>
                        </a:rPr>
                        <a:t>HR (assigned owner)</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indent="0" marL="0">
                        <a:buNone/>
                      </a:pPr>
                      <a:r>
                        <a:rPr lang="en-US" sz="1300" dirty="0">
                          <a:solidFill>
                            <a:srgbClr val="334155"/>
                          </a:solidFill>
                        </a:rPr>
                        <a:t>HR Helpdesk › HR Tickets</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indent="0" marL="0">
                        <a:buNone/>
                      </a:pPr>
                      <a:r>
                        <a:rPr lang="en-US" sz="1300" dirty="0">
                          <a:solidFill>
                            <a:srgbClr val="334155"/>
                          </a:solidFill>
                        </a:rPr>
                        <a:t>Resolved → Closed, or Reopened</a:t>
                      </a:r>
                      <a:endParaRPr lang="en-US" sz="1300" dirty="0"/>
                    </a:p>
                  </a:txBody>
                  <a:tcPr marL="91440" marR="91440"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05840"/>
          </a:xfrm>
          <a:prstGeom prst="rect">
            <a:avLst/>
          </a:prstGeom>
          <a:noFill/>
          <a:ln/>
        </p:spPr>
        <p:txBody>
          <a:bodyPr wrap="square" lIns="0" tIns="0" rIns="0" bIns="0" rtlCol="0" anchor="b"/>
          <a:lstStyle/>
          <a:p>
            <a:pPr algn="l" indent="0" marL="0">
              <a:buNone/>
            </a:pPr>
            <a:r>
              <a:rPr lang="en-US" sz="4400" b="1" dirty="0">
                <a:solidFill>
                  <a:schemeClr val="bg1"/>
                </a:solidFill>
              </a:rPr>
              <a:t>Staff: Consultants, Junior Consultants &amp; Associates</a:t>
            </a:r>
            <a:endParaRPr lang="en-US" sz="4400" dirty="0"/>
          </a:p>
        </p:txBody>
      </p:sp>
      <p:sp>
        <p:nvSpPr>
          <p:cNvPr id="3" name="Text 0"/>
          <p:cNvSpPr/>
          <p:nvPr>
            <p:ph idx="101" type="body" hasCustomPrompt="1"/>
          </p:nvPr>
        </p:nvSpPr>
        <p:spPr>
          <a:xfrm>
            <a:off x="731520" y="3794760"/>
            <a:ext cx="10058400" cy="1097280"/>
          </a:xfrm>
          <a:prstGeom prst="rect">
            <a:avLst/>
          </a:prstGeom>
          <a:noFill/>
          <a:ln/>
        </p:spPr>
        <p:txBody>
          <a:bodyPr wrap="square" lIns="0" tIns="0" rIns="0" bIns="0" rtlCol="0" anchor="t"/>
          <a:lstStyle/>
          <a:p>
            <a:pPr algn="l" indent="0" marL="0">
              <a:buNone/>
            </a:pPr>
            <a:r>
              <a:rPr lang="en-US" sz="1800" dirty="0">
                <a:solidFill>
                  <a:srgbClr val="CBD5E1"/>
                </a:solidFill>
              </a:rPr>
              <a:t>Check in, do the audit work with the timer running, submit the week, and raise your own requests.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200" b="1" dirty="0">
                <a:solidFill>
                  <a:schemeClr val="tx2"/>
                </a:solidFill>
              </a:rPr>
              <a:t>A day in the life of a staff member</a:t>
            </a:r>
            <a:endParaRPr lang="en-US" sz="32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rgbClr val="64748B"/>
                </a:solidFill>
              </a:rPr>
              <a:t>Six moments, all inside the app.</a:t>
            </a:r>
            <a:endParaRPr lang="en-US" sz="1500" dirty="0"/>
          </a:p>
        </p:txBody>
      </p:sp>
      <p:sp>
        <p:nvSpPr>
          <p:cNvPr id="4" name="timeline"/>
          <p:cNvSpPr/>
          <p:nvPr/>
        </p:nvSpPr>
        <p:spPr>
          <a:xfrm>
            <a:off x="1005840" y="2560320"/>
            <a:ext cx="10149840" cy="0"/>
          </a:xfrm>
          <a:prstGeom prst="line">
            <a:avLst/>
          </a:prstGeom>
          <a:noFill/>
          <a:ln w="25400">
            <a:solidFill>
              <a:srgbClr val="E2E8F0"/>
            </a:solidFill>
            <a:prstDash val="dash"/>
          </a:ln>
        </p:spPr>
      </p:sp>
      <p:sp>
        <p:nvSpPr>
          <p:cNvPr id="5" name="icon-bg-MdLogin"/>
          <p:cNvSpPr/>
          <p:nvPr/>
        </p:nvSpPr>
        <p:spPr>
          <a:xfrm>
            <a:off x="941832" y="2103120"/>
            <a:ext cx="914400" cy="914400"/>
          </a:xfrm>
          <a:prstGeom prst="ellipse">
            <a:avLst/>
          </a:prstGeom>
          <a:solidFill>
            <a:srgbClr val="1E40AF"/>
          </a:solidFill>
          <a:ln w="12700">
            <a:solidFill>
              <a:srgbClr val="1E40AF"/>
            </a:solidFill>
            <a:prstDash val="solid"/>
          </a:ln>
        </p:spPr>
      </p:sp>
      <p:pic>
        <p:nvPicPr>
          <p:cNvPr id="6" name="icon-MdLogin" descr="preencoded.png">    </p:cNvPr>
          <p:cNvPicPr>
            <a:picLocks noChangeAspect="1"/>
          </p:cNvPicPr>
          <p:nvPr/>
        </p:nvPicPr>
        <p:blipFill>
          <a:blip r:embed="rId1"/>
          <a:stretch>
            <a:fillRect/>
          </a:stretch>
        </p:blipFill>
        <p:spPr>
          <a:xfrm>
            <a:off x="1161288" y="2322576"/>
            <a:ext cx="475488" cy="475488"/>
          </a:xfrm>
          <a:prstGeom prst="rect">
            <a:avLst/>
          </a:prstGeom>
        </p:spPr>
      </p:pic>
      <p:sp>
        <p:nvSpPr>
          <p:cNvPr id="7" name="Text 4"/>
          <p:cNvSpPr txBox="1"/>
          <p:nvPr/>
        </p:nvSpPr>
        <p:spPr>
          <a:xfrm>
            <a:off x="548640" y="3200400"/>
            <a:ext cx="1700784" cy="411480"/>
          </a:xfrm>
          <a:prstGeom prst="rect">
            <a:avLst/>
          </a:prstGeom>
          <a:noFill/>
          <a:ln/>
        </p:spPr>
        <p:txBody>
          <a:bodyPr wrap="square" lIns="0" tIns="0" rIns="0" bIns="0" rtlCol="0" anchor="ctr"/>
          <a:lstStyle/>
          <a:p>
            <a:pPr algn="ctr" indent="0" marL="0">
              <a:buNone/>
            </a:pPr>
            <a:r>
              <a:rPr lang="en-US" sz="1800" b="1" dirty="0">
                <a:solidFill>
                  <a:srgbClr val="0F172A"/>
                </a:solidFill>
              </a:rPr>
              <a:t>Arrive</a:t>
            </a:r>
            <a:endParaRPr lang="en-US" sz="1800" dirty="0"/>
          </a:p>
        </p:txBody>
      </p:sp>
      <p:sp>
        <p:nvSpPr>
          <p:cNvPr id="8" name="Text 5"/>
          <p:cNvSpPr txBox="1"/>
          <p:nvPr/>
        </p:nvSpPr>
        <p:spPr>
          <a:xfrm>
            <a:off x="594360" y="3657600"/>
            <a:ext cx="1609344" cy="1737360"/>
          </a:xfrm>
          <a:prstGeom prst="rect">
            <a:avLst/>
          </a:prstGeom>
          <a:noFill/>
          <a:ln/>
        </p:spPr>
        <p:txBody>
          <a:bodyPr wrap="square" lIns="0" tIns="0" rIns="0" bIns="0" rtlCol="0" anchor="t"/>
          <a:lstStyle/>
          <a:p>
            <a:pPr algn="ctr" indent="0" marL="0">
              <a:buNone/>
            </a:pPr>
            <a:r>
              <a:rPr lang="en-US" sz="1300" dirty="0">
                <a:solidFill>
                  <a:srgbClr val="475569"/>
                </a:solidFill>
              </a:rPr>
              <a:t>Check in on the Dashboard: Office, Home or Client site. Location is recorded.</a:t>
            </a:r>
            <a:endParaRPr lang="en-US" sz="1300" dirty="0"/>
          </a:p>
        </p:txBody>
      </p:sp>
      <p:sp>
        <p:nvSpPr>
          <p:cNvPr id="9" name="icon-bg-MdEventNote"/>
          <p:cNvSpPr/>
          <p:nvPr/>
        </p:nvSpPr>
        <p:spPr>
          <a:xfrm>
            <a:off x="2814523" y="2103120"/>
            <a:ext cx="914400" cy="914400"/>
          </a:xfrm>
          <a:prstGeom prst="ellipse">
            <a:avLst/>
          </a:prstGeom>
          <a:solidFill>
            <a:srgbClr val="7C3AED"/>
          </a:solidFill>
          <a:ln w="12700">
            <a:solidFill>
              <a:srgbClr val="7C3AED"/>
            </a:solidFill>
            <a:prstDash val="solid"/>
          </a:ln>
        </p:spPr>
      </p:sp>
      <p:pic>
        <p:nvPicPr>
          <p:cNvPr id="10" name="icon-MdEventNote" descr="preencoded.png">    </p:cNvPr>
          <p:cNvPicPr>
            <a:picLocks noChangeAspect="1"/>
          </p:cNvPicPr>
          <p:nvPr/>
        </p:nvPicPr>
        <p:blipFill>
          <a:blip r:embed="rId2"/>
          <a:stretch>
            <a:fillRect/>
          </a:stretch>
        </p:blipFill>
        <p:spPr>
          <a:xfrm>
            <a:off x="3033979" y="2322576"/>
            <a:ext cx="475488" cy="475488"/>
          </a:xfrm>
          <a:prstGeom prst="rect">
            <a:avLst/>
          </a:prstGeom>
        </p:spPr>
      </p:pic>
      <p:sp>
        <p:nvSpPr>
          <p:cNvPr id="11" name="Text 7"/>
          <p:cNvSpPr txBox="1"/>
          <p:nvPr/>
        </p:nvSpPr>
        <p:spPr>
          <a:xfrm>
            <a:off x="2421331" y="3200400"/>
            <a:ext cx="1700784" cy="411480"/>
          </a:xfrm>
          <a:prstGeom prst="rect">
            <a:avLst/>
          </a:prstGeom>
          <a:noFill/>
          <a:ln/>
        </p:spPr>
        <p:txBody>
          <a:bodyPr wrap="square" lIns="0" tIns="0" rIns="0" bIns="0" rtlCol="0" anchor="ctr"/>
          <a:lstStyle/>
          <a:p>
            <a:pPr algn="ctr" indent="0" marL="0">
              <a:buNone/>
            </a:pPr>
            <a:r>
              <a:rPr lang="en-US" sz="1800" b="1" dirty="0">
                <a:solidFill>
                  <a:srgbClr val="0F172A"/>
                </a:solidFill>
              </a:rPr>
              <a:t>Plan</a:t>
            </a:r>
            <a:endParaRPr lang="en-US" sz="1800" dirty="0"/>
          </a:p>
        </p:txBody>
      </p:sp>
      <p:sp>
        <p:nvSpPr>
          <p:cNvPr id="12" name="Text 8"/>
          <p:cNvSpPr txBox="1"/>
          <p:nvPr/>
        </p:nvSpPr>
        <p:spPr>
          <a:xfrm>
            <a:off x="2467051" y="3657600"/>
            <a:ext cx="1609344" cy="1737360"/>
          </a:xfrm>
          <a:prstGeom prst="rect">
            <a:avLst/>
          </a:prstGeom>
          <a:noFill/>
          <a:ln/>
        </p:spPr>
        <p:txBody>
          <a:bodyPr wrap="square" lIns="0" tIns="0" rIns="0" bIns="0" rtlCol="0" anchor="t"/>
          <a:lstStyle/>
          <a:p>
            <a:pPr algn="ctr" indent="0" marL="0">
              <a:buNone/>
            </a:pPr>
            <a:r>
              <a:rPr lang="en-US" sz="1300" dirty="0">
                <a:solidFill>
                  <a:srgbClr val="475569"/>
                </a:solidFill>
              </a:rPr>
              <a:t>Open My Work: what’s due today, overdue, or waiting for your review.</a:t>
            </a:r>
            <a:endParaRPr lang="en-US" sz="1300" dirty="0"/>
          </a:p>
        </p:txBody>
      </p:sp>
      <p:sp>
        <p:nvSpPr>
          <p:cNvPr id="13" name="icon-bg-MdPlayCircle"/>
          <p:cNvSpPr/>
          <p:nvPr/>
        </p:nvSpPr>
        <p:spPr>
          <a:xfrm>
            <a:off x="4687214" y="2103120"/>
            <a:ext cx="914400" cy="914400"/>
          </a:xfrm>
          <a:prstGeom prst="ellipse">
            <a:avLst/>
          </a:prstGeom>
          <a:solidFill>
            <a:srgbClr val="059669"/>
          </a:solidFill>
          <a:ln w="12700">
            <a:solidFill>
              <a:srgbClr val="059669"/>
            </a:solidFill>
            <a:prstDash val="solid"/>
          </a:ln>
        </p:spPr>
      </p:sp>
      <p:pic>
        <p:nvPicPr>
          <p:cNvPr id="14" name="icon-MdPlayCircle" descr="preencoded.png">    </p:cNvPr>
          <p:cNvPicPr>
            <a:picLocks noChangeAspect="1"/>
          </p:cNvPicPr>
          <p:nvPr/>
        </p:nvPicPr>
        <p:blipFill>
          <a:blip r:embed="rId3"/>
          <a:stretch>
            <a:fillRect/>
          </a:stretch>
        </p:blipFill>
        <p:spPr>
          <a:xfrm>
            <a:off x="4906670" y="2322576"/>
            <a:ext cx="475488" cy="475488"/>
          </a:xfrm>
          <a:prstGeom prst="rect">
            <a:avLst/>
          </a:prstGeom>
        </p:spPr>
      </p:pic>
      <p:sp>
        <p:nvSpPr>
          <p:cNvPr id="15" name="Text 10"/>
          <p:cNvSpPr txBox="1"/>
          <p:nvPr/>
        </p:nvSpPr>
        <p:spPr>
          <a:xfrm>
            <a:off x="4294022" y="3200400"/>
            <a:ext cx="1700784" cy="411480"/>
          </a:xfrm>
          <a:prstGeom prst="rect">
            <a:avLst/>
          </a:prstGeom>
          <a:noFill/>
          <a:ln/>
        </p:spPr>
        <p:txBody>
          <a:bodyPr wrap="square" lIns="0" tIns="0" rIns="0" bIns="0" rtlCol="0" anchor="ctr"/>
          <a:lstStyle/>
          <a:p>
            <a:pPr algn="ctr" indent="0" marL="0">
              <a:buNone/>
            </a:pPr>
            <a:r>
              <a:rPr lang="en-US" sz="1800" b="1" dirty="0">
                <a:solidFill>
                  <a:srgbClr val="0F172A"/>
                </a:solidFill>
              </a:rPr>
              <a:t>Work</a:t>
            </a:r>
            <a:endParaRPr lang="en-US" sz="1800" dirty="0"/>
          </a:p>
        </p:txBody>
      </p:sp>
      <p:sp>
        <p:nvSpPr>
          <p:cNvPr id="16" name="Text 11"/>
          <p:cNvSpPr txBox="1"/>
          <p:nvPr/>
        </p:nvSpPr>
        <p:spPr>
          <a:xfrm>
            <a:off x="4339742" y="3657600"/>
            <a:ext cx="1609344" cy="1737360"/>
          </a:xfrm>
          <a:prstGeom prst="rect">
            <a:avLst/>
          </a:prstGeom>
          <a:noFill/>
          <a:ln/>
        </p:spPr>
        <p:txBody>
          <a:bodyPr wrap="square" lIns="0" tIns="0" rIns="0" bIns="0" rtlCol="0" anchor="t"/>
          <a:lstStyle/>
          <a:p>
            <a:pPr algn="ctr" indent="0" marL="0">
              <a:buNone/>
            </a:pPr>
            <a:r>
              <a:rPr lang="en-US" sz="1300" dirty="0">
                <a:solidFill>
                  <a:srgbClr val="475569"/>
                </a:solidFill>
              </a:rPr>
              <a:t>Press Start on a task. One timer runs at a time.</a:t>
            </a:r>
            <a:endParaRPr lang="en-US" sz="1300" dirty="0"/>
          </a:p>
        </p:txBody>
      </p:sp>
      <p:sp>
        <p:nvSpPr>
          <p:cNvPr id="17" name="icon-bg-MdSend"/>
          <p:cNvSpPr/>
          <p:nvPr/>
        </p:nvSpPr>
        <p:spPr>
          <a:xfrm>
            <a:off x="6559906" y="2103120"/>
            <a:ext cx="914400" cy="914400"/>
          </a:xfrm>
          <a:prstGeom prst="ellipse">
            <a:avLst/>
          </a:prstGeom>
          <a:solidFill>
            <a:srgbClr val="D97706"/>
          </a:solidFill>
          <a:ln w="12700">
            <a:solidFill>
              <a:srgbClr val="D97706"/>
            </a:solidFill>
            <a:prstDash val="solid"/>
          </a:ln>
        </p:spPr>
      </p:sp>
      <p:pic>
        <p:nvPicPr>
          <p:cNvPr id="18" name="icon-MdSend" descr="preencoded.png">    </p:cNvPr>
          <p:cNvPicPr>
            <a:picLocks noChangeAspect="1"/>
          </p:cNvPicPr>
          <p:nvPr/>
        </p:nvPicPr>
        <p:blipFill>
          <a:blip r:embed="rId4"/>
          <a:stretch>
            <a:fillRect/>
          </a:stretch>
        </p:blipFill>
        <p:spPr>
          <a:xfrm>
            <a:off x="6779362" y="2322576"/>
            <a:ext cx="475488" cy="475488"/>
          </a:xfrm>
          <a:prstGeom prst="rect">
            <a:avLst/>
          </a:prstGeom>
        </p:spPr>
      </p:pic>
      <p:sp>
        <p:nvSpPr>
          <p:cNvPr id="19" name="Text 13"/>
          <p:cNvSpPr txBox="1"/>
          <p:nvPr/>
        </p:nvSpPr>
        <p:spPr>
          <a:xfrm>
            <a:off x="6166714" y="3200400"/>
            <a:ext cx="1700784" cy="411480"/>
          </a:xfrm>
          <a:prstGeom prst="rect">
            <a:avLst/>
          </a:prstGeom>
          <a:noFill/>
          <a:ln/>
        </p:spPr>
        <p:txBody>
          <a:bodyPr wrap="square" lIns="0" tIns="0" rIns="0" bIns="0" rtlCol="0" anchor="ctr"/>
          <a:lstStyle/>
          <a:p>
            <a:pPr algn="ctr" indent="0" marL="0">
              <a:buNone/>
            </a:pPr>
            <a:r>
              <a:rPr lang="en-US" sz="1800" b="1" dirty="0">
                <a:solidFill>
                  <a:srgbClr val="0F172A"/>
                </a:solidFill>
              </a:rPr>
              <a:t>Hand over</a:t>
            </a:r>
            <a:endParaRPr lang="en-US" sz="1800" dirty="0"/>
          </a:p>
        </p:txBody>
      </p:sp>
      <p:sp>
        <p:nvSpPr>
          <p:cNvPr id="20" name="Text 14"/>
          <p:cNvSpPr txBox="1"/>
          <p:nvPr/>
        </p:nvSpPr>
        <p:spPr>
          <a:xfrm>
            <a:off x="6212434" y="3657600"/>
            <a:ext cx="1609344" cy="1737360"/>
          </a:xfrm>
          <a:prstGeom prst="rect">
            <a:avLst/>
          </a:prstGeom>
          <a:noFill/>
          <a:ln/>
        </p:spPr>
        <p:txBody>
          <a:bodyPr wrap="square" lIns="0" tIns="0" rIns="0" bIns="0" rtlCol="0" anchor="t"/>
          <a:lstStyle/>
          <a:p>
            <a:pPr algn="ctr" indent="0" marL="0">
              <a:buNone/>
            </a:pPr>
            <a:r>
              <a:rPr lang="en-US" sz="1300" dirty="0">
                <a:solidFill>
                  <a:srgbClr val="475569"/>
                </a:solidFill>
              </a:rPr>
              <a:t>Submit the task for review. The reviewer approves or asks for changes.</a:t>
            </a:r>
            <a:endParaRPr lang="en-US" sz="1300" dirty="0"/>
          </a:p>
        </p:txBody>
      </p:sp>
      <p:sp>
        <p:nvSpPr>
          <p:cNvPr id="21" name="icon-bg-MdLogout"/>
          <p:cNvSpPr/>
          <p:nvPr/>
        </p:nvSpPr>
        <p:spPr>
          <a:xfrm>
            <a:off x="8432597" y="2103120"/>
            <a:ext cx="914400" cy="914400"/>
          </a:xfrm>
          <a:prstGeom prst="ellipse">
            <a:avLst/>
          </a:prstGeom>
          <a:solidFill>
            <a:srgbClr val="C8102E"/>
          </a:solidFill>
          <a:ln w="12700">
            <a:solidFill>
              <a:srgbClr val="C8102E"/>
            </a:solidFill>
            <a:prstDash val="solid"/>
          </a:ln>
        </p:spPr>
      </p:sp>
      <p:pic>
        <p:nvPicPr>
          <p:cNvPr id="22" name="icon-MdLogout" descr="preencoded.png">    </p:cNvPr>
          <p:cNvPicPr>
            <a:picLocks noChangeAspect="1"/>
          </p:cNvPicPr>
          <p:nvPr/>
        </p:nvPicPr>
        <p:blipFill>
          <a:blip r:embed="rId5"/>
          <a:stretch>
            <a:fillRect/>
          </a:stretch>
        </p:blipFill>
        <p:spPr>
          <a:xfrm>
            <a:off x="8652053" y="2322576"/>
            <a:ext cx="475488" cy="475488"/>
          </a:xfrm>
          <a:prstGeom prst="rect">
            <a:avLst/>
          </a:prstGeom>
        </p:spPr>
      </p:pic>
      <p:sp>
        <p:nvSpPr>
          <p:cNvPr id="23" name="Text 16"/>
          <p:cNvSpPr txBox="1"/>
          <p:nvPr/>
        </p:nvSpPr>
        <p:spPr>
          <a:xfrm>
            <a:off x="8039405" y="3200400"/>
            <a:ext cx="1700784" cy="411480"/>
          </a:xfrm>
          <a:prstGeom prst="rect">
            <a:avLst/>
          </a:prstGeom>
          <a:noFill/>
          <a:ln/>
        </p:spPr>
        <p:txBody>
          <a:bodyPr wrap="square" lIns="0" tIns="0" rIns="0" bIns="0" rtlCol="0" anchor="ctr"/>
          <a:lstStyle/>
          <a:p>
            <a:pPr algn="ctr" indent="0" marL="0">
              <a:buNone/>
            </a:pPr>
            <a:r>
              <a:rPr lang="en-US" sz="1800" b="1" dirty="0">
                <a:solidFill>
                  <a:srgbClr val="0F172A"/>
                </a:solidFill>
              </a:rPr>
              <a:t>Leave</a:t>
            </a:r>
            <a:endParaRPr lang="en-US" sz="1800" dirty="0"/>
          </a:p>
        </p:txBody>
      </p:sp>
      <p:sp>
        <p:nvSpPr>
          <p:cNvPr id="24" name="Text 17"/>
          <p:cNvSpPr txBox="1"/>
          <p:nvPr/>
        </p:nvSpPr>
        <p:spPr>
          <a:xfrm>
            <a:off x="8085125" y="3657600"/>
            <a:ext cx="1609344" cy="1737360"/>
          </a:xfrm>
          <a:prstGeom prst="rect">
            <a:avLst/>
          </a:prstGeom>
          <a:noFill/>
          <a:ln/>
        </p:spPr>
        <p:txBody>
          <a:bodyPr wrap="square" lIns="0" tIns="0" rIns="0" bIns="0" rtlCol="0" anchor="t"/>
          <a:lstStyle/>
          <a:p>
            <a:pPr algn="ctr" indent="0" marL="0">
              <a:buNone/>
            </a:pPr>
            <a:r>
              <a:rPr lang="en-US" sz="1300" dirty="0">
                <a:solidFill>
                  <a:srgbClr val="475569"/>
                </a:solidFill>
              </a:rPr>
              <a:t>Stop the timer and check out. Forgotten timers stop at 7 PM.</a:t>
            </a:r>
            <a:endParaRPr lang="en-US" sz="1300" dirty="0"/>
          </a:p>
        </p:txBody>
      </p:sp>
      <p:sp>
        <p:nvSpPr>
          <p:cNvPr id="25" name="icon-bg-MdTaskAlt"/>
          <p:cNvSpPr/>
          <p:nvPr/>
        </p:nvSpPr>
        <p:spPr>
          <a:xfrm>
            <a:off x="10305288" y="2103120"/>
            <a:ext cx="914400" cy="914400"/>
          </a:xfrm>
          <a:prstGeom prst="ellipse">
            <a:avLst/>
          </a:prstGeom>
          <a:solidFill>
            <a:srgbClr val="0284C7"/>
          </a:solidFill>
          <a:ln w="12700">
            <a:solidFill>
              <a:srgbClr val="0284C7"/>
            </a:solidFill>
            <a:prstDash val="solid"/>
          </a:ln>
        </p:spPr>
      </p:sp>
      <p:pic>
        <p:nvPicPr>
          <p:cNvPr id="26" name="icon-MdTaskAlt" descr="preencoded.png">    </p:cNvPr>
          <p:cNvPicPr>
            <a:picLocks noChangeAspect="1"/>
          </p:cNvPicPr>
          <p:nvPr/>
        </p:nvPicPr>
        <p:blipFill>
          <a:blip r:embed="rId6"/>
          <a:stretch>
            <a:fillRect/>
          </a:stretch>
        </p:blipFill>
        <p:spPr>
          <a:xfrm>
            <a:off x="10524744" y="2322576"/>
            <a:ext cx="475488" cy="475488"/>
          </a:xfrm>
          <a:prstGeom prst="rect">
            <a:avLst/>
          </a:prstGeom>
        </p:spPr>
      </p:pic>
      <p:sp>
        <p:nvSpPr>
          <p:cNvPr id="27" name="Text 19"/>
          <p:cNvSpPr txBox="1"/>
          <p:nvPr/>
        </p:nvSpPr>
        <p:spPr>
          <a:xfrm>
            <a:off x="9912096" y="3200400"/>
            <a:ext cx="1700784" cy="411480"/>
          </a:xfrm>
          <a:prstGeom prst="rect">
            <a:avLst/>
          </a:prstGeom>
          <a:noFill/>
          <a:ln/>
        </p:spPr>
        <p:txBody>
          <a:bodyPr wrap="square" lIns="0" tIns="0" rIns="0" bIns="0" rtlCol="0" anchor="ctr"/>
          <a:lstStyle/>
          <a:p>
            <a:pPr algn="ctr" indent="0" marL="0">
              <a:buNone/>
            </a:pPr>
            <a:r>
              <a:rPr lang="en-US" sz="1800" b="1" dirty="0">
                <a:solidFill>
                  <a:srgbClr val="0F172A"/>
                </a:solidFill>
              </a:rPr>
              <a:t>End of week</a:t>
            </a:r>
            <a:endParaRPr lang="en-US" sz="1800" dirty="0"/>
          </a:p>
        </p:txBody>
      </p:sp>
      <p:sp>
        <p:nvSpPr>
          <p:cNvPr id="28" name="Text 20"/>
          <p:cNvSpPr txBox="1"/>
          <p:nvPr/>
        </p:nvSpPr>
        <p:spPr>
          <a:xfrm>
            <a:off x="9957816" y="3657600"/>
            <a:ext cx="1609344" cy="1737360"/>
          </a:xfrm>
          <a:prstGeom prst="rect">
            <a:avLst/>
          </a:prstGeom>
          <a:noFill/>
          <a:ln/>
        </p:spPr>
        <p:txBody>
          <a:bodyPr wrap="square" lIns="0" tIns="0" rIns="0" bIns="0" rtlCol="0" anchor="t"/>
          <a:lstStyle/>
          <a:p>
            <a:pPr algn="ctr" indent="0" marL="0">
              <a:buNone/>
            </a:pPr>
            <a:r>
              <a:rPr lang="en-US" sz="1300" dirty="0">
                <a:solidFill>
                  <a:srgbClr val="475569"/>
                </a:solidFill>
              </a:rPr>
              <a:t>Timesheets › Submit week. Your manager approves it.</a:t>
            </a:r>
            <a:endParaRPr lang="en-US" sz="1300" dirty="0"/>
          </a:p>
        </p:txBody>
      </p:sp>
      <p:sp>
        <p:nvSpPr>
          <p:cNvPr id="29" name="tip"/>
          <p:cNvSpPr/>
          <p:nvPr/>
        </p:nvSpPr>
        <p:spPr>
          <a:xfrm>
            <a:off x="548640" y="5486400"/>
            <a:ext cx="11064240" cy="640080"/>
          </a:xfrm>
          <a:prstGeom prst="roundRect">
            <a:avLst>
              <a:gd name="adj" fmla="val 14286"/>
            </a:avLst>
          </a:prstGeom>
          <a:solidFill>
            <a:srgbClr val="EEF2FF"/>
          </a:solidFill>
          <a:ln w="12700">
            <a:solidFill>
              <a:srgbClr val="EEF2FF"/>
            </a:solidFill>
            <a:prstDash val="solid"/>
          </a:ln>
        </p:spPr>
      </p:sp>
      <p:sp>
        <p:nvSpPr>
          <p:cNvPr id="30" name="Text 22"/>
          <p:cNvSpPr txBox="1"/>
          <p:nvPr/>
        </p:nvSpPr>
        <p:spPr>
          <a:xfrm>
            <a:off x="777240" y="5486400"/>
            <a:ext cx="10607040" cy="640080"/>
          </a:xfrm>
          <a:prstGeom prst="rect">
            <a:avLst/>
          </a:prstGeom>
          <a:noFill/>
          <a:ln/>
        </p:spPr>
        <p:txBody>
          <a:bodyPr wrap="square" lIns="0" tIns="0" rIns="0" bIns="0" rtlCol="0" anchor="ctr"/>
          <a:lstStyle/>
          <a:p>
            <a:pPr indent="0" marL="0">
              <a:buNone/>
            </a:pPr>
            <a:r>
              <a:rPr lang="en-US" sz="1400" b="1" dirty="0">
                <a:solidFill>
                  <a:srgbClr val="1E40AF"/>
                </a:solidFill>
              </a:rPr>
              <a:t>Tip  </a:t>
            </a:r>
            <a:pPr indent="0" marL="0">
              <a:buNone/>
            </a:pPr>
            <a:r>
              <a:rPr lang="en-US" sz="1400" dirty="0">
                <a:solidFill>
                  <a:srgbClr val="334155"/>
                </a:solidFill>
              </a:rPr>
              <a:t>Forgot to start the timer? Use Timesheets › Add time to log it by hand, before you submit the week.</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200" b="1" dirty="0">
                <a:solidFill>
                  <a:schemeClr val="tx2"/>
                </a:solidFill>
              </a:rPr>
              <a:t>Dashboard: your day on one page</a:t>
            </a:r>
            <a:endParaRPr lang="en-US" sz="32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rgbClr val="64748B"/>
                </a:solidFill>
              </a:rPr>
              <a:t>Opens after sign-in. Everything a staff member needs most is here.</a:t>
            </a:r>
            <a:endParaRPr lang="en-US" sz="1500" dirty="0"/>
          </a:p>
        </p:txBody>
      </p:sp>
      <p:sp>
        <p:nvSpPr>
          <p:cNvPr id="4" name="frame-emp-dashboard"/>
          <p:cNvSpPr/>
          <p:nvPr/>
        </p:nvSpPr>
        <p:spPr>
          <a:xfrm>
            <a:off x="493776" y="1499616"/>
            <a:ext cx="7516368" cy="4738878"/>
          </a:xfrm>
          <a:prstGeom prst="roundRect">
            <a:avLst>
              <a:gd name="adj" fmla="val 1544"/>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5" name="shot-emp-dashboard" descr="Staff dashboard">    </p:cNvPr>
          <p:cNvPicPr>
            <a:picLocks noChangeAspect="1"/>
          </p:cNvPicPr>
          <p:nvPr/>
        </p:nvPicPr>
        <p:blipFill>
          <a:blip r:embed="rId1"/>
          <a:stretch>
            <a:fillRect/>
          </a:stretch>
        </p:blipFill>
        <p:spPr>
          <a:xfrm>
            <a:off x="548640" y="1554480"/>
            <a:ext cx="7406640" cy="4629150"/>
          </a:xfrm>
          <a:prstGeom prst="rect">
            <a:avLst/>
          </a:prstGeom>
        </p:spPr>
      </p:pic>
      <p:sp>
        <p:nvSpPr>
          <p:cNvPr id="6" name="num-1"/>
          <p:cNvSpPr/>
          <p:nvPr/>
        </p:nvSpPr>
        <p:spPr>
          <a:xfrm>
            <a:off x="8366760" y="1645920"/>
            <a:ext cx="384048" cy="384048"/>
          </a:xfrm>
          <a:prstGeom prst="ellipse">
            <a:avLst/>
          </a:prstGeom>
          <a:solidFill>
            <a:srgbClr val="C8102E"/>
          </a:solidFill>
          <a:ln w="12700">
            <a:solidFill>
              <a:srgbClr val="C8102E"/>
            </a:solidFill>
            <a:prstDash val="solid"/>
          </a:ln>
        </p:spPr>
      </p:sp>
      <p:sp>
        <p:nvSpPr>
          <p:cNvPr id="7" name="Text 4"/>
          <p:cNvSpPr txBox="1"/>
          <p:nvPr/>
        </p:nvSpPr>
        <p:spPr>
          <a:xfrm>
            <a:off x="836676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5"/>
          <p:cNvSpPr txBox="1"/>
          <p:nvPr/>
        </p:nvSpPr>
        <p:spPr>
          <a:xfrm>
            <a:off x="8897112" y="1609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Check in / out</a:t>
            </a:r>
            <a:endParaRPr lang="en-US" sz="1500" dirty="0"/>
          </a:p>
          <a:p>
            <a:pPr indent="0" marL="0">
              <a:spcAft>
                <a:spcPts val="200"/>
              </a:spcAft>
              <a:buNone/>
            </a:pPr>
            <a:r>
              <a:rPr lang="en-US" sz="1300" dirty="0">
                <a:solidFill>
                  <a:srgbClr val="475569"/>
                </a:solidFill>
              </a:rPr>
              <a:t>Pick Office, Home or Client site. Hours worked today fill the ring.</a:t>
            </a:r>
            <a:endParaRPr lang="en-US" sz="1500" dirty="0"/>
          </a:p>
        </p:txBody>
      </p:sp>
      <p:sp>
        <p:nvSpPr>
          <p:cNvPr id="9" name="num-2"/>
          <p:cNvSpPr/>
          <p:nvPr/>
        </p:nvSpPr>
        <p:spPr>
          <a:xfrm>
            <a:off x="8366760" y="2788920"/>
            <a:ext cx="384048" cy="384048"/>
          </a:xfrm>
          <a:prstGeom prst="ellipse">
            <a:avLst/>
          </a:prstGeom>
          <a:solidFill>
            <a:srgbClr val="C8102E"/>
          </a:solidFill>
          <a:ln w="12700">
            <a:solidFill>
              <a:srgbClr val="C8102E"/>
            </a:solidFill>
            <a:prstDash val="solid"/>
          </a:ln>
        </p:spPr>
      </p:sp>
      <p:sp>
        <p:nvSpPr>
          <p:cNvPr id="10" name="Text 7"/>
          <p:cNvSpPr txBox="1"/>
          <p:nvPr/>
        </p:nvSpPr>
        <p:spPr>
          <a:xfrm>
            <a:off x="8366760" y="2788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8897112" y="2752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Five quick tiles</a:t>
            </a:r>
            <a:endParaRPr lang="en-US" sz="1500" dirty="0"/>
          </a:p>
          <a:p>
            <a:pPr indent="0" marL="0">
              <a:spcAft>
                <a:spcPts val="200"/>
              </a:spcAft>
              <a:buNone/>
            </a:pPr>
            <a:r>
              <a:rPr lang="en-US" sz="1300" dirty="0">
                <a:solidFill>
                  <a:srgbClr val="475569"/>
                </a:solidFill>
              </a:rPr>
              <a:t>My day, audit hours, open audits, leave balance and this month’s attendance.</a:t>
            </a:r>
            <a:endParaRPr lang="en-US" sz="1500" dirty="0"/>
          </a:p>
        </p:txBody>
      </p:sp>
      <p:sp>
        <p:nvSpPr>
          <p:cNvPr id="12" name="num-3"/>
          <p:cNvSpPr/>
          <p:nvPr/>
        </p:nvSpPr>
        <p:spPr>
          <a:xfrm>
            <a:off x="8366760" y="3931920"/>
            <a:ext cx="384048" cy="384048"/>
          </a:xfrm>
          <a:prstGeom prst="ellipse">
            <a:avLst/>
          </a:prstGeom>
          <a:solidFill>
            <a:srgbClr val="C8102E"/>
          </a:solidFill>
          <a:ln w="12700">
            <a:solidFill>
              <a:srgbClr val="C8102E"/>
            </a:solidFill>
            <a:prstDash val="solid"/>
          </a:ln>
        </p:spPr>
      </p:sp>
      <p:sp>
        <p:nvSpPr>
          <p:cNvPr id="13" name="Text 10"/>
          <p:cNvSpPr txBox="1"/>
          <p:nvPr/>
        </p:nvSpPr>
        <p:spPr>
          <a:xfrm>
            <a:off x="8366760" y="3931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1"/>
          <p:cNvSpPr txBox="1"/>
          <p:nvPr/>
        </p:nvSpPr>
        <p:spPr>
          <a:xfrm>
            <a:off x="8897112" y="3895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My audits</a:t>
            </a:r>
            <a:endParaRPr lang="en-US" sz="1500" dirty="0"/>
          </a:p>
          <a:p>
            <a:pPr indent="0" marL="0">
              <a:spcAft>
                <a:spcPts val="200"/>
              </a:spcAft>
              <a:buNone/>
            </a:pPr>
            <a:r>
              <a:rPr lang="en-US" sz="1300" dirty="0">
                <a:solidFill>
                  <a:srgbClr val="475569"/>
                </a:solidFill>
              </a:rPr>
              <a:t>Your open audits with a Start button to begin the timer.</a:t>
            </a:r>
            <a:endParaRPr lang="en-US" sz="1500" dirty="0"/>
          </a:p>
        </p:txBody>
      </p:sp>
      <p:sp>
        <p:nvSpPr>
          <p:cNvPr id="15" name="num-4"/>
          <p:cNvSpPr/>
          <p:nvPr/>
        </p:nvSpPr>
        <p:spPr>
          <a:xfrm>
            <a:off x="8366760" y="5074920"/>
            <a:ext cx="384048" cy="384048"/>
          </a:xfrm>
          <a:prstGeom prst="ellipse">
            <a:avLst/>
          </a:prstGeom>
          <a:solidFill>
            <a:srgbClr val="C8102E"/>
          </a:solidFill>
          <a:ln w="12700">
            <a:solidFill>
              <a:srgbClr val="C8102E"/>
            </a:solidFill>
            <a:prstDash val="solid"/>
          </a:ln>
        </p:spPr>
      </p:sp>
      <p:sp>
        <p:nvSpPr>
          <p:cNvPr id="16" name="Text 13"/>
          <p:cNvSpPr txBox="1"/>
          <p:nvPr/>
        </p:nvSpPr>
        <p:spPr>
          <a:xfrm>
            <a:off x="8366760" y="5074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Text 14"/>
          <p:cNvSpPr txBox="1"/>
          <p:nvPr/>
        </p:nvSpPr>
        <p:spPr>
          <a:xfrm>
            <a:off x="8897112" y="5038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Month calendar</a:t>
            </a:r>
            <a:endParaRPr lang="en-US" sz="1500" dirty="0"/>
          </a:p>
          <a:p>
            <a:pPr indent="0" marL="0">
              <a:spcAft>
                <a:spcPts val="200"/>
              </a:spcAft>
              <a:buNone/>
            </a:pPr>
            <a:r>
              <a:rPr lang="en-US" sz="1300" dirty="0">
                <a:solidFill>
                  <a:srgbClr val="475569"/>
                </a:solidFill>
              </a:rPr>
              <a:t>Each day shows hours worked or Late, Leave, Missed.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200" b="1" dirty="0">
                <a:solidFill>
                  <a:schemeClr val="tx2"/>
                </a:solidFill>
              </a:rPr>
              <a:t>My Work: your task list across all audits</a:t>
            </a:r>
            <a:endParaRPr lang="en-US" sz="32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rgbClr val="64748B"/>
                </a:solidFill>
              </a:rPr>
              <a:t>Audits › My Work</a:t>
            </a:r>
            <a:endParaRPr lang="en-US" sz="1500" dirty="0"/>
          </a:p>
        </p:txBody>
      </p:sp>
      <p:sp>
        <p:nvSpPr>
          <p:cNvPr id="4" name="frame-emp-mywork"/>
          <p:cNvSpPr/>
          <p:nvPr/>
        </p:nvSpPr>
        <p:spPr>
          <a:xfrm>
            <a:off x="493776" y="1499616"/>
            <a:ext cx="7516368" cy="4738878"/>
          </a:xfrm>
          <a:prstGeom prst="roundRect">
            <a:avLst>
              <a:gd name="adj" fmla="val 1544"/>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5" name="shot-emp-mywork" descr="My Work screen">    </p:cNvPr>
          <p:cNvPicPr>
            <a:picLocks noChangeAspect="1"/>
          </p:cNvPicPr>
          <p:nvPr/>
        </p:nvPicPr>
        <p:blipFill>
          <a:blip r:embed="rId1"/>
          <a:stretch>
            <a:fillRect/>
          </a:stretch>
        </p:blipFill>
        <p:spPr>
          <a:xfrm>
            <a:off x="548640" y="1554480"/>
            <a:ext cx="7406640" cy="4629150"/>
          </a:xfrm>
          <a:prstGeom prst="rect">
            <a:avLst/>
          </a:prstGeom>
        </p:spPr>
      </p:pic>
      <p:sp>
        <p:nvSpPr>
          <p:cNvPr id="6" name="num-1"/>
          <p:cNvSpPr/>
          <p:nvPr/>
        </p:nvSpPr>
        <p:spPr>
          <a:xfrm>
            <a:off x="8366760" y="1645920"/>
            <a:ext cx="384048" cy="384048"/>
          </a:xfrm>
          <a:prstGeom prst="ellipse">
            <a:avLst/>
          </a:prstGeom>
          <a:solidFill>
            <a:srgbClr val="C8102E"/>
          </a:solidFill>
          <a:ln w="12700">
            <a:solidFill>
              <a:srgbClr val="C8102E"/>
            </a:solidFill>
            <a:prstDash val="solid"/>
          </a:ln>
        </p:spPr>
      </p:sp>
      <p:sp>
        <p:nvSpPr>
          <p:cNvPr id="7" name="Text 4"/>
          <p:cNvSpPr txBox="1"/>
          <p:nvPr/>
        </p:nvSpPr>
        <p:spPr>
          <a:xfrm>
            <a:off x="836676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5"/>
          <p:cNvSpPr txBox="1"/>
          <p:nvPr/>
        </p:nvSpPr>
        <p:spPr>
          <a:xfrm>
            <a:off x="8897112" y="1609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Counters at the top</a:t>
            </a:r>
            <a:endParaRPr lang="en-US" sz="1500" dirty="0"/>
          </a:p>
          <a:p>
            <a:pPr indent="0" marL="0">
              <a:spcAft>
                <a:spcPts val="200"/>
              </a:spcAft>
              <a:buNone/>
            </a:pPr>
            <a:r>
              <a:rPr lang="en-US" sz="1300" dirty="0">
                <a:solidFill>
                  <a:srgbClr val="475569"/>
                </a:solidFill>
              </a:rPr>
              <a:t>Open, due today, overdue, changes requested, to review, time logged.</a:t>
            </a:r>
            <a:endParaRPr lang="en-US" sz="1500" dirty="0"/>
          </a:p>
        </p:txBody>
      </p:sp>
      <p:sp>
        <p:nvSpPr>
          <p:cNvPr id="9" name="num-2"/>
          <p:cNvSpPr/>
          <p:nvPr/>
        </p:nvSpPr>
        <p:spPr>
          <a:xfrm>
            <a:off x="8366760" y="2788920"/>
            <a:ext cx="384048" cy="384048"/>
          </a:xfrm>
          <a:prstGeom prst="ellipse">
            <a:avLst/>
          </a:prstGeom>
          <a:solidFill>
            <a:srgbClr val="C8102E"/>
          </a:solidFill>
          <a:ln w="12700">
            <a:solidFill>
              <a:srgbClr val="C8102E"/>
            </a:solidFill>
            <a:prstDash val="solid"/>
          </a:ln>
        </p:spPr>
      </p:sp>
      <p:sp>
        <p:nvSpPr>
          <p:cNvPr id="10" name="Text 7"/>
          <p:cNvSpPr txBox="1"/>
          <p:nvPr/>
        </p:nvSpPr>
        <p:spPr>
          <a:xfrm>
            <a:off x="8366760" y="2788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8897112" y="2752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My tasks / Waiting for my review</a:t>
            </a:r>
            <a:endParaRPr lang="en-US" sz="1500" dirty="0"/>
          </a:p>
          <a:p>
            <a:pPr indent="0" marL="0">
              <a:spcAft>
                <a:spcPts val="200"/>
              </a:spcAft>
              <a:buNone/>
            </a:pPr>
            <a:r>
              <a:rPr lang="en-US" sz="1300" dirty="0">
                <a:solidFill>
                  <a:srgbClr val="475569"/>
                </a:solidFill>
              </a:rPr>
              <a:t>Switch between work you own and work you review.</a:t>
            </a:r>
            <a:endParaRPr lang="en-US" sz="1500" dirty="0"/>
          </a:p>
        </p:txBody>
      </p:sp>
      <p:sp>
        <p:nvSpPr>
          <p:cNvPr id="12" name="num-3"/>
          <p:cNvSpPr/>
          <p:nvPr/>
        </p:nvSpPr>
        <p:spPr>
          <a:xfrm>
            <a:off x="8366760" y="3931920"/>
            <a:ext cx="384048" cy="384048"/>
          </a:xfrm>
          <a:prstGeom prst="ellipse">
            <a:avLst/>
          </a:prstGeom>
          <a:solidFill>
            <a:srgbClr val="C8102E"/>
          </a:solidFill>
          <a:ln w="12700">
            <a:solidFill>
              <a:srgbClr val="C8102E"/>
            </a:solidFill>
            <a:prstDash val="solid"/>
          </a:ln>
        </p:spPr>
      </p:sp>
      <p:sp>
        <p:nvSpPr>
          <p:cNvPr id="13" name="Text 10"/>
          <p:cNvSpPr txBox="1"/>
          <p:nvPr/>
        </p:nvSpPr>
        <p:spPr>
          <a:xfrm>
            <a:off x="8366760" y="3931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1"/>
          <p:cNvSpPr txBox="1"/>
          <p:nvPr/>
        </p:nvSpPr>
        <p:spPr>
          <a:xfrm>
            <a:off x="8897112" y="3895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Start</a:t>
            </a:r>
            <a:endParaRPr lang="en-US" sz="1500" dirty="0"/>
          </a:p>
          <a:p>
            <a:pPr indent="0" marL="0">
              <a:spcAft>
                <a:spcPts val="200"/>
              </a:spcAft>
              <a:buNone/>
            </a:pPr>
            <a:r>
              <a:rPr lang="en-US" sz="1300" dirty="0">
                <a:solidFill>
                  <a:srgbClr val="475569"/>
                </a:solidFill>
              </a:rPr>
              <a:t>Starts the timer on that task. The task page opens with the details.</a:t>
            </a:r>
            <a:endParaRPr lang="en-US" sz="1500" dirty="0"/>
          </a:p>
        </p:txBody>
      </p:sp>
      <p:sp>
        <p:nvSpPr>
          <p:cNvPr id="15" name="num-4"/>
          <p:cNvSpPr/>
          <p:nvPr/>
        </p:nvSpPr>
        <p:spPr>
          <a:xfrm>
            <a:off x="8366760" y="5074920"/>
            <a:ext cx="384048" cy="384048"/>
          </a:xfrm>
          <a:prstGeom prst="ellipse">
            <a:avLst/>
          </a:prstGeom>
          <a:solidFill>
            <a:srgbClr val="C8102E"/>
          </a:solidFill>
          <a:ln w="12700">
            <a:solidFill>
              <a:srgbClr val="C8102E"/>
            </a:solidFill>
            <a:prstDash val="solid"/>
          </a:ln>
        </p:spPr>
      </p:sp>
      <p:sp>
        <p:nvSpPr>
          <p:cNvPr id="16" name="Text 13"/>
          <p:cNvSpPr txBox="1"/>
          <p:nvPr/>
        </p:nvSpPr>
        <p:spPr>
          <a:xfrm>
            <a:off x="8366760" y="5074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Text 14"/>
          <p:cNvSpPr txBox="1"/>
          <p:nvPr/>
        </p:nvSpPr>
        <p:spPr>
          <a:xfrm>
            <a:off x="8897112" y="5038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Filters</a:t>
            </a:r>
            <a:endParaRPr lang="en-US" sz="1500" dirty="0"/>
          </a:p>
          <a:p>
            <a:pPr indent="0" marL="0">
              <a:spcAft>
                <a:spcPts val="200"/>
              </a:spcAft>
              <a:buNone/>
            </a:pPr>
            <a:r>
              <a:rPr lang="en-US" sz="1300" dirty="0">
                <a:solidFill>
                  <a:srgbClr val="475569"/>
                </a:solidFill>
              </a:rPr>
              <a:t>Company, project, status, priority and due date.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200" b="1" dirty="0">
                <a:solidFill>
                  <a:schemeClr val="tx2"/>
                </a:solidFill>
              </a:rPr>
              <a:t>Timesheets: check and submit your week</a:t>
            </a:r>
            <a:endParaRPr lang="en-US" sz="32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rgbClr val="64748B"/>
                </a:solidFill>
              </a:rPr>
              <a:t>Audits › Timesheets</a:t>
            </a:r>
            <a:endParaRPr lang="en-US" sz="1500" dirty="0"/>
          </a:p>
        </p:txBody>
      </p:sp>
      <p:sp>
        <p:nvSpPr>
          <p:cNvPr id="4" name="frame-emp-timesheets"/>
          <p:cNvSpPr/>
          <p:nvPr/>
        </p:nvSpPr>
        <p:spPr>
          <a:xfrm>
            <a:off x="493776" y="1499616"/>
            <a:ext cx="7516368" cy="4738878"/>
          </a:xfrm>
          <a:prstGeom prst="roundRect">
            <a:avLst>
              <a:gd name="adj" fmla="val 1544"/>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5" name="shot-emp-timesheets" descr="Timesheets screen">    </p:cNvPr>
          <p:cNvPicPr>
            <a:picLocks noChangeAspect="1"/>
          </p:cNvPicPr>
          <p:nvPr/>
        </p:nvPicPr>
        <p:blipFill>
          <a:blip r:embed="rId1"/>
          <a:stretch>
            <a:fillRect/>
          </a:stretch>
        </p:blipFill>
        <p:spPr>
          <a:xfrm>
            <a:off x="548640" y="1554480"/>
            <a:ext cx="7406640" cy="4629150"/>
          </a:xfrm>
          <a:prstGeom prst="rect">
            <a:avLst/>
          </a:prstGeom>
        </p:spPr>
      </p:pic>
      <p:sp>
        <p:nvSpPr>
          <p:cNvPr id="6" name="num-1"/>
          <p:cNvSpPr/>
          <p:nvPr/>
        </p:nvSpPr>
        <p:spPr>
          <a:xfrm>
            <a:off x="8366760" y="1645920"/>
            <a:ext cx="384048" cy="384048"/>
          </a:xfrm>
          <a:prstGeom prst="ellipse">
            <a:avLst/>
          </a:prstGeom>
          <a:solidFill>
            <a:srgbClr val="C8102E"/>
          </a:solidFill>
          <a:ln w="12700">
            <a:solidFill>
              <a:srgbClr val="C8102E"/>
            </a:solidFill>
            <a:prstDash val="solid"/>
          </a:ln>
        </p:spPr>
      </p:sp>
      <p:sp>
        <p:nvSpPr>
          <p:cNvPr id="7" name="Text 4"/>
          <p:cNvSpPr txBox="1"/>
          <p:nvPr/>
        </p:nvSpPr>
        <p:spPr>
          <a:xfrm>
            <a:off x="836676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5"/>
          <p:cNvSpPr txBox="1"/>
          <p:nvPr/>
        </p:nvSpPr>
        <p:spPr>
          <a:xfrm>
            <a:off x="8897112" y="1609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Day strip</a:t>
            </a:r>
            <a:endParaRPr lang="en-US" sz="1500" dirty="0"/>
          </a:p>
          <a:p>
            <a:pPr indent="0" marL="0">
              <a:spcAft>
                <a:spcPts val="200"/>
              </a:spcAft>
              <a:buNone/>
            </a:pPr>
            <a:r>
              <a:rPr lang="en-US" sz="1300" dirty="0">
                <a:solidFill>
                  <a:srgbClr val="475569"/>
                </a:solidFill>
              </a:rPr>
              <a:t>Audit time per day, with attendance hours underneath to compare.</a:t>
            </a:r>
            <a:endParaRPr lang="en-US" sz="1500" dirty="0"/>
          </a:p>
        </p:txBody>
      </p:sp>
      <p:sp>
        <p:nvSpPr>
          <p:cNvPr id="9" name="num-2"/>
          <p:cNvSpPr/>
          <p:nvPr/>
        </p:nvSpPr>
        <p:spPr>
          <a:xfrm>
            <a:off x="8366760" y="2788920"/>
            <a:ext cx="384048" cy="384048"/>
          </a:xfrm>
          <a:prstGeom prst="ellipse">
            <a:avLst/>
          </a:prstGeom>
          <a:solidFill>
            <a:srgbClr val="C8102E"/>
          </a:solidFill>
          <a:ln w="12700">
            <a:solidFill>
              <a:srgbClr val="C8102E"/>
            </a:solidFill>
            <a:prstDash val="solid"/>
          </a:ln>
        </p:spPr>
      </p:sp>
      <p:sp>
        <p:nvSpPr>
          <p:cNvPr id="10" name="Text 7"/>
          <p:cNvSpPr txBox="1"/>
          <p:nvPr/>
        </p:nvSpPr>
        <p:spPr>
          <a:xfrm>
            <a:off x="8366760" y="2788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8897112" y="2752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Entries</a:t>
            </a:r>
            <a:endParaRPr lang="en-US" sz="1500" dirty="0"/>
          </a:p>
          <a:p>
            <a:pPr indent="0" marL="0">
              <a:spcAft>
                <a:spcPts val="200"/>
              </a:spcAft>
              <a:buNone/>
            </a:pPr>
            <a:r>
              <a:rPr lang="en-US" sz="1300" dirty="0">
                <a:solidFill>
                  <a:srgbClr val="475569"/>
                </a:solidFill>
              </a:rPr>
              <a:t>Every timer session or manual entry and its status.</a:t>
            </a:r>
            <a:endParaRPr lang="en-US" sz="1500" dirty="0"/>
          </a:p>
        </p:txBody>
      </p:sp>
      <p:sp>
        <p:nvSpPr>
          <p:cNvPr id="12" name="num-3"/>
          <p:cNvSpPr/>
          <p:nvPr/>
        </p:nvSpPr>
        <p:spPr>
          <a:xfrm>
            <a:off x="8366760" y="3931920"/>
            <a:ext cx="384048" cy="384048"/>
          </a:xfrm>
          <a:prstGeom prst="ellipse">
            <a:avLst/>
          </a:prstGeom>
          <a:solidFill>
            <a:srgbClr val="C8102E"/>
          </a:solidFill>
          <a:ln w="12700">
            <a:solidFill>
              <a:srgbClr val="C8102E"/>
            </a:solidFill>
            <a:prstDash val="solid"/>
          </a:ln>
        </p:spPr>
      </p:sp>
      <p:sp>
        <p:nvSpPr>
          <p:cNvPr id="13" name="Text 10"/>
          <p:cNvSpPr txBox="1"/>
          <p:nvPr/>
        </p:nvSpPr>
        <p:spPr>
          <a:xfrm>
            <a:off x="8366760" y="3931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1"/>
          <p:cNvSpPr txBox="1"/>
          <p:nvPr/>
        </p:nvSpPr>
        <p:spPr>
          <a:xfrm>
            <a:off x="8897112" y="3895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Add time · Submit week</a:t>
            </a:r>
            <a:endParaRPr lang="en-US" sz="1500" dirty="0"/>
          </a:p>
          <a:p>
            <a:pPr indent="0" marL="0">
              <a:spcAft>
                <a:spcPts val="200"/>
              </a:spcAft>
              <a:buNone/>
            </a:pPr>
            <a:r>
              <a:rPr lang="en-US" sz="1300" dirty="0">
                <a:solidFill>
                  <a:srgbClr val="475569"/>
                </a:solidFill>
              </a:rPr>
              <a:t>Log missed work, then submit. Submitted time is locked.</a:t>
            </a:r>
            <a:endParaRPr lang="en-US" sz="1500" dirty="0"/>
          </a:p>
        </p:txBody>
      </p:sp>
      <p:sp>
        <p:nvSpPr>
          <p:cNvPr id="15" name="num-4"/>
          <p:cNvSpPr/>
          <p:nvPr/>
        </p:nvSpPr>
        <p:spPr>
          <a:xfrm>
            <a:off x="8366760" y="5074920"/>
            <a:ext cx="384048" cy="384048"/>
          </a:xfrm>
          <a:prstGeom prst="ellipse">
            <a:avLst/>
          </a:prstGeom>
          <a:solidFill>
            <a:srgbClr val="C8102E"/>
          </a:solidFill>
          <a:ln w="12700">
            <a:solidFill>
              <a:srgbClr val="C8102E"/>
            </a:solidFill>
            <a:prstDash val="solid"/>
          </a:ln>
        </p:spPr>
      </p:sp>
      <p:sp>
        <p:nvSpPr>
          <p:cNvPr id="16" name="Text 13"/>
          <p:cNvSpPr txBox="1"/>
          <p:nvPr/>
        </p:nvSpPr>
        <p:spPr>
          <a:xfrm>
            <a:off x="8366760" y="5074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Text 14"/>
          <p:cNvSpPr txBox="1"/>
          <p:nvPr/>
        </p:nvSpPr>
        <p:spPr>
          <a:xfrm>
            <a:off x="8897112" y="5038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Corrections</a:t>
            </a:r>
            <a:endParaRPr lang="en-US" sz="1500" dirty="0"/>
          </a:p>
          <a:p>
            <a:pPr indent="0" marL="0">
              <a:spcAft>
                <a:spcPts val="200"/>
              </a:spcAft>
              <a:buNone/>
            </a:pPr>
            <a:r>
              <a:rPr lang="en-US" sz="1300" dirty="0">
                <a:solidFill>
                  <a:srgbClr val="475569"/>
                </a:solidFill>
              </a:rPr>
              <a:t>Ask for a change to time that is already approved.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200" b="1" dirty="0">
                <a:solidFill>
                  <a:schemeClr val="tx2"/>
                </a:solidFill>
              </a:rPr>
              <a:t>The audit (engagement) page</a:t>
            </a:r>
            <a:endParaRPr lang="en-US" sz="32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rgbClr val="64748B"/>
                </a:solidFill>
              </a:rPr>
              <a:t>Audits › Engagements › open an audit</a:t>
            </a:r>
            <a:endParaRPr lang="en-US" sz="1500" dirty="0"/>
          </a:p>
        </p:txBody>
      </p:sp>
      <p:sp>
        <p:nvSpPr>
          <p:cNvPr id="4" name="frame-emp-engagement"/>
          <p:cNvSpPr/>
          <p:nvPr/>
        </p:nvSpPr>
        <p:spPr>
          <a:xfrm>
            <a:off x="493776" y="1499616"/>
            <a:ext cx="7516368" cy="4738878"/>
          </a:xfrm>
          <a:prstGeom prst="roundRect">
            <a:avLst>
              <a:gd name="adj" fmla="val 1544"/>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5" name="shot-emp-engagement" descr="Engagement page">    </p:cNvPr>
          <p:cNvPicPr>
            <a:picLocks noChangeAspect="1"/>
          </p:cNvPicPr>
          <p:nvPr/>
        </p:nvPicPr>
        <p:blipFill>
          <a:blip r:embed="rId1"/>
          <a:stretch>
            <a:fillRect/>
          </a:stretch>
        </p:blipFill>
        <p:spPr>
          <a:xfrm>
            <a:off x="548640" y="1554480"/>
            <a:ext cx="7406640" cy="4629150"/>
          </a:xfrm>
          <a:prstGeom prst="rect">
            <a:avLst/>
          </a:prstGeom>
        </p:spPr>
      </p:pic>
      <p:sp>
        <p:nvSpPr>
          <p:cNvPr id="6" name="num-1"/>
          <p:cNvSpPr/>
          <p:nvPr/>
        </p:nvSpPr>
        <p:spPr>
          <a:xfrm>
            <a:off x="8366760" y="1645920"/>
            <a:ext cx="384048" cy="384048"/>
          </a:xfrm>
          <a:prstGeom prst="ellipse">
            <a:avLst/>
          </a:prstGeom>
          <a:solidFill>
            <a:srgbClr val="C8102E"/>
          </a:solidFill>
          <a:ln w="12700">
            <a:solidFill>
              <a:srgbClr val="C8102E"/>
            </a:solidFill>
            <a:prstDash val="solid"/>
          </a:ln>
        </p:spPr>
      </p:sp>
      <p:sp>
        <p:nvSpPr>
          <p:cNvPr id="7" name="Text 4"/>
          <p:cNvSpPr txBox="1"/>
          <p:nvPr/>
        </p:nvSpPr>
        <p:spPr>
          <a:xfrm>
            <a:off x="836676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5"/>
          <p:cNvSpPr txBox="1"/>
          <p:nvPr/>
        </p:nvSpPr>
        <p:spPr>
          <a:xfrm>
            <a:off x="8897112" y="1609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Header</a:t>
            </a:r>
            <a:endParaRPr lang="en-US" sz="1500" dirty="0"/>
          </a:p>
          <a:p>
            <a:pPr indent="0" marL="0">
              <a:spcAft>
                <a:spcPts val="200"/>
              </a:spcAft>
              <a:buNone/>
            </a:pPr>
            <a:r>
              <a:rPr lang="en-US" sz="1300" dirty="0">
                <a:solidFill>
                  <a:srgbClr val="475569"/>
                </a:solidFill>
              </a:rPr>
              <a:t>Client, audit type, stage, deadline and priority.</a:t>
            </a:r>
            <a:endParaRPr lang="en-US" sz="1500" dirty="0"/>
          </a:p>
        </p:txBody>
      </p:sp>
      <p:sp>
        <p:nvSpPr>
          <p:cNvPr id="9" name="num-2"/>
          <p:cNvSpPr/>
          <p:nvPr/>
        </p:nvSpPr>
        <p:spPr>
          <a:xfrm>
            <a:off x="8366760" y="2788920"/>
            <a:ext cx="384048" cy="384048"/>
          </a:xfrm>
          <a:prstGeom prst="ellipse">
            <a:avLst/>
          </a:prstGeom>
          <a:solidFill>
            <a:srgbClr val="C8102E"/>
          </a:solidFill>
          <a:ln w="12700">
            <a:solidFill>
              <a:srgbClr val="C8102E"/>
            </a:solidFill>
            <a:prstDash val="solid"/>
          </a:ln>
        </p:spPr>
      </p:sp>
      <p:sp>
        <p:nvSpPr>
          <p:cNvPr id="10" name="Text 7"/>
          <p:cNvSpPr txBox="1"/>
          <p:nvPr/>
        </p:nvSpPr>
        <p:spPr>
          <a:xfrm>
            <a:off x="8366760" y="2788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8897112" y="2752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My timer</a:t>
            </a:r>
            <a:endParaRPr lang="en-US" sz="1500" dirty="0"/>
          </a:p>
          <a:p>
            <a:pPr indent="0" marL="0">
              <a:spcAft>
                <a:spcPts val="200"/>
              </a:spcAft>
              <a:buNone/>
            </a:pPr>
            <a:r>
              <a:rPr lang="en-US" sz="1300" dirty="0">
                <a:solidFill>
                  <a:srgbClr val="475569"/>
                </a:solidFill>
              </a:rPr>
              <a:t>Pick the workflow step and press Start timer.</a:t>
            </a:r>
            <a:endParaRPr lang="en-US" sz="1500" dirty="0"/>
          </a:p>
        </p:txBody>
      </p:sp>
      <p:sp>
        <p:nvSpPr>
          <p:cNvPr id="12" name="num-3"/>
          <p:cNvSpPr/>
          <p:nvPr/>
        </p:nvSpPr>
        <p:spPr>
          <a:xfrm>
            <a:off x="8366760" y="3931920"/>
            <a:ext cx="384048" cy="384048"/>
          </a:xfrm>
          <a:prstGeom prst="ellipse">
            <a:avLst/>
          </a:prstGeom>
          <a:solidFill>
            <a:srgbClr val="C8102E"/>
          </a:solidFill>
          <a:ln w="12700">
            <a:solidFill>
              <a:srgbClr val="C8102E"/>
            </a:solidFill>
            <a:prstDash val="solid"/>
          </a:ln>
        </p:spPr>
      </p:sp>
      <p:sp>
        <p:nvSpPr>
          <p:cNvPr id="13" name="Text 10"/>
          <p:cNvSpPr txBox="1"/>
          <p:nvPr/>
        </p:nvSpPr>
        <p:spPr>
          <a:xfrm>
            <a:off x="8366760" y="3931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1"/>
          <p:cNvSpPr txBox="1"/>
          <p:nvPr/>
        </p:nvSpPr>
        <p:spPr>
          <a:xfrm>
            <a:off x="8897112" y="3895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Progress</a:t>
            </a:r>
            <a:endParaRPr lang="en-US" sz="1500" dirty="0"/>
          </a:p>
          <a:p>
            <a:pPr indent="0" marL="0">
              <a:spcAft>
                <a:spcPts val="200"/>
              </a:spcAft>
              <a:buNone/>
            </a:pPr>
            <a:r>
              <a:rPr lang="en-US" sz="1300" dirty="0">
                <a:solidFill>
                  <a:srgbClr val="475569"/>
                </a:solidFill>
              </a:rPr>
              <a:t>Hours against budget, tasks done, days to deadline.</a:t>
            </a:r>
            <a:endParaRPr lang="en-US" sz="1500" dirty="0"/>
          </a:p>
        </p:txBody>
      </p:sp>
      <p:sp>
        <p:nvSpPr>
          <p:cNvPr id="15" name="num-4"/>
          <p:cNvSpPr/>
          <p:nvPr/>
        </p:nvSpPr>
        <p:spPr>
          <a:xfrm>
            <a:off x="8366760" y="5074920"/>
            <a:ext cx="384048" cy="384048"/>
          </a:xfrm>
          <a:prstGeom prst="ellipse">
            <a:avLst/>
          </a:prstGeom>
          <a:solidFill>
            <a:srgbClr val="C8102E"/>
          </a:solidFill>
          <a:ln w="12700">
            <a:solidFill>
              <a:srgbClr val="C8102E"/>
            </a:solidFill>
            <a:prstDash val="solid"/>
          </a:ln>
        </p:spPr>
      </p:sp>
      <p:sp>
        <p:nvSpPr>
          <p:cNvPr id="16" name="Text 13"/>
          <p:cNvSpPr txBox="1"/>
          <p:nvPr/>
        </p:nvSpPr>
        <p:spPr>
          <a:xfrm>
            <a:off x="8366760" y="5074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Text 14"/>
          <p:cNvSpPr txBox="1"/>
          <p:nvPr/>
        </p:nvSpPr>
        <p:spPr>
          <a:xfrm>
            <a:off x="8897112" y="5038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Tabs</a:t>
            </a:r>
            <a:endParaRPr lang="en-US" sz="1500" dirty="0"/>
          </a:p>
          <a:p>
            <a:pPr indent="0" marL="0">
              <a:spcAft>
                <a:spcPts val="200"/>
              </a:spcAft>
              <a:buNone/>
            </a:pPr>
            <a:r>
              <a:rPr lang="en-US" sz="1300" dirty="0">
                <a:solidFill>
                  <a:srgbClr val="475569"/>
                </a:solidFill>
              </a:rPr>
              <a:t>Overview, Workflow, Team, Time log and Details.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200" b="1" dirty="0">
                <a:solidFill>
                  <a:schemeClr val="tx2"/>
                </a:solidFill>
              </a:rPr>
              <a:t>Self-service: attendance, leave, expenses, helpdesk</a:t>
            </a:r>
            <a:endParaRPr lang="en-US" sz="32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rgbClr val="64748B"/>
                </a:solidFill>
              </a:rPr>
              <a:t>No forms to email. Each request is tracked until it is approved or resolved.</a:t>
            </a:r>
            <a:endParaRPr lang="en-US" sz="1500" dirty="0"/>
          </a:p>
        </p:txBody>
      </p:sp>
      <p:sp>
        <p:nvSpPr>
          <p:cNvPr id="4" name="frame-emp-attendance"/>
          <p:cNvSpPr/>
          <p:nvPr/>
        </p:nvSpPr>
        <p:spPr>
          <a:xfrm>
            <a:off x="548640" y="1517904"/>
            <a:ext cx="3538728" cy="2252853"/>
          </a:xfrm>
          <a:prstGeom prst="roundRect">
            <a:avLst>
              <a:gd name="adj" fmla="val 3247"/>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5" name="shot-emp-attendance" descr="My Attendance">    </p:cNvPr>
          <p:cNvPicPr>
            <a:picLocks noChangeAspect="1"/>
          </p:cNvPicPr>
          <p:nvPr/>
        </p:nvPicPr>
        <p:blipFill>
          <a:blip r:embed="rId1"/>
          <a:stretch>
            <a:fillRect/>
          </a:stretch>
        </p:blipFill>
        <p:spPr>
          <a:xfrm>
            <a:off x="603504" y="1572768"/>
            <a:ext cx="3429000" cy="2143125"/>
          </a:xfrm>
          <a:prstGeom prst="rect">
            <a:avLst/>
          </a:prstGeom>
        </p:spPr>
      </p:pic>
      <p:sp>
        <p:nvSpPr>
          <p:cNvPr id="6" name="Text 3"/>
          <p:cNvSpPr txBox="1"/>
          <p:nvPr/>
        </p:nvSpPr>
        <p:spPr>
          <a:xfrm>
            <a:off x="4261104" y="1618488"/>
            <a:ext cx="1920240" cy="914400"/>
          </a:xfrm>
          <a:prstGeom prst="rect">
            <a:avLst/>
          </a:prstGeom>
          <a:noFill/>
          <a:ln/>
        </p:spPr>
        <p:txBody>
          <a:bodyPr wrap="square" lIns="0" tIns="0" rIns="0" bIns="0" rtlCol="0" anchor="t"/>
          <a:lstStyle/>
          <a:p>
            <a:pPr indent="0" marL="0">
              <a:buNone/>
            </a:pPr>
            <a:r>
              <a:rPr lang="en-US" sz="1600" b="1" dirty="0">
                <a:solidFill>
                  <a:srgbClr val="0F172A"/>
                </a:solidFill>
              </a:rPr>
              <a:t>My Attendance</a:t>
            </a:r>
            <a:endParaRPr lang="en-US" sz="1600" dirty="0"/>
          </a:p>
          <a:p>
            <a:pPr indent="0" marL="0">
              <a:buNone/>
            </a:pPr>
            <a:r>
              <a:rPr lang="en-US" sz="1200" dirty="0">
                <a:solidFill>
                  <a:srgbClr val="64748B"/>
                </a:solidFill>
              </a:rPr>
              <a:t>Attendance › My Attendance</a:t>
            </a:r>
            <a:endParaRPr lang="en-US" sz="1600" dirty="0"/>
          </a:p>
        </p:txBody>
      </p:sp>
      <p:sp>
        <p:nvSpPr>
          <p:cNvPr id="7" name="frame-emp-leave"/>
          <p:cNvSpPr/>
          <p:nvPr/>
        </p:nvSpPr>
        <p:spPr>
          <a:xfrm>
            <a:off x="6263640" y="1517904"/>
            <a:ext cx="3538728" cy="2252853"/>
          </a:xfrm>
          <a:prstGeom prst="roundRect">
            <a:avLst>
              <a:gd name="adj" fmla="val 3247"/>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8" name="shot-emp-leave" descr="Apply Leave">    </p:cNvPr>
          <p:cNvPicPr>
            <a:picLocks noChangeAspect="1"/>
          </p:cNvPicPr>
          <p:nvPr/>
        </p:nvPicPr>
        <p:blipFill>
          <a:blip r:embed="rId2"/>
          <a:stretch>
            <a:fillRect/>
          </a:stretch>
        </p:blipFill>
        <p:spPr>
          <a:xfrm>
            <a:off x="6318504" y="1572768"/>
            <a:ext cx="3429000" cy="2143125"/>
          </a:xfrm>
          <a:prstGeom prst="rect">
            <a:avLst/>
          </a:prstGeom>
        </p:spPr>
      </p:pic>
      <p:sp>
        <p:nvSpPr>
          <p:cNvPr id="9" name="Text 5"/>
          <p:cNvSpPr txBox="1"/>
          <p:nvPr/>
        </p:nvSpPr>
        <p:spPr>
          <a:xfrm>
            <a:off x="9976104" y="1618488"/>
            <a:ext cx="1920240" cy="914400"/>
          </a:xfrm>
          <a:prstGeom prst="rect">
            <a:avLst/>
          </a:prstGeom>
          <a:noFill/>
          <a:ln/>
        </p:spPr>
        <p:txBody>
          <a:bodyPr wrap="square" lIns="0" tIns="0" rIns="0" bIns="0" rtlCol="0" anchor="t"/>
          <a:lstStyle/>
          <a:p>
            <a:pPr indent="0" marL="0">
              <a:buNone/>
            </a:pPr>
            <a:r>
              <a:rPr lang="en-US" sz="1600" b="1" dirty="0">
                <a:solidFill>
                  <a:srgbClr val="0F172A"/>
                </a:solidFill>
              </a:rPr>
              <a:t>Apply Leave</a:t>
            </a:r>
            <a:endParaRPr lang="en-US" sz="1600" dirty="0"/>
          </a:p>
          <a:p>
            <a:pPr indent="0" marL="0">
              <a:buNone/>
            </a:pPr>
            <a:r>
              <a:rPr lang="en-US" sz="1200" dirty="0">
                <a:solidFill>
                  <a:srgbClr val="64748B"/>
                </a:solidFill>
              </a:rPr>
              <a:t>Leave › Apply Leave</a:t>
            </a:r>
            <a:endParaRPr lang="en-US" sz="1600" dirty="0"/>
          </a:p>
        </p:txBody>
      </p:sp>
      <p:sp>
        <p:nvSpPr>
          <p:cNvPr id="10" name="frame-emp-expenses"/>
          <p:cNvSpPr/>
          <p:nvPr/>
        </p:nvSpPr>
        <p:spPr>
          <a:xfrm>
            <a:off x="548640" y="3895344"/>
            <a:ext cx="3538728" cy="2252853"/>
          </a:xfrm>
          <a:prstGeom prst="roundRect">
            <a:avLst>
              <a:gd name="adj" fmla="val 3247"/>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11" name="shot-emp-expenses" descr="My Expenses">    </p:cNvPr>
          <p:cNvPicPr>
            <a:picLocks noChangeAspect="1"/>
          </p:cNvPicPr>
          <p:nvPr/>
        </p:nvPicPr>
        <p:blipFill>
          <a:blip r:embed="rId3"/>
          <a:stretch>
            <a:fillRect/>
          </a:stretch>
        </p:blipFill>
        <p:spPr>
          <a:xfrm>
            <a:off x="603504" y="3950208"/>
            <a:ext cx="3429000" cy="2143125"/>
          </a:xfrm>
          <a:prstGeom prst="rect">
            <a:avLst/>
          </a:prstGeom>
        </p:spPr>
      </p:pic>
      <p:sp>
        <p:nvSpPr>
          <p:cNvPr id="12" name="Text 7"/>
          <p:cNvSpPr txBox="1"/>
          <p:nvPr/>
        </p:nvSpPr>
        <p:spPr>
          <a:xfrm>
            <a:off x="4261104" y="3995928"/>
            <a:ext cx="1920240" cy="914400"/>
          </a:xfrm>
          <a:prstGeom prst="rect">
            <a:avLst/>
          </a:prstGeom>
          <a:noFill/>
          <a:ln/>
        </p:spPr>
        <p:txBody>
          <a:bodyPr wrap="square" lIns="0" tIns="0" rIns="0" bIns="0" rtlCol="0" anchor="t"/>
          <a:lstStyle/>
          <a:p>
            <a:pPr indent="0" marL="0">
              <a:buNone/>
            </a:pPr>
            <a:r>
              <a:rPr lang="en-US" sz="1600" b="1" dirty="0">
                <a:solidFill>
                  <a:srgbClr val="0F172A"/>
                </a:solidFill>
              </a:rPr>
              <a:t>My Expenses</a:t>
            </a:r>
            <a:endParaRPr lang="en-US" sz="1600" dirty="0"/>
          </a:p>
          <a:p>
            <a:pPr indent="0" marL="0">
              <a:buNone/>
            </a:pPr>
            <a:r>
              <a:rPr lang="en-US" sz="1200" dirty="0">
                <a:solidFill>
                  <a:srgbClr val="64748B"/>
                </a:solidFill>
              </a:rPr>
              <a:t>Expenses › My Expenses</a:t>
            </a:r>
            <a:endParaRPr lang="en-US" sz="1600" dirty="0"/>
          </a:p>
        </p:txBody>
      </p:sp>
      <p:sp>
        <p:nvSpPr>
          <p:cNvPr id="13" name="frame-emp-helpdesk"/>
          <p:cNvSpPr/>
          <p:nvPr/>
        </p:nvSpPr>
        <p:spPr>
          <a:xfrm>
            <a:off x="6263640" y="3895344"/>
            <a:ext cx="3538728" cy="2252853"/>
          </a:xfrm>
          <a:prstGeom prst="roundRect">
            <a:avLst>
              <a:gd name="adj" fmla="val 3247"/>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14" name="shot-emp-helpdesk" descr="HR Helpdesk">    </p:cNvPr>
          <p:cNvPicPr>
            <a:picLocks noChangeAspect="1"/>
          </p:cNvPicPr>
          <p:nvPr/>
        </p:nvPicPr>
        <p:blipFill>
          <a:blip r:embed="rId4"/>
          <a:stretch>
            <a:fillRect/>
          </a:stretch>
        </p:blipFill>
        <p:spPr>
          <a:xfrm>
            <a:off x="6318504" y="3950208"/>
            <a:ext cx="3429000" cy="2143125"/>
          </a:xfrm>
          <a:prstGeom prst="rect">
            <a:avLst/>
          </a:prstGeom>
        </p:spPr>
      </p:pic>
      <p:sp>
        <p:nvSpPr>
          <p:cNvPr id="15" name="Text 9"/>
          <p:cNvSpPr txBox="1"/>
          <p:nvPr/>
        </p:nvSpPr>
        <p:spPr>
          <a:xfrm>
            <a:off x="9976104" y="3995928"/>
            <a:ext cx="1920240" cy="914400"/>
          </a:xfrm>
          <a:prstGeom prst="rect">
            <a:avLst/>
          </a:prstGeom>
          <a:noFill/>
          <a:ln/>
        </p:spPr>
        <p:txBody>
          <a:bodyPr wrap="square" lIns="0" tIns="0" rIns="0" bIns="0" rtlCol="0" anchor="t"/>
          <a:lstStyle/>
          <a:p>
            <a:pPr indent="0" marL="0">
              <a:buNone/>
            </a:pPr>
            <a:r>
              <a:rPr lang="en-US" sz="1600" b="1" dirty="0">
                <a:solidFill>
                  <a:srgbClr val="0F172A"/>
                </a:solidFill>
              </a:rPr>
              <a:t>HR Helpdesk</a:t>
            </a:r>
            <a:endParaRPr lang="en-US" sz="1600" dirty="0"/>
          </a:p>
          <a:p>
            <a:pPr indent="0" marL="0">
              <a:buNone/>
            </a:pPr>
            <a:r>
              <a:rPr lang="en-US" sz="1200" dirty="0">
                <a:solidFill>
                  <a:srgbClr val="64748B"/>
                </a:solidFill>
              </a:rPr>
              <a:t>HR Helpdesk › My Tickets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05840"/>
          </a:xfrm>
          <a:prstGeom prst="rect">
            <a:avLst/>
          </a:prstGeom>
          <a:noFill/>
          <a:ln/>
        </p:spPr>
        <p:txBody>
          <a:bodyPr wrap="square" lIns="0" tIns="0" rIns="0" bIns="0" rtlCol="0" anchor="b"/>
          <a:lstStyle/>
          <a:p>
            <a:pPr algn="l" indent="0" marL="0">
              <a:buNone/>
            </a:pPr>
            <a:r>
              <a:rPr lang="en-US" sz="4400" b="1" dirty="0">
                <a:solidFill>
                  <a:schemeClr val="bg1"/>
                </a:solidFill>
              </a:rPr>
              <a:t>Managers &amp; team leads</a:t>
            </a:r>
            <a:endParaRPr lang="en-US" sz="4400" dirty="0"/>
          </a:p>
        </p:txBody>
      </p:sp>
      <p:sp>
        <p:nvSpPr>
          <p:cNvPr id="3" name="Text 0"/>
          <p:cNvSpPr/>
          <p:nvPr>
            <p:ph idx="101" type="body" hasCustomPrompt="1"/>
          </p:nvPr>
        </p:nvSpPr>
        <p:spPr>
          <a:xfrm>
            <a:off x="731520" y="3794760"/>
            <a:ext cx="10058400" cy="1097280"/>
          </a:xfrm>
          <a:prstGeom prst="rect">
            <a:avLst/>
          </a:prstGeom>
          <a:noFill/>
          <a:ln/>
        </p:spPr>
        <p:txBody>
          <a:bodyPr wrap="square" lIns="0" tIns="0" rIns="0" bIns="0" rtlCol="0" anchor="t"/>
          <a:lstStyle/>
          <a:p>
            <a:pPr algn="l" indent="0" marL="0">
              <a:buNone/>
            </a:pPr>
            <a:r>
              <a:rPr lang="en-US" sz="1800" dirty="0">
                <a:solidFill>
                  <a:srgbClr val="CBD5E1"/>
                </a:solidFill>
              </a:rPr>
              <a:t>Senior Managers and Managers set up audits and keep the team balanced. Senior Consultants lead fieldwork and approve their team.</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200" b="1" dirty="0">
                <a:solidFill>
                  <a:schemeClr val="tx2"/>
                </a:solidFill>
              </a:rPr>
              <a:t>Setting up a new audit</a:t>
            </a:r>
            <a:endParaRPr lang="en-US" sz="32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rgbClr val="64748B"/>
                </a:solidFill>
              </a:rPr>
              <a:t>Audits › Engagements › New engagement</a:t>
            </a:r>
            <a:endParaRPr lang="en-US" sz="1500" dirty="0"/>
          </a:p>
        </p:txBody>
      </p:sp>
      <p:sp>
        <p:nvSpPr>
          <p:cNvPr id="4" name="frame-mgr-engagements"/>
          <p:cNvSpPr/>
          <p:nvPr/>
        </p:nvSpPr>
        <p:spPr>
          <a:xfrm>
            <a:off x="493776" y="1499616"/>
            <a:ext cx="6876288" cy="4338828"/>
          </a:xfrm>
          <a:prstGeom prst="roundRect">
            <a:avLst>
              <a:gd name="adj" fmla="val 1686"/>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5" name="shot-mgr-engagements" descr="Engagements list">    </p:cNvPr>
          <p:cNvPicPr>
            <a:picLocks noChangeAspect="1"/>
          </p:cNvPicPr>
          <p:nvPr/>
        </p:nvPicPr>
        <p:blipFill>
          <a:blip r:embed="rId1"/>
          <a:stretch>
            <a:fillRect/>
          </a:stretch>
        </p:blipFill>
        <p:spPr>
          <a:xfrm>
            <a:off x="548640" y="1554480"/>
            <a:ext cx="6766560" cy="4229100"/>
          </a:xfrm>
          <a:prstGeom prst="rect">
            <a:avLst/>
          </a:prstGeom>
        </p:spPr>
      </p:pic>
      <p:sp>
        <p:nvSpPr>
          <p:cNvPr id="6" name="num-1"/>
          <p:cNvSpPr/>
          <p:nvPr/>
        </p:nvSpPr>
        <p:spPr>
          <a:xfrm>
            <a:off x="7818120" y="1645920"/>
            <a:ext cx="384048" cy="384048"/>
          </a:xfrm>
          <a:prstGeom prst="ellipse">
            <a:avLst/>
          </a:prstGeom>
          <a:solidFill>
            <a:srgbClr val="1E40AF"/>
          </a:solidFill>
          <a:ln w="12700">
            <a:solidFill>
              <a:srgbClr val="1E40AF"/>
            </a:solidFill>
            <a:prstDash val="solid"/>
          </a:ln>
        </p:spPr>
      </p:sp>
      <p:sp>
        <p:nvSpPr>
          <p:cNvPr id="7" name="Text 4"/>
          <p:cNvSpPr txBox="1"/>
          <p:nvPr/>
        </p:nvSpPr>
        <p:spPr>
          <a:xfrm>
            <a:off x="781812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5"/>
          <p:cNvSpPr txBox="1"/>
          <p:nvPr/>
        </p:nvSpPr>
        <p:spPr>
          <a:xfrm>
            <a:off x="8348472" y="1609344"/>
            <a:ext cx="331012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Pick the client</a:t>
            </a:r>
            <a:endParaRPr lang="en-US" sz="1500" dirty="0"/>
          </a:p>
          <a:p>
            <a:pPr indent="0" marL="0">
              <a:spcAft>
                <a:spcPts val="200"/>
              </a:spcAft>
              <a:buNone/>
            </a:pPr>
            <a:r>
              <a:rPr lang="en-US" sz="1300" dirty="0">
                <a:solidFill>
                  <a:srgbClr val="475569"/>
                </a:solidFill>
              </a:rPr>
              <a:t>and optionally a project. Add a new client from the same form.</a:t>
            </a:r>
            <a:endParaRPr lang="en-US" sz="1500" dirty="0"/>
          </a:p>
        </p:txBody>
      </p:sp>
      <p:sp>
        <p:nvSpPr>
          <p:cNvPr id="9" name="num-2"/>
          <p:cNvSpPr/>
          <p:nvPr/>
        </p:nvSpPr>
        <p:spPr>
          <a:xfrm>
            <a:off x="7818120" y="2788920"/>
            <a:ext cx="384048" cy="384048"/>
          </a:xfrm>
          <a:prstGeom prst="ellipse">
            <a:avLst/>
          </a:prstGeom>
          <a:solidFill>
            <a:srgbClr val="1E40AF"/>
          </a:solidFill>
          <a:ln w="12700">
            <a:solidFill>
              <a:srgbClr val="1E40AF"/>
            </a:solidFill>
            <a:prstDash val="solid"/>
          </a:ln>
        </p:spPr>
      </p:sp>
      <p:sp>
        <p:nvSpPr>
          <p:cNvPr id="10" name="Text 7"/>
          <p:cNvSpPr txBox="1"/>
          <p:nvPr/>
        </p:nvSpPr>
        <p:spPr>
          <a:xfrm>
            <a:off x="7818120" y="2788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8348472" y="2752344"/>
            <a:ext cx="331012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Fill the basics</a:t>
            </a:r>
            <a:endParaRPr lang="en-US" sz="1500" dirty="0"/>
          </a:p>
          <a:p>
            <a:pPr indent="0" marL="0">
              <a:spcAft>
                <a:spcPts val="200"/>
              </a:spcAft>
              <a:buNone/>
            </a:pPr>
            <a:r>
              <a:rPr lang="en-US" sz="1300" dirty="0">
                <a:solidFill>
                  <a:srgbClr val="475569"/>
                </a:solidFill>
              </a:rPr>
              <a:t>Audit type, financial year, deadline, budget hours and fee.</a:t>
            </a:r>
            <a:endParaRPr lang="en-US" sz="1500" dirty="0"/>
          </a:p>
        </p:txBody>
      </p:sp>
      <p:sp>
        <p:nvSpPr>
          <p:cNvPr id="12" name="num-3"/>
          <p:cNvSpPr/>
          <p:nvPr/>
        </p:nvSpPr>
        <p:spPr>
          <a:xfrm>
            <a:off x="7818120" y="3931920"/>
            <a:ext cx="384048" cy="384048"/>
          </a:xfrm>
          <a:prstGeom prst="ellipse">
            <a:avLst/>
          </a:prstGeom>
          <a:solidFill>
            <a:srgbClr val="1E40AF"/>
          </a:solidFill>
          <a:ln w="12700">
            <a:solidFill>
              <a:srgbClr val="1E40AF"/>
            </a:solidFill>
            <a:prstDash val="solid"/>
          </a:ln>
        </p:spPr>
      </p:sp>
      <p:sp>
        <p:nvSpPr>
          <p:cNvPr id="13" name="Text 10"/>
          <p:cNvSpPr txBox="1"/>
          <p:nvPr/>
        </p:nvSpPr>
        <p:spPr>
          <a:xfrm>
            <a:off x="7818120" y="3931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1"/>
          <p:cNvSpPr txBox="1"/>
          <p:nvPr/>
        </p:nvSpPr>
        <p:spPr>
          <a:xfrm>
            <a:off x="8348472" y="3895344"/>
            <a:ext cx="331012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Choose the checklist</a:t>
            </a:r>
            <a:endParaRPr lang="en-US" sz="1500" dirty="0"/>
          </a:p>
          <a:p>
            <a:pPr indent="0" marL="0">
              <a:spcAft>
                <a:spcPts val="200"/>
              </a:spcAft>
              <a:buNone/>
            </a:pPr>
            <a:r>
              <a:rPr lang="en-US" sz="1300" dirty="0">
                <a:solidFill>
                  <a:srgbClr val="475569"/>
                </a:solidFill>
              </a:rPr>
              <a:t>Leave it on Automatic to use the best match.</a:t>
            </a:r>
            <a:endParaRPr lang="en-US" sz="1500" dirty="0"/>
          </a:p>
        </p:txBody>
      </p:sp>
      <p:sp>
        <p:nvSpPr>
          <p:cNvPr id="15" name="num-4"/>
          <p:cNvSpPr/>
          <p:nvPr/>
        </p:nvSpPr>
        <p:spPr>
          <a:xfrm>
            <a:off x="7818120" y="5074920"/>
            <a:ext cx="384048" cy="384048"/>
          </a:xfrm>
          <a:prstGeom prst="ellipse">
            <a:avLst/>
          </a:prstGeom>
          <a:solidFill>
            <a:srgbClr val="1E40AF"/>
          </a:solidFill>
          <a:ln w="12700">
            <a:solidFill>
              <a:srgbClr val="1E40AF"/>
            </a:solidFill>
            <a:prstDash val="solid"/>
          </a:ln>
        </p:spPr>
      </p:sp>
      <p:sp>
        <p:nvSpPr>
          <p:cNvPr id="16" name="Text 13"/>
          <p:cNvSpPr txBox="1"/>
          <p:nvPr/>
        </p:nvSpPr>
        <p:spPr>
          <a:xfrm>
            <a:off x="7818120" y="5074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Text 14"/>
          <p:cNvSpPr txBox="1"/>
          <p:nvPr/>
        </p:nvSpPr>
        <p:spPr>
          <a:xfrm>
            <a:off x="8348472" y="5038344"/>
            <a:ext cx="331012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Add the team</a:t>
            </a:r>
            <a:endParaRPr lang="en-US" sz="1500" dirty="0"/>
          </a:p>
          <a:p>
            <a:pPr indent="0" marL="0">
              <a:spcAft>
                <a:spcPts val="200"/>
              </a:spcAft>
              <a:buNone/>
            </a:pPr>
            <a:r>
              <a:rPr lang="en-US" sz="1300" dirty="0">
                <a:solidFill>
                  <a:srgbClr val="475569"/>
                </a:solidFill>
              </a:rPr>
              <a:t>Then set an owner and reviewer for each task.</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200" b="1" dirty="0">
                <a:solidFill>
                  <a:schemeClr val="tx2"/>
                </a:solidFill>
              </a:rPr>
              <a:t>Team Workload: who is free, who is overloaded</a:t>
            </a:r>
            <a:endParaRPr lang="en-US" sz="32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rgbClr val="64748B"/>
                </a:solidFill>
              </a:rPr>
              <a:t>Audits › Team Workload</a:t>
            </a:r>
            <a:endParaRPr lang="en-US" sz="1500" dirty="0"/>
          </a:p>
        </p:txBody>
      </p:sp>
      <p:sp>
        <p:nvSpPr>
          <p:cNvPr id="4" name="frame-mgr-workload"/>
          <p:cNvSpPr/>
          <p:nvPr/>
        </p:nvSpPr>
        <p:spPr>
          <a:xfrm>
            <a:off x="493776" y="1499616"/>
            <a:ext cx="7516368" cy="4738878"/>
          </a:xfrm>
          <a:prstGeom prst="roundRect">
            <a:avLst>
              <a:gd name="adj" fmla="val 1544"/>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5" name="shot-mgr-workload" descr="Team Workload screen">    </p:cNvPr>
          <p:cNvPicPr>
            <a:picLocks noChangeAspect="1"/>
          </p:cNvPicPr>
          <p:nvPr/>
        </p:nvPicPr>
        <p:blipFill>
          <a:blip r:embed="rId1"/>
          <a:stretch>
            <a:fillRect/>
          </a:stretch>
        </p:blipFill>
        <p:spPr>
          <a:xfrm>
            <a:off x="548640" y="1554480"/>
            <a:ext cx="7406640" cy="4629150"/>
          </a:xfrm>
          <a:prstGeom prst="rect">
            <a:avLst/>
          </a:prstGeom>
        </p:spPr>
      </p:pic>
      <p:sp>
        <p:nvSpPr>
          <p:cNvPr id="6" name="num-1"/>
          <p:cNvSpPr/>
          <p:nvPr/>
        </p:nvSpPr>
        <p:spPr>
          <a:xfrm>
            <a:off x="8366760" y="1645920"/>
            <a:ext cx="384048" cy="384048"/>
          </a:xfrm>
          <a:prstGeom prst="ellipse">
            <a:avLst/>
          </a:prstGeom>
          <a:solidFill>
            <a:srgbClr val="1E40AF"/>
          </a:solidFill>
          <a:ln w="12700">
            <a:solidFill>
              <a:srgbClr val="1E40AF"/>
            </a:solidFill>
            <a:prstDash val="solid"/>
          </a:ln>
        </p:spPr>
      </p:sp>
      <p:sp>
        <p:nvSpPr>
          <p:cNvPr id="7" name="Text 4"/>
          <p:cNvSpPr txBox="1"/>
          <p:nvPr/>
        </p:nvSpPr>
        <p:spPr>
          <a:xfrm>
            <a:off x="836676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5"/>
          <p:cNvSpPr txBox="1"/>
          <p:nvPr/>
        </p:nvSpPr>
        <p:spPr>
          <a:xfrm>
            <a:off x="8897112" y="1609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Tiles = filters</a:t>
            </a:r>
            <a:endParaRPr lang="en-US" sz="1500" dirty="0"/>
          </a:p>
          <a:p>
            <a:pPr indent="0" marL="0">
              <a:spcAft>
                <a:spcPts val="200"/>
              </a:spcAft>
              <a:buNone/>
            </a:pPr>
            <a:r>
              <a:rPr lang="en-US" sz="1300" dirty="0">
                <a:solidFill>
                  <a:srgbClr val="475569"/>
                </a:solidFill>
              </a:rPr>
              <a:t>Overloaded, Fully booked, Balanced, Free and tasks with no owner.</a:t>
            </a:r>
            <a:endParaRPr lang="en-US" sz="1500" dirty="0"/>
          </a:p>
        </p:txBody>
      </p:sp>
      <p:sp>
        <p:nvSpPr>
          <p:cNvPr id="9" name="num-2"/>
          <p:cNvSpPr/>
          <p:nvPr/>
        </p:nvSpPr>
        <p:spPr>
          <a:xfrm>
            <a:off x="8366760" y="2788920"/>
            <a:ext cx="384048" cy="384048"/>
          </a:xfrm>
          <a:prstGeom prst="ellipse">
            <a:avLst/>
          </a:prstGeom>
          <a:solidFill>
            <a:srgbClr val="1E40AF"/>
          </a:solidFill>
          <a:ln w="12700">
            <a:solidFill>
              <a:srgbClr val="1E40AF"/>
            </a:solidFill>
            <a:prstDash val="solid"/>
          </a:ln>
        </p:spPr>
      </p:sp>
      <p:sp>
        <p:nvSpPr>
          <p:cNvPr id="10" name="Text 7"/>
          <p:cNvSpPr txBox="1"/>
          <p:nvPr/>
        </p:nvSpPr>
        <p:spPr>
          <a:xfrm>
            <a:off x="8366760" y="2788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8897112" y="2752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Each person</a:t>
            </a:r>
            <a:endParaRPr lang="en-US" sz="1500" dirty="0"/>
          </a:p>
          <a:p>
            <a:pPr indent="0" marL="0">
              <a:spcAft>
                <a:spcPts val="200"/>
              </a:spcAft>
              <a:buNone/>
            </a:pPr>
            <a:r>
              <a:rPr lang="en-US" sz="1300" dirty="0">
                <a:solidFill>
                  <a:srgbClr val="475569"/>
                </a:solidFill>
              </a:rPr>
              <a:t>Upcoming task hours against the time they have free (leave taken off).</a:t>
            </a:r>
            <a:endParaRPr lang="en-US" sz="1500" dirty="0"/>
          </a:p>
        </p:txBody>
      </p:sp>
      <p:sp>
        <p:nvSpPr>
          <p:cNvPr id="12" name="num-3"/>
          <p:cNvSpPr/>
          <p:nvPr/>
        </p:nvSpPr>
        <p:spPr>
          <a:xfrm>
            <a:off x="8366760" y="3931920"/>
            <a:ext cx="384048" cy="384048"/>
          </a:xfrm>
          <a:prstGeom prst="ellipse">
            <a:avLst/>
          </a:prstGeom>
          <a:solidFill>
            <a:srgbClr val="1E40AF"/>
          </a:solidFill>
          <a:ln w="12700">
            <a:solidFill>
              <a:srgbClr val="1E40AF"/>
            </a:solidFill>
            <a:prstDash val="solid"/>
          </a:ln>
        </p:spPr>
      </p:sp>
      <p:sp>
        <p:nvSpPr>
          <p:cNvPr id="13" name="Text 10"/>
          <p:cNvSpPr txBox="1"/>
          <p:nvPr/>
        </p:nvSpPr>
        <p:spPr>
          <a:xfrm>
            <a:off x="8366760" y="3931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1"/>
          <p:cNvSpPr txBox="1"/>
          <p:nvPr/>
        </p:nvSpPr>
        <p:spPr>
          <a:xfrm>
            <a:off x="8897112" y="3895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Move a task</a:t>
            </a:r>
            <a:endParaRPr lang="en-US" sz="1500" dirty="0"/>
          </a:p>
          <a:p>
            <a:pPr indent="0" marL="0">
              <a:spcAft>
                <a:spcPts val="200"/>
              </a:spcAft>
              <a:buNone/>
            </a:pPr>
            <a:r>
              <a:rPr lang="en-US" sz="1300" dirty="0">
                <a:solidFill>
                  <a:srgbClr val="475569"/>
                </a:solidFill>
              </a:rPr>
              <a:t>Open a person and reassign a task to someone freer.</a:t>
            </a:r>
            <a:endParaRPr lang="en-US" sz="1500" dirty="0"/>
          </a:p>
        </p:txBody>
      </p:sp>
      <p:sp>
        <p:nvSpPr>
          <p:cNvPr id="15" name="num-4"/>
          <p:cNvSpPr/>
          <p:nvPr/>
        </p:nvSpPr>
        <p:spPr>
          <a:xfrm>
            <a:off x="8366760" y="5074920"/>
            <a:ext cx="384048" cy="384048"/>
          </a:xfrm>
          <a:prstGeom prst="ellipse">
            <a:avLst/>
          </a:prstGeom>
          <a:solidFill>
            <a:srgbClr val="1E40AF"/>
          </a:solidFill>
          <a:ln w="12700">
            <a:solidFill>
              <a:srgbClr val="1E40AF"/>
            </a:solidFill>
            <a:prstDash val="solid"/>
          </a:ln>
        </p:spPr>
      </p:sp>
      <p:sp>
        <p:nvSpPr>
          <p:cNvPr id="16" name="Text 13"/>
          <p:cNvSpPr txBox="1"/>
          <p:nvPr/>
        </p:nvSpPr>
        <p:spPr>
          <a:xfrm>
            <a:off x="8366760" y="5074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Text 14"/>
          <p:cNvSpPr txBox="1"/>
          <p:nvPr/>
        </p:nvSpPr>
        <p:spPr>
          <a:xfrm>
            <a:off x="8897112" y="5038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Tasks with no owner</a:t>
            </a:r>
            <a:endParaRPr lang="en-US" sz="1500" dirty="0"/>
          </a:p>
          <a:p>
            <a:pPr indent="0" marL="0">
              <a:spcAft>
                <a:spcPts val="200"/>
              </a:spcAft>
              <a:buNone/>
            </a:pPr>
            <a:r>
              <a:rPr lang="en-US" sz="1300" dirty="0">
                <a:solidFill>
                  <a:srgbClr val="475569"/>
                </a:solidFill>
              </a:rPr>
              <a:t>Pick a person; the freest people are listed first.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200" b="1" dirty="0">
                <a:solidFill>
                  <a:schemeClr val="tx2"/>
                </a:solidFill>
              </a:rPr>
              <a:t>Approving your team</a:t>
            </a:r>
            <a:endParaRPr lang="en-US" sz="32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rgbClr val="64748B"/>
                </a:solidFill>
              </a:rPr>
              <a:t>Leave › Approvals and Attendance › Team Attendance. Timesheets › Approvals works the same way.</a:t>
            </a:r>
            <a:endParaRPr lang="en-US" sz="1500" dirty="0"/>
          </a:p>
        </p:txBody>
      </p:sp>
      <p:sp>
        <p:nvSpPr>
          <p:cNvPr id="4" name="frame-mgr-leave-appr"/>
          <p:cNvSpPr/>
          <p:nvPr/>
        </p:nvSpPr>
        <p:spPr>
          <a:xfrm>
            <a:off x="493776" y="1545336"/>
            <a:ext cx="5458968" cy="3453003"/>
          </a:xfrm>
          <a:prstGeom prst="roundRect">
            <a:avLst>
              <a:gd name="adj" fmla="val 2119"/>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5" name="shot-mgr-leave-appr" descr="Leave approvals">    </p:cNvPr>
          <p:cNvPicPr>
            <a:picLocks noChangeAspect="1"/>
          </p:cNvPicPr>
          <p:nvPr/>
        </p:nvPicPr>
        <p:blipFill>
          <a:blip r:embed="rId1"/>
          <a:stretch>
            <a:fillRect/>
          </a:stretch>
        </p:blipFill>
        <p:spPr>
          <a:xfrm>
            <a:off x="548640" y="1600200"/>
            <a:ext cx="5349240" cy="3343275"/>
          </a:xfrm>
          <a:prstGeom prst="rect">
            <a:avLst/>
          </a:prstGeom>
        </p:spPr>
      </p:pic>
      <p:sp>
        <p:nvSpPr>
          <p:cNvPr id="6" name="frame-mgr-team-att"/>
          <p:cNvSpPr/>
          <p:nvPr/>
        </p:nvSpPr>
        <p:spPr>
          <a:xfrm>
            <a:off x="6208776" y="1545336"/>
            <a:ext cx="5458968" cy="3453003"/>
          </a:xfrm>
          <a:prstGeom prst="roundRect">
            <a:avLst>
              <a:gd name="adj" fmla="val 2119"/>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7" name="shot-mgr-team-att" descr="Team attendance">    </p:cNvPr>
          <p:cNvPicPr>
            <a:picLocks noChangeAspect="1"/>
          </p:cNvPicPr>
          <p:nvPr/>
        </p:nvPicPr>
        <p:blipFill>
          <a:blip r:embed="rId2"/>
          <a:stretch>
            <a:fillRect/>
          </a:stretch>
        </p:blipFill>
        <p:spPr>
          <a:xfrm>
            <a:off x="6263640" y="1600200"/>
            <a:ext cx="5349240" cy="3343275"/>
          </a:xfrm>
          <a:prstGeom prst="rect">
            <a:avLst/>
          </a:prstGeom>
        </p:spPr>
      </p:pic>
      <p:sp>
        <p:nvSpPr>
          <p:cNvPr id="8" name="Text 4"/>
          <p:cNvSpPr txBox="1"/>
          <p:nvPr/>
        </p:nvSpPr>
        <p:spPr>
          <a:xfrm>
            <a:off x="548640" y="5120640"/>
            <a:ext cx="5349240" cy="731520"/>
          </a:xfrm>
          <a:prstGeom prst="rect">
            <a:avLst/>
          </a:prstGeom>
          <a:noFill/>
          <a:ln/>
        </p:spPr>
        <p:txBody>
          <a:bodyPr wrap="square" lIns="0" tIns="0" rIns="0" bIns="0" rtlCol="0" anchor="t"/>
          <a:lstStyle/>
          <a:p>
            <a:pPr indent="0" marL="0">
              <a:buNone/>
            </a:pPr>
            <a:r>
              <a:rPr lang="en-US" sz="1300" b="1" dirty="0">
                <a:solidFill>
                  <a:srgbClr val="0F172A"/>
                </a:solidFill>
              </a:rPr>
              <a:t>Leave approvals  </a:t>
            </a:r>
            <a:pPr indent="0" marL="0">
              <a:buNone/>
            </a:pPr>
            <a:r>
              <a:rPr lang="en-US" sz="1300" dirty="0">
                <a:solidFill>
                  <a:srgbClr val="475569"/>
                </a:solidFill>
              </a:rPr>
              <a:t>Approve or reject with one click; clashes with teammates are flagged.</a:t>
            </a:r>
            <a:endParaRPr lang="en-US" sz="1300" dirty="0"/>
          </a:p>
        </p:txBody>
      </p:sp>
      <p:sp>
        <p:nvSpPr>
          <p:cNvPr id="9" name="Text 5"/>
          <p:cNvSpPr txBox="1"/>
          <p:nvPr/>
        </p:nvSpPr>
        <p:spPr>
          <a:xfrm>
            <a:off x="6263640" y="5120640"/>
            <a:ext cx="5349240" cy="731520"/>
          </a:xfrm>
          <a:prstGeom prst="rect">
            <a:avLst/>
          </a:prstGeom>
          <a:noFill/>
          <a:ln/>
        </p:spPr>
        <p:txBody>
          <a:bodyPr wrap="square" lIns="0" tIns="0" rIns="0" bIns="0" rtlCol="0" anchor="t"/>
          <a:lstStyle/>
          <a:p>
            <a:pPr indent="0" marL="0">
              <a:buNone/>
            </a:pPr>
            <a:r>
              <a:rPr lang="en-US" sz="1300" b="1" dirty="0">
                <a:solidFill>
                  <a:srgbClr val="0F172A"/>
                </a:solidFill>
              </a:rPr>
              <a:t>Team attendance  </a:t>
            </a:r>
            <a:pPr indent="0" marL="0">
              <a:buNone/>
            </a:pPr>
            <a:r>
              <a:rPr lang="en-US" sz="1300" dirty="0">
                <a:solidFill>
                  <a:srgbClr val="475569"/>
                </a:solidFill>
              </a:rPr>
              <a:t>Who is in, late or absent for any date range; export to Excel.</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05840"/>
          </a:xfrm>
          <a:prstGeom prst="rect">
            <a:avLst/>
          </a:prstGeom>
          <a:noFill/>
          <a:ln/>
        </p:spPr>
        <p:txBody>
          <a:bodyPr wrap="square" lIns="0" tIns="0" rIns="0" bIns="0" rtlCol="0" anchor="b"/>
          <a:lstStyle/>
          <a:p>
            <a:pPr algn="l" indent="0" marL="0">
              <a:buNone/>
            </a:pPr>
            <a:r>
              <a:rPr lang="en-US" sz="4400" b="1" dirty="0">
                <a:solidFill>
                  <a:schemeClr val="bg1"/>
                </a:solidFill>
              </a:rPr>
              <a:t>HR Head &amp; HR</a:t>
            </a:r>
            <a:endParaRPr lang="en-US" sz="4400" dirty="0"/>
          </a:p>
        </p:txBody>
      </p:sp>
      <p:sp>
        <p:nvSpPr>
          <p:cNvPr id="3" name="Text 0"/>
          <p:cNvSpPr/>
          <p:nvPr>
            <p:ph idx="101" type="body" hasCustomPrompt="1"/>
          </p:nvPr>
        </p:nvSpPr>
        <p:spPr>
          <a:xfrm>
            <a:off x="731520" y="3794760"/>
            <a:ext cx="10058400" cy="1097280"/>
          </a:xfrm>
          <a:prstGeom prst="rect">
            <a:avLst/>
          </a:prstGeom>
          <a:noFill/>
          <a:ln/>
        </p:spPr>
        <p:txBody>
          <a:bodyPr wrap="square" lIns="0" tIns="0" rIns="0" bIns="0" rtlCol="0" anchor="t"/>
          <a:lstStyle/>
          <a:p>
            <a:pPr algn="l" indent="0" marL="0">
              <a:buNone/>
            </a:pPr>
            <a:r>
              <a:rPr lang="en-US" sz="1800" dirty="0">
                <a:solidFill>
                  <a:srgbClr val="CBD5E1"/>
                </a:solidFill>
              </a:rPr>
              <a:t>Own the people records, attendance and leave rules, the helpdesk, and payroll inputs.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200" b="1" dirty="0">
                <a:solidFill>
                  <a:schemeClr val="tx2"/>
                </a:solidFill>
              </a:rPr>
              <a:t>HR: people, attendance and the helpdesk</a:t>
            </a:r>
            <a:endParaRPr lang="en-US" sz="32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rgbClr val="64748B"/>
                </a:solidFill>
              </a:rPr>
              <a:t>Employees › Employee Directory and HR Helpdesk › HR Tickets</a:t>
            </a:r>
            <a:endParaRPr lang="en-US" sz="1500" dirty="0"/>
          </a:p>
        </p:txBody>
      </p:sp>
      <p:sp>
        <p:nvSpPr>
          <p:cNvPr id="4" name="frame-hr-employees"/>
          <p:cNvSpPr/>
          <p:nvPr/>
        </p:nvSpPr>
        <p:spPr>
          <a:xfrm>
            <a:off x="493776" y="1545336"/>
            <a:ext cx="5458968" cy="3453003"/>
          </a:xfrm>
          <a:prstGeom prst="roundRect">
            <a:avLst>
              <a:gd name="adj" fmla="val 2119"/>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5" name="shot-hr-employees" descr="Employee directory">    </p:cNvPr>
          <p:cNvPicPr>
            <a:picLocks noChangeAspect="1"/>
          </p:cNvPicPr>
          <p:nvPr/>
        </p:nvPicPr>
        <p:blipFill>
          <a:blip r:embed="rId1"/>
          <a:stretch>
            <a:fillRect/>
          </a:stretch>
        </p:blipFill>
        <p:spPr>
          <a:xfrm>
            <a:off x="548640" y="1600200"/>
            <a:ext cx="5349240" cy="3343275"/>
          </a:xfrm>
          <a:prstGeom prst="rect">
            <a:avLst/>
          </a:prstGeom>
        </p:spPr>
      </p:pic>
      <p:sp>
        <p:nvSpPr>
          <p:cNvPr id="6" name="frame-hr-tickets"/>
          <p:cNvSpPr/>
          <p:nvPr/>
        </p:nvSpPr>
        <p:spPr>
          <a:xfrm>
            <a:off x="6208776" y="1545336"/>
            <a:ext cx="5458968" cy="3453003"/>
          </a:xfrm>
          <a:prstGeom prst="roundRect">
            <a:avLst>
              <a:gd name="adj" fmla="val 2119"/>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7" name="shot-hr-tickets" descr="HR tickets">    </p:cNvPr>
          <p:cNvPicPr>
            <a:picLocks noChangeAspect="1"/>
          </p:cNvPicPr>
          <p:nvPr/>
        </p:nvPicPr>
        <p:blipFill>
          <a:blip r:embed="rId2"/>
          <a:stretch>
            <a:fillRect/>
          </a:stretch>
        </p:blipFill>
        <p:spPr>
          <a:xfrm>
            <a:off x="6263640" y="1600200"/>
            <a:ext cx="5349240" cy="3343275"/>
          </a:xfrm>
          <a:prstGeom prst="rect">
            <a:avLst/>
          </a:prstGeom>
        </p:spPr>
      </p:pic>
      <p:sp>
        <p:nvSpPr>
          <p:cNvPr id="8" name="Text 4"/>
          <p:cNvSpPr txBox="1"/>
          <p:nvPr/>
        </p:nvSpPr>
        <p:spPr>
          <a:xfrm>
            <a:off x="548640" y="5120640"/>
            <a:ext cx="5349240" cy="731520"/>
          </a:xfrm>
          <a:prstGeom prst="rect">
            <a:avLst/>
          </a:prstGeom>
          <a:noFill/>
          <a:ln/>
        </p:spPr>
        <p:txBody>
          <a:bodyPr wrap="square" lIns="0" tIns="0" rIns="0" bIns="0" rtlCol="0" anchor="t"/>
          <a:lstStyle/>
          <a:p>
            <a:pPr indent="0" marL="0">
              <a:buNone/>
            </a:pPr>
            <a:r>
              <a:rPr lang="en-US" sz="1300" b="1" dirty="0">
                <a:solidFill>
                  <a:srgbClr val="0F172A"/>
                </a:solidFill>
              </a:rPr>
              <a:t>People  </a:t>
            </a:r>
            <a:pPr indent="0" marL="0">
              <a:buNone/>
            </a:pPr>
            <a:r>
              <a:rPr lang="en-US" sz="1300" dirty="0">
                <a:solidFill>
                  <a:srgbClr val="475569"/>
                </a:solidFill>
              </a:rPr>
              <a:t>Add employees, onboarding and offboarding, documents, departments, shifts and holidays.</a:t>
            </a:r>
            <a:endParaRPr lang="en-US" sz="1300" dirty="0"/>
          </a:p>
        </p:txBody>
      </p:sp>
      <p:sp>
        <p:nvSpPr>
          <p:cNvPr id="9" name="Text 5"/>
          <p:cNvSpPr txBox="1"/>
          <p:nvPr/>
        </p:nvSpPr>
        <p:spPr>
          <a:xfrm>
            <a:off x="6263640" y="5120640"/>
            <a:ext cx="5349240" cy="731520"/>
          </a:xfrm>
          <a:prstGeom prst="rect">
            <a:avLst/>
          </a:prstGeom>
          <a:noFill/>
          <a:ln/>
        </p:spPr>
        <p:txBody>
          <a:bodyPr wrap="square" lIns="0" tIns="0" rIns="0" bIns="0" rtlCol="0" anchor="t"/>
          <a:lstStyle/>
          <a:p>
            <a:pPr indent="0" marL="0">
              <a:buNone/>
            </a:pPr>
            <a:r>
              <a:rPr lang="en-US" sz="1300" b="1" dirty="0">
                <a:solidFill>
                  <a:srgbClr val="0F172A"/>
                </a:solidFill>
              </a:rPr>
              <a:t>Helpdesk  </a:t>
            </a:r>
            <a:pPr indent="0" marL="0">
              <a:buNone/>
            </a:pPr>
            <a:r>
              <a:rPr lang="en-US" sz="1300" dirty="0">
                <a:solidFill>
                  <a:srgbClr val="475569"/>
                </a:solidFill>
              </a:rPr>
              <a:t>Assign tickets, reply or add internal notes, watch SLA timers and escalations.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05840"/>
          </a:xfrm>
          <a:prstGeom prst="rect">
            <a:avLst/>
          </a:prstGeom>
          <a:noFill/>
          <a:ln/>
        </p:spPr>
        <p:txBody>
          <a:bodyPr wrap="square" lIns="0" tIns="0" rIns="0" bIns="0" rtlCol="0" anchor="b"/>
          <a:lstStyle/>
          <a:p>
            <a:pPr algn="l" indent="0" marL="0">
              <a:buNone/>
            </a:pPr>
            <a:r>
              <a:rPr lang="en-US" sz="4400" b="1" dirty="0">
                <a:solidFill>
                  <a:schemeClr val="bg1"/>
                </a:solidFill>
              </a:rPr>
              <a:t>Accounts Head &amp; Accounts</a:t>
            </a:r>
            <a:endParaRPr lang="en-US" sz="4400" dirty="0"/>
          </a:p>
        </p:txBody>
      </p:sp>
      <p:sp>
        <p:nvSpPr>
          <p:cNvPr id="3" name="Text 0"/>
          <p:cNvSpPr/>
          <p:nvPr>
            <p:ph idx="101" type="body" hasCustomPrompt="1"/>
          </p:nvPr>
        </p:nvSpPr>
        <p:spPr>
          <a:xfrm>
            <a:off x="731520" y="3794760"/>
            <a:ext cx="10058400" cy="1097280"/>
          </a:xfrm>
          <a:prstGeom prst="rect">
            <a:avLst/>
          </a:prstGeom>
          <a:noFill/>
          <a:ln/>
        </p:spPr>
        <p:txBody>
          <a:bodyPr wrap="square" lIns="0" tIns="0" rIns="0" bIns="0" rtlCol="0" anchor="t"/>
          <a:lstStyle/>
          <a:p>
            <a:pPr algn="l" indent="0" marL="0">
              <a:buNone/>
            </a:pPr>
            <a:r>
              <a:rPr lang="en-US" sz="1800" dirty="0">
                <a:solidFill>
                  <a:srgbClr val="CBD5E1"/>
                </a:solidFill>
              </a:rPr>
              <a:t>Approve and reimburse expenses, raise invoices from approved work, and follow up collections.</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200" b="1" dirty="0">
                <a:solidFill>
                  <a:schemeClr val="tx2"/>
                </a:solidFill>
              </a:rPr>
              <a:t>Accounts: expenses and billing</a:t>
            </a:r>
            <a:endParaRPr lang="en-US" sz="32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rgbClr val="64748B"/>
                </a:solidFill>
              </a:rPr>
              <a:t>Expenses › Approvals and Audits › Billing &amp; Invoices</a:t>
            </a:r>
            <a:endParaRPr lang="en-US" sz="1500" dirty="0"/>
          </a:p>
        </p:txBody>
      </p:sp>
      <p:sp>
        <p:nvSpPr>
          <p:cNvPr id="4" name="frame-acc-expense-appr"/>
          <p:cNvSpPr/>
          <p:nvPr/>
        </p:nvSpPr>
        <p:spPr>
          <a:xfrm>
            <a:off x="493776" y="1545336"/>
            <a:ext cx="5458968" cy="3453003"/>
          </a:xfrm>
          <a:prstGeom prst="roundRect">
            <a:avLst>
              <a:gd name="adj" fmla="val 2119"/>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5" name="shot-acc-expense-appr" descr="Expense approvals">    </p:cNvPr>
          <p:cNvPicPr>
            <a:picLocks noChangeAspect="1"/>
          </p:cNvPicPr>
          <p:nvPr/>
        </p:nvPicPr>
        <p:blipFill>
          <a:blip r:embed="rId1"/>
          <a:stretch>
            <a:fillRect/>
          </a:stretch>
        </p:blipFill>
        <p:spPr>
          <a:xfrm>
            <a:off x="548640" y="1600200"/>
            <a:ext cx="5349240" cy="3343275"/>
          </a:xfrm>
          <a:prstGeom prst="rect">
            <a:avLst/>
          </a:prstGeom>
        </p:spPr>
      </p:pic>
      <p:sp>
        <p:nvSpPr>
          <p:cNvPr id="6" name="frame-acc-billing"/>
          <p:cNvSpPr/>
          <p:nvPr/>
        </p:nvSpPr>
        <p:spPr>
          <a:xfrm>
            <a:off x="6208776" y="1545336"/>
            <a:ext cx="5458968" cy="3453003"/>
          </a:xfrm>
          <a:prstGeom prst="roundRect">
            <a:avLst>
              <a:gd name="adj" fmla="val 2119"/>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7" name="shot-acc-billing" descr="Billing and collections">    </p:cNvPr>
          <p:cNvPicPr>
            <a:picLocks noChangeAspect="1"/>
          </p:cNvPicPr>
          <p:nvPr/>
        </p:nvPicPr>
        <p:blipFill>
          <a:blip r:embed="rId2"/>
          <a:stretch>
            <a:fillRect/>
          </a:stretch>
        </p:blipFill>
        <p:spPr>
          <a:xfrm>
            <a:off x="6263640" y="1600200"/>
            <a:ext cx="5349240" cy="3343275"/>
          </a:xfrm>
          <a:prstGeom prst="rect">
            <a:avLst/>
          </a:prstGeom>
        </p:spPr>
      </p:pic>
      <p:sp>
        <p:nvSpPr>
          <p:cNvPr id="8" name="Text 4"/>
          <p:cNvSpPr txBox="1"/>
          <p:nvPr/>
        </p:nvSpPr>
        <p:spPr>
          <a:xfrm>
            <a:off x="548640" y="5120640"/>
            <a:ext cx="5349240" cy="731520"/>
          </a:xfrm>
          <a:prstGeom prst="rect">
            <a:avLst/>
          </a:prstGeom>
          <a:noFill/>
          <a:ln/>
        </p:spPr>
        <p:txBody>
          <a:bodyPr wrap="square" lIns="0" tIns="0" rIns="0" bIns="0" rtlCol="0" anchor="t"/>
          <a:lstStyle/>
          <a:p>
            <a:pPr indent="0" marL="0">
              <a:buNone/>
            </a:pPr>
            <a:r>
              <a:rPr lang="en-US" sz="1300" b="1" dirty="0">
                <a:solidFill>
                  <a:srgbClr val="0F172A"/>
                </a:solidFill>
              </a:rPr>
              <a:t>Expense approvals  </a:t>
            </a:r>
            <a:pPr indent="0" marL="0">
              <a:buNone/>
            </a:pPr>
            <a:r>
              <a:rPr lang="en-US" sz="1300" dirty="0">
                <a:solidFill>
                  <a:srgbClr val="475569"/>
                </a:solidFill>
              </a:rPr>
              <a:t>Approve or reject each claim, see the bill attached, then mark it Reimbursed.</a:t>
            </a:r>
            <a:endParaRPr lang="en-US" sz="1300" dirty="0"/>
          </a:p>
        </p:txBody>
      </p:sp>
      <p:sp>
        <p:nvSpPr>
          <p:cNvPr id="9" name="Text 5"/>
          <p:cNvSpPr txBox="1"/>
          <p:nvPr/>
        </p:nvSpPr>
        <p:spPr>
          <a:xfrm>
            <a:off x="6263640" y="5120640"/>
            <a:ext cx="5349240" cy="731520"/>
          </a:xfrm>
          <a:prstGeom prst="rect">
            <a:avLst/>
          </a:prstGeom>
          <a:noFill/>
          <a:ln/>
        </p:spPr>
        <p:txBody>
          <a:bodyPr wrap="square" lIns="0" tIns="0" rIns="0" bIns="0" rtlCol="0" anchor="t"/>
          <a:lstStyle/>
          <a:p>
            <a:pPr indent="0" marL="0">
              <a:buNone/>
            </a:pPr>
            <a:r>
              <a:rPr lang="en-US" sz="1300" b="1" dirty="0">
                <a:solidFill>
                  <a:srgbClr val="0F172A"/>
                </a:solidFill>
              </a:rPr>
              <a:t>Billing &amp; collections  </a:t>
            </a:r>
            <a:pPr indent="0" marL="0">
              <a:buNone/>
            </a:pPr>
            <a:r>
              <a:rPr lang="en-US" sz="1300" dirty="0">
                <a:solidFill>
                  <a:srgbClr val="475569"/>
                </a:solidFill>
              </a:rPr>
              <a:t>Ready-to-bill list per engagement, invoices, receivables ageing and payments.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05840"/>
          </a:xfrm>
          <a:prstGeom prst="rect">
            <a:avLst/>
          </a:prstGeom>
          <a:noFill/>
          <a:ln/>
        </p:spPr>
        <p:txBody>
          <a:bodyPr wrap="square" lIns="0" tIns="0" rIns="0" bIns="0" rtlCol="0" anchor="b"/>
          <a:lstStyle/>
          <a:p>
            <a:pPr algn="l" indent="0" marL="0">
              <a:buNone/>
            </a:pPr>
            <a:r>
              <a:rPr lang="en-US" sz="4400" b="1" dirty="0">
                <a:solidFill>
                  <a:schemeClr val="bg1"/>
                </a:solidFill>
              </a:rPr>
              <a:t>Partners &amp; Directors</a:t>
            </a:r>
            <a:endParaRPr lang="en-US" sz="4400" dirty="0"/>
          </a:p>
        </p:txBody>
      </p:sp>
      <p:sp>
        <p:nvSpPr>
          <p:cNvPr id="3" name="Text 0"/>
          <p:cNvSpPr/>
          <p:nvPr>
            <p:ph idx="101" type="body" hasCustomPrompt="1"/>
          </p:nvPr>
        </p:nvSpPr>
        <p:spPr>
          <a:xfrm>
            <a:off x="731520" y="3794760"/>
            <a:ext cx="10058400" cy="1097280"/>
          </a:xfrm>
          <a:prstGeom prst="rect">
            <a:avLst/>
          </a:prstGeom>
          <a:noFill/>
          <a:ln/>
        </p:spPr>
        <p:txBody>
          <a:bodyPr wrap="square" lIns="0" tIns="0" rIns="0" bIns="0" rtlCol="0" anchor="t"/>
          <a:lstStyle/>
          <a:p>
            <a:pPr algn="l" indent="0" marL="0">
              <a:buNone/>
            </a:pPr>
            <a:r>
              <a:rPr lang="en-US" sz="1800" dirty="0">
                <a:solidFill>
                  <a:srgbClr val="CBD5E1"/>
                </a:solidFill>
              </a:rPr>
              <a:t>See every screen. Watch delivery and money across the firm, and control who can see what.</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200" b="1" dirty="0">
                <a:solidFill>
                  <a:schemeClr val="tx2"/>
                </a:solidFill>
              </a:rPr>
              <a:t>Partners: the firm at a glance</a:t>
            </a:r>
            <a:endParaRPr lang="en-US" sz="32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rgbClr val="64748B"/>
                </a:solidFill>
              </a:rPr>
              <a:t>Audits › Audit Dashboard and Reports › Executive overview</a:t>
            </a:r>
            <a:endParaRPr lang="en-US" sz="1500" dirty="0"/>
          </a:p>
        </p:txBody>
      </p:sp>
      <p:sp>
        <p:nvSpPr>
          <p:cNvPr id="4" name="frame-ptr-audit-dash"/>
          <p:cNvSpPr/>
          <p:nvPr/>
        </p:nvSpPr>
        <p:spPr>
          <a:xfrm>
            <a:off x="493776" y="1545336"/>
            <a:ext cx="5458968" cy="3453003"/>
          </a:xfrm>
          <a:prstGeom prst="roundRect">
            <a:avLst>
              <a:gd name="adj" fmla="val 2119"/>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5" name="shot-ptr-audit-dash" descr="Audit dashboard">    </p:cNvPr>
          <p:cNvPicPr>
            <a:picLocks noChangeAspect="1"/>
          </p:cNvPicPr>
          <p:nvPr/>
        </p:nvPicPr>
        <p:blipFill>
          <a:blip r:embed="rId1"/>
          <a:stretch>
            <a:fillRect/>
          </a:stretch>
        </p:blipFill>
        <p:spPr>
          <a:xfrm>
            <a:off x="548640" y="1600200"/>
            <a:ext cx="5349240" cy="3343275"/>
          </a:xfrm>
          <a:prstGeom prst="rect">
            <a:avLst/>
          </a:prstGeom>
        </p:spPr>
      </p:pic>
      <p:sp>
        <p:nvSpPr>
          <p:cNvPr id="6" name="frame-ptr-reports"/>
          <p:cNvSpPr/>
          <p:nvPr/>
        </p:nvSpPr>
        <p:spPr>
          <a:xfrm>
            <a:off x="6208776" y="1545336"/>
            <a:ext cx="5458968" cy="3453003"/>
          </a:xfrm>
          <a:prstGeom prst="roundRect">
            <a:avLst>
              <a:gd name="adj" fmla="val 2119"/>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7" name="shot-ptr-reports" descr="Executive overview report">    </p:cNvPr>
          <p:cNvPicPr>
            <a:picLocks noChangeAspect="1"/>
          </p:cNvPicPr>
          <p:nvPr/>
        </p:nvPicPr>
        <p:blipFill>
          <a:blip r:embed="rId2"/>
          <a:stretch>
            <a:fillRect/>
          </a:stretch>
        </p:blipFill>
        <p:spPr>
          <a:xfrm>
            <a:off x="6263640" y="1600200"/>
            <a:ext cx="5349240" cy="3343275"/>
          </a:xfrm>
          <a:prstGeom prst="rect">
            <a:avLst/>
          </a:prstGeom>
        </p:spPr>
      </p:pic>
      <p:sp>
        <p:nvSpPr>
          <p:cNvPr id="8" name="Text 4"/>
          <p:cNvSpPr txBox="1"/>
          <p:nvPr/>
        </p:nvSpPr>
        <p:spPr>
          <a:xfrm>
            <a:off x="548640" y="5120640"/>
            <a:ext cx="5349240" cy="731520"/>
          </a:xfrm>
          <a:prstGeom prst="rect">
            <a:avLst/>
          </a:prstGeom>
          <a:noFill/>
          <a:ln/>
        </p:spPr>
        <p:txBody>
          <a:bodyPr wrap="square" lIns="0" tIns="0" rIns="0" bIns="0" rtlCol="0" anchor="t"/>
          <a:lstStyle/>
          <a:p>
            <a:pPr indent="0" marL="0">
              <a:buNone/>
            </a:pPr>
            <a:r>
              <a:rPr lang="en-US" sz="1300" b="1" dirty="0">
                <a:solidFill>
                  <a:srgbClr val="0F172A"/>
                </a:solidFill>
              </a:rPr>
              <a:t>Audit Dashboard  </a:t>
            </a:r>
            <a:pPr indent="0" marL="0">
              <a:buNone/>
            </a:pPr>
            <a:r>
              <a:rPr lang="en-US" sz="1300" dirty="0">
                <a:solidFill>
                  <a:srgbClr val="475569"/>
                </a:solidFill>
              </a:rPr>
              <a:t>Every engagement’s risk, hours against budget, overdue and blocked work.</a:t>
            </a:r>
            <a:endParaRPr lang="en-US" sz="1300" dirty="0"/>
          </a:p>
        </p:txBody>
      </p:sp>
      <p:sp>
        <p:nvSpPr>
          <p:cNvPr id="9" name="Text 5"/>
          <p:cNvSpPr txBox="1"/>
          <p:nvPr/>
        </p:nvSpPr>
        <p:spPr>
          <a:xfrm>
            <a:off x="6263640" y="5120640"/>
            <a:ext cx="5349240" cy="731520"/>
          </a:xfrm>
          <a:prstGeom prst="rect">
            <a:avLst/>
          </a:prstGeom>
          <a:noFill/>
          <a:ln/>
        </p:spPr>
        <p:txBody>
          <a:bodyPr wrap="square" lIns="0" tIns="0" rIns="0" bIns="0" rtlCol="0" anchor="t"/>
          <a:lstStyle/>
          <a:p>
            <a:pPr indent="0" marL="0">
              <a:buNone/>
            </a:pPr>
            <a:r>
              <a:rPr lang="en-US" sz="1300" b="1" dirty="0">
                <a:solidFill>
                  <a:srgbClr val="0F172A"/>
                </a:solidFill>
              </a:rPr>
              <a:t>Reports  </a:t>
            </a:r>
            <a:pPr indent="0" marL="0">
              <a:buNone/>
            </a:pPr>
            <a:r>
              <a:rPr lang="en-US" sz="1300" dirty="0">
                <a:solidFill>
                  <a:srgbClr val="475569"/>
                </a:solidFill>
              </a:rPr>
              <a:t>Billed, collected, outstanding, margin, utilisation and punctuality.</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200" b="1" dirty="0">
                <a:solidFill>
                  <a:schemeClr val="tx2"/>
                </a:solidFill>
              </a:rPr>
              <a:t>Audit Checklists: the standard steps for every audit</a:t>
            </a:r>
            <a:endParaRPr lang="en-US" sz="32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rgbClr val="64748B"/>
                </a:solidFill>
              </a:rPr>
              <a:t>Audits › Audit Checklists (Partners, Directors, Heads, Managers)</a:t>
            </a:r>
            <a:endParaRPr lang="en-US" sz="1500" dirty="0"/>
          </a:p>
        </p:txBody>
      </p:sp>
      <p:sp>
        <p:nvSpPr>
          <p:cNvPr id="4" name="frame-ptr-checklists"/>
          <p:cNvSpPr/>
          <p:nvPr/>
        </p:nvSpPr>
        <p:spPr>
          <a:xfrm>
            <a:off x="493776" y="1499616"/>
            <a:ext cx="7516368" cy="4738878"/>
          </a:xfrm>
          <a:prstGeom prst="roundRect">
            <a:avLst>
              <a:gd name="adj" fmla="val 1544"/>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5" name="shot-ptr-checklists" descr="Audit checklists screen">    </p:cNvPr>
          <p:cNvPicPr>
            <a:picLocks noChangeAspect="1"/>
          </p:cNvPicPr>
          <p:nvPr/>
        </p:nvPicPr>
        <p:blipFill>
          <a:blip r:embed="rId1"/>
          <a:stretch>
            <a:fillRect/>
          </a:stretch>
        </p:blipFill>
        <p:spPr>
          <a:xfrm>
            <a:off x="548640" y="1554480"/>
            <a:ext cx="7406640" cy="4629150"/>
          </a:xfrm>
          <a:prstGeom prst="rect">
            <a:avLst/>
          </a:prstGeom>
        </p:spPr>
      </p:pic>
      <p:sp>
        <p:nvSpPr>
          <p:cNvPr id="6" name="num-1"/>
          <p:cNvSpPr/>
          <p:nvPr/>
        </p:nvSpPr>
        <p:spPr>
          <a:xfrm>
            <a:off x="8366760" y="1645920"/>
            <a:ext cx="384048" cy="384048"/>
          </a:xfrm>
          <a:prstGeom prst="ellipse">
            <a:avLst/>
          </a:prstGeom>
          <a:solidFill>
            <a:srgbClr val="7C3AED"/>
          </a:solidFill>
          <a:ln w="12700">
            <a:solidFill>
              <a:srgbClr val="7C3AED"/>
            </a:solidFill>
            <a:prstDash val="solid"/>
          </a:ln>
        </p:spPr>
      </p:sp>
      <p:sp>
        <p:nvSpPr>
          <p:cNvPr id="7" name="Text 4"/>
          <p:cNvSpPr txBox="1"/>
          <p:nvPr/>
        </p:nvSpPr>
        <p:spPr>
          <a:xfrm>
            <a:off x="836676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5"/>
          <p:cNvSpPr txBox="1"/>
          <p:nvPr/>
        </p:nvSpPr>
        <p:spPr>
          <a:xfrm>
            <a:off x="8897112" y="1609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Write the steps</a:t>
            </a:r>
            <a:endParaRPr lang="en-US" sz="1500" dirty="0"/>
          </a:p>
          <a:p>
            <a:pPr indent="0" marL="0">
              <a:spcAft>
                <a:spcPts val="200"/>
              </a:spcAft>
              <a:buNone/>
            </a:pPr>
            <a:r>
              <a:rPr lang="en-US" sz="1300" dirty="0">
                <a:solidFill>
                  <a:srgbClr val="475569"/>
                </a:solidFill>
              </a:rPr>
              <a:t>Tasks grouped by stage, with the hours each should take.</a:t>
            </a:r>
            <a:endParaRPr lang="en-US" sz="1500" dirty="0"/>
          </a:p>
        </p:txBody>
      </p:sp>
      <p:sp>
        <p:nvSpPr>
          <p:cNvPr id="9" name="num-2"/>
          <p:cNvSpPr/>
          <p:nvPr/>
        </p:nvSpPr>
        <p:spPr>
          <a:xfrm>
            <a:off x="8366760" y="2788920"/>
            <a:ext cx="384048" cy="384048"/>
          </a:xfrm>
          <a:prstGeom prst="ellipse">
            <a:avLst/>
          </a:prstGeom>
          <a:solidFill>
            <a:srgbClr val="7C3AED"/>
          </a:solidFill>
          <a:ln w="12700">
            <a:solidFill>
              <a:srgbClr val="7C3AED"/>
            </a:solidFill>
            <a:prstDash val="solid"/>
          </a:ln>
        </p:spPr>
      </p:sp>
      <p:sp>
        <p:nvSpPr>
          <p:cNvPr id="10" name="Text 7"/>
          <p:cNvSpPr txBox="1"/>
          <p:nvPr/>
        </p:nvSpPr>
        <p:spPr>
          <a:xfrm>
            <a:off x="8366760" y="2788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8897112" y="2752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Switch it on</a:t>
            </a:r>
            <a:endParaRPr lang="en-US" sz="1500" dirty="0"/>
          </a:p>
          <a:p>
            <a:pPr indent="0" marL="0">
              <a:spcAft>
                <a:spcPts val="200"/>
              </a:spcAft>
              <a:buNone/>
            </a:pPr>
            <a:r>
              <a:rPr lang="en-US" sz="1300" dirty="0">
                <a:solidFill>
                  <a:srgbClr val="475569"/>
                </a:solidFill>
              </a:rPr>
              <a:t>Only checklists marked In use are picked for new audits.</a:t>
            </a:r>
            <a:endParaRPr lang="en-US" sz="1500" dirty="0"/>
          </a:p>
        </p:txBody>
      </p:sp>
      <p:sp>
        <p:nvSpPr>
          <p:cNvPr id="12" name="num-3"/>
          <p:cNvSpPr/>
          <p:nvPr/>
        </p:nvSpPr>
        <p:spPr>
          <a:xfrm>
            <a:off x="8366760" y="3931920"/>
            <a:ext cx="384048" cy="384048"/>
          </a:xfrm>
          <a:prstGeom prst="ellipse">
            <a:avLst/>
          </a:prstGeom>
          <a:solidFill>
            <a:srgbClr val="7C3AED"/>
          </a:solidFill>
          <a:ln w="12700">
            <a:solidFill>
              <a:srgbClr val="7C3AED"/>
            </a:solidFill>
            <a:prstDash val="solid"/>
          </a:ln>
        </p:spPr>
      </p:sp>
      <p:sp>
        <p:nvSpPr>
          <p:cNvPr id="13" name="Text 10"/>
          <p:cNvSpPr txBox="1"/>
          <p:nvPr/>
        </p:nvSpPr>
        <p:spPr>
          <a:xfrm>
            <a:off x="8366760" y="3931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1"/>
          <p:cNvSpPr txBox="1"/>
          <p:nvPr/>
        </p:nvSpPr>
        <p:spPr>
          <a:xfrm>
            <a:off x="8897112" y="3895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Most specific wins</a:t>
            </a:r>
            <a:endParaRPr lang="en-US" sz="1500" dirty="0"/>
          </a:p>
          <a:p>
            <a:pPr indent="0" marL="0">
              <a:spcAft>
                <a:spcPts val="200"/>
              </a:spcAft>
              <a:buNone/>
            </a:pPr>
            <a:r>
              <a:rPr lang="en-US" sz="1300" dirty="0">
                <a:solidFill>
                  <a:srgbClr val="475569"/>
                </a:solidFill>
              </a:rPr>
              <a:t>Project, then company, then audit type, then the firm standard.</a:t>
            </a:r>
            <a:endParaRPr lang="en-US" sz="1500" dirty="0"/>
          </a:p>
        </p:txBody>
      </p:sp>
      <p:sp>
        <p:nvSpPr>
          <p:cNvPr id="15" name="num-4"/>
          <p:cNvSpPr/>
          <p:nvPr/>
        </p:nvSpPr>
        <p:spPr>
          <a:xfrm>
            <a:off x="8366760" y="5074920"/>
            <a:ext cx="384048" cy="384048"/>
          </a:xfrm>
          <a:prstGeom prst="ellipse">
            <a:avLst/>
          </a:prstGeom>
          <a:solidFill>
            <a:srgbClr val="7C3AED"/>
          </a:solidFill>
          <a:ln w="12700">
            <a:solidFill>
              <a:srgbClr val="7C3AED"/>
            </a:solidFill>
            <a:prstDash val="solid"/>
          </a:ln>
        </p:spPr>
      </p:sp>
      <p:sp>
        <p:nvSpPr>
          <p:cNvPr id="16" name="Text 13"/>
          <p:cNvSpPr txBox="1"/>
          <p:nvPr/>
        </p:nvSpPr>
        <p:spPr>
          <a:xfrm>
            <a:off x="8366760" y="5074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Text 14"/>
          <p:cNvSpPr txBox="1"/>
          <p:nvPr/>
        </p:nvSpPr>
        <p:spPr>
          <a:xfrm>
            <a:off x="8897112" y="5038344"/>
            <a:ext cx="2761488" cy="1097280"/>
          </a:xfrm>
          <a:prstGeom prst="rect">
            <a:avLst/>
          </a:prstGeom>
          <a:noFill/>
          <a:ln/>
        </p:spPr>
        <p:txBody>
          <a:bodyPr wrap="square" lIns="0" tIns="0" rIns="0" bIns="0" rtlCol="0" anchor="t"/>
          <a:lstStyle/>
          <a:p>
            <a:pPr indent="0" marL="0">
              <a:spcAft>
                <a:spcPts val="200"/>
              </a:spcAft>
              <a:buNone/>
            </a:pPr>
            <a:r>
              <a:rPr lang="en-US" sz="1500" b="1" dirty="0">
                <a:solidFill>
                  <a:srgbClr val="0F172A"/>
                </a:solidFill>
              </a:rPr>
              <a:t>Safe to change</a:t>
            </a:r>
            <a:endParaRPr lang="en-US" sz="1500" dirty="0"/>
          </a:p>
          <a:p>
            <a:pPr indent="0" marL="0">
              <a:spcAft>
                <a:spcPts val="200"/>
              </a:spcAft>
              <a:buNone/>
            </a:pPr>
            <a:r>
              <a:rPr lang="en-US" sz="1300" dirty="0">
                <a:solidFill>
                  <a:srgbClr val="475569"/>
                </a:solidFill>
              </a:rPr>
              <a:t>Edits make a new version; running audits keep their copy.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200" b="1" dirty="0">
                <a:solidFill>
                  <a:schemeClr val="tx2"/>
                </a:solidFill>
              </a:rPr>
              <a:t>Who sees which screen: people &amp; time</a:t>
            </a:r>
            <a:endParaRPr lang="en-US" sz="32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rgbClr val="64748B"/>
                </a:solidFill>
              </a:rPr>
              <a:t>Taken from the live access settings, one real user per designation</a:t>
            </a:r>
            <a:endParaRPr lang="en-US" sz="1500" dirty="0"/>
          </a:p>
        </p:txBody>
      </p:sp>
      <p:graphicFrame>
        <p:nvGraphicFramePr>
          <p:cNvPr id="24" name="access-matrix"/>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108960"/>
                <a:gridCol w="883920"/>
                <a:gridCol w="883920"/>
                <a:gridCol w="883920"/>
                <a:gridCol w="883920"/>
                <a:gridCol w="883920"/>
                <a:gridCol w="883920"/>
                <a:gridCol w="883920"/>
                <a:gridCol w="883920"/>
                <a:gridCol w="883920"/>
              </a:tblGrid>
              <a:tr h="292608">
                <a:tc>
                  <a:txBody>
                    <a:bodyPr/>
                    <a:lstStyle/>
                    <a:p>
                      <a:pPr indent="0" marL="0">
                        <a:buNone/>
                      </a:pPr>
                      <a:r>
                        <a:rPr lang="en-US" sz="1100" b="1" dirty="0">
                          <a:solidFill>
                            <a:srgbClr val="FFFFFF"/>
                          </a:solidFill>
                        </a:rPr>
                        <a:t>Screen</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c>
                  <a:txBody>
                    <a:bodyPr/>
                    <a:lstStyle/>
                    <a:p>
                      <a:pPr algn="ctr" indent="0" marL="0">
                        <a:buNone/>
                      </a:pPr>
                      <a:r>
                        <a:rPr lang="en-US" sz="1000" b="1" dirty="0">
                          <a:solidFill>
                            <a:srgbClr val="FFFFFF"/>
                          </a:solidFill>
                        </a:rPr>
                        <a:t>Partner / Director</a:t>
                      </a:r>
                      <a:endParaRPr lang="en-US" sz="10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c>
                  <a:txBody>
                    <a:bodyPr/>
                    <a:lstStyle/>
                    <a:p>
                      <a:pPr algn="ctr" indent="0" marL="0">
                        <a:buNone/>
                      </a:pPr>
                      <a:r>
                        <a:rPr lang="en-US" sz="1000" b="1" dirty="0">
                          <a:solidFill>
                            <a:srgbClr val="FFFFFF"/>
                          </a:solidFill>
                        </a:rPr>
                        <a:t>HR Head</a:t>
                      </a:r>
                      <a:endParaRPr lang="en-US" sz="10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c>
                  <a:txBody>
                    <a:bodyPr/>
                    <a:lstStyle/>
                    <a:p>
                      <a:pPr algn="ctr" indent="0" marL="0">
                        <a:buNone/>
                      </a:pPr>
                      <a:r>
                        <a:rPr lang="en-US" sz="1000" b="1" dirty="0">
                          <a:solidFill>
                            <a:srgbClr val="FFFFFF"/>
                          </a:solidFill>
                        </a:rPr>
                        <a:t>HR</a:t>
                      </a:r>
                      <a:endParaRPr lang="en-US" sz="10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c>
                  <a:txBody>
                    <a:bodyPr/>
                    <a:lstStyle/>
                    <a:p>
                      <a:pPr algn="ctr" indent="0" marL="0">
                        <a:buNone/>
                      </a:pPr>
                      <a:r>
                        <a:rPr lang="en-US" sz="1000" b="1" dirty="0">
                          <a:solidFill>
                            <a:srgbClr val="FFFFFF"/>
                          </a:solidFill>
                        </a:rPr>
                        <a:t>Accts Head</a:t>
                      </a:r>
                      <a:endParaRPr lang="en-US" sz="10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c>
                  <a:txBody>
                    <a:bodyPr/>
                    <a:lstStyle/>
                    <a:p>
                      <a:pPr algn="ctr" indent="0" marL="0">
                        <a:buNone/>
                      </a:pPr>
                      <a:r>
                        <a:rPr lang="en-US" sz="1000" b="1" dirty="0">
                          <a:solidFill>
                            <a:srgbClr val="FFFFFF"/>
                          </a:solidFill>
                        </a:rPr>
                        <a:t>Accounts</a:t>
                      </a:r>
                      <a:endParaRPr lang="en-US" sz="10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c>
                  <a:txBody>
                    <a:bodyPr/>
                    <a:lstStyle/>
                    <a:p>
                      <a:pPr algn="ctr" indent="0" marL="0">
                        <a:buNone/>
                      </a:pPr>
                      <a:r>
                        <a:rPr lang="en-US" sz="1000" b="1" dirty="0">
                          <a:solidFill>
                            <a:srgbClr val="FFFFFF"/>
                          </a:solidFill>
                        </a:rPr>
                        <a:t>Sr Manager</a:t>
                      </a:r>
                      <a:endParaRPr lang="en-US" sz="10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c>
                  <a:txBody>
                    <a:bodyPr/>
                    <a:lstStyle/>
                    <a:p>
                      <a:pPr algn="ctr" indent="0" marL="0">
                        <a:buNone/>
                      </a:pPr>
                      <a:r>
                        <a:rPr lang="en-US" sz="1000" b="1" dirty="0">
                          <a:solidFill>
                            <a:srgbClr val="FFFFFF"/>
                          </a:solidFill>
                        </a:rPr>
                        <a:t>Manager</a:t>
                      </a:r>
                      <a:endParaRPr lang="en-US" sz="10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c>
                  <a:txBody>
                    <a:bodyPr/>
                    <a:lstStyle/>
                    <a:p>
                      <a:pPr algn="ctr" indent="0" marL="0">
                        <a:buNone/>
                      </a:pPr>
                      <a:r>
                        <a:rPr lang="en-US" sz="1000" b="1" dirty="0">
                          <a:solidFill>
                            <a:srgbClr val="FFFFFF"/>
                          </a:solidFill>
                        </a:rPr>
                        <a:t>Sr Consultant</a:t>
                      </a:r>
                      <a:endParaRPr lang="en-US" sz="10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c>
                  <a:txBody>
                    <a:bodyPr/>
                    <a:lstStyle/>
                    <a:p>
                      <a:pPr algn="ctr" indent="0" marL="0">
                        <a:buNone/>
                      </a:pPr>
                      <a:r>
                        <a:rPr lang="en-US" sz="1000" b="1" dirty="0">
                          <a:solidFill>
                            <a:srgbClr val="FFFFFF"/>
                          </a:solidFill>
                        </a:rPr>
                        <a:t>Staff*</a:t>
                      </a:r>
                      <a:endParaRPr lang="en-US" sz="10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r>
              <a:tr h="292608">
                <a:tc>
                  <a:txBody>
                    <a:bodyPr/>
                    <a:lstStyle/>
                    <a:p>
                      <a:pPr indent="0" marL="0">
                        <a:buNone/>
                      </a:pPr>
                      <a:r>
                        <a:rPr lang="en-US" sz="1100" dirty="0">
                          <a:solidFill>
                            <a:srgbClr val="0F172A"/>
                          </a:solidFill>
                        </a:rPr>
                        <a:t>Dashboard, Messages, Files, My Profile</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r>
              <a:tr h="292608">
                <a:tc>
                  <a:txBody>
                    <a:bodyPr/>
                    <a:lstStyle/>
                    <a:p>
                      <a:pPr indent="0" marL="0">
                        <a:buNone/>
                      </a:pPr>
                      <a:r>
                        <a:rPr lang="en-US" sz="1100" dirty="0">
                          <a:solidFill>
                            <a:srgbClr val="0F172A"/>
                          </a:solidFill>
                        </a:rPr>
                        <a:t>Employee Directory</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0F172A"/>
                          </a:solidFill>
                        </a:rPr>
                        <a:t>Departments &amp; Designations</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r>
              <a:tr h="292608">
                <a:tc>
                  <a:txBody>
                    <a:bodyPr/>
                    <a:lstStyle/>
                    <a:p>
                      <a:pPr indent="0" marL="0">
                        <a:buNone/>
                      </a:pPr>
                      <a:r>
                        <a:rPr lang="en-US" sz="1100" dirty="0">
                          <a:solidFill>
                            <a:srgbClr val="0F172A"/>
                          </a:solidFill>
                        </a:rPr>
                        <a:t>Onboarding &amp; Offboarding</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0F172A"/>
                          </a:solidFill>
                        </a:rPr>
                        <a:t>My Attendance &amp; Regularization</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r>
              <a:tr h="292608">
                <a:tc>
                  <a:txBody>
                    <a:bodyPr/>
                    <a:lstStyle/>
                    <a:p>
                      <a:pPr indent="0" marL="0">
                        <a:buNone/>
                      </a:pPr>
                      <a:r>
                        <a:rPr lang="en-US" sz="1100" dirty="0">
                          <a:solidFill>
                            <a:srgbClr val="0F172A"/>
                          </a:solidFill>
                        </a:rPr>
                        <a:t>Shifts</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0F172A"/>
                          </a:solidFill>
                        </a:rPr>
                        <a:t>Team &amp; Subordinate Attendance</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r>
              <a:tr h="292608">
                <a:tc>
                  <a:txBody>
                    <a:bodyPr/>
                    <a:lstStyle/>
                    <a:p>
                      <a:pPr indent="0" marL="0">
                        <a:buNone/>
                      </a:pPr>
                      <a:r>
                        <a:rPr lang="en-US" sz="1100" dirty="0">
                          <a:solidFill>
                            <a:srgbClr val="0F172A"/>
                          </a:solidFill>
                        </a:rPr>
                        <a:t>My Leave, Apply Leave, Team Calendar</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0F172A"/>
                          </a:solidFill>
                        </a:rPr>
                        <a:t>Leave Approvals</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r>
              <a:tr h="292608">
                <a:tc>
                  <a:txBody>
                    <a:bodyPr/>
                    <a:lstStyle/>
                    <a:p>
                      <a:pPr indent="0" marL="0">
                        <a:buNone/>
                      </a:pPr>
                      <a:r>
                        <a:rPr lang="en-US" sz="1100" dirty="0">
                          <a:solidFill>
                            <a:srgbClr val="0F172A"/>
                          </a:solidFill>
                        </a:rPr>
                        <a:t>HR Helpdesk: My Tickets</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0F172A"/>
                          </a:solidFill>
                        </a:rPr>
                        <a:t>HR Helpdesk: HR Tickets</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r>
              <a:tr h="292608">
                <a:tc>
                  <a:txBody>
                    <a:bodyPr/>
                    <a:lstStyle/>
                    <a:p>
                      <a:pPr indent="0" marL="0">
                        <a:buNone/>
                      </a:pPr>
                      <a:r>
                        <a:rPr lang="en-US" sz="1100" dirty="0">
                          <a:solidFill>
                            <a:srgbClr val="0F172A"/>
                          </a:solidFill>
                        </a:rPr>
                        <a:t>Helpdesk Settings</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16752"/>
            <a:ext cx="11064240" cy="347472"/>
          </a:xfrm>
          <a:prstGeom prst="rect">
            <a:avLst/>
          </a:prstGeom>
          <a:noFill/>
          <a:ln/>
        </p:spPr>
        <p:txBody>
          <a:bodyPr wrap="square" lIns="0" tIns="0" rIns="0" bIns="0" rtlCol="0" anchor="t"/>
          <a:lstStyle/>
          <a:p>
            <a:pPr indent="0" marL="0">
              <a:buNone/>
            </a:pPr>
            <a:r>
              <a:rPr lang="en-US" sz="1000" dirty="0">
                <a:solidFill>
                  <a:srgbClr val="64748B"/>
                </a:solidFill>
              </a:rPr>
              <a:t>* Staff = Consultants, Junior Consultants and Associates. Team screens (Team Attendance, approvals, Location Log, Reports) also appear for anyone who has people reporting to them. Directors see the same as Partners. Admins can change any of this in Settings › Access Control.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200" b="1" dirty="0">
                <a:solidFill>
                  <a:schemeClr val="tx2"/>
                </a:solidFill>
              </a:rPr>
              <a:t>Who sees which screen: work, money &amp; admin</a:t>
            </a:r>
            <a:endParaRPr lang="en-US" sz="32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rgbClr val="64748B"/>
                </a:solidFill>
              </a:rPr>
              <a:t>Taken from the live access settings, one real user per designation</a:t>
            </a:r>
            <a:endParaRPr lang="en-US" sz="1500" dirty="0"/>
          </a:p>
        </p:txBody>
      </p:sp>
      <p:graphicFrame>
        <p:nvGraphicFramePr>
          <p:cNvPr id="25" name="access-matrix"/>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108960"/>
                <a:gridCol w="883920"/>
                <a:gridCol w="883920"/>
                <a:gridCol w="883920"/>
                <a:gridCol w="883920"/>
                <a:gridCol w="883920"/>
                <a:gridCol w="883920"/>
                <a:gridCol w="883920"/>
                <a:gridCol w="883920"/>
                <a:gridCol w="883920"/>
              </a:tblGrid>
              <a:tr h="292608">
                <a:tc>
                  <a:txBody>
                    <a:bodyPr/>
                    <a:lstStyle/>
                    <a:p>
                      <a:pPr indent="0" marL="0">
                        <a:buNone/>
                      </a:pPr>
                      <a:r>
                        <a:rPr lang="en-US" sz="1100" b="1" dirty="0">
                          <a:solidFill>
                            <a:srgbClr val="FFFFFF"/>
                          </a:solidFill>
                        </a:rPr>
                        <a:t>Screen</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c>
                  <a:txBody>
                    <a:bodyPr/>
                    <a:lstStyle/>
                    <a:p>
                      <a:pPr algn="ctr" indent="0" marL="0">
                        <a:buNone/>
                      </a:pPr>
                      <a:r>
                        <a:rPr lang="en-US" sz="1000" b="1" dirty="0">
                          <a:solidFill>
                            <a:srgbClr val="FFFFFF"/>
                          </a:solidFill>
                        </a:rPr>
                        <a:t>Partner / Director</a:t>
                      </a:r>
                      <a:endParaRPr lang="en-US" sz="10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c>
                  <a:txBody>
                    <a:bodyPr/>
                    <a:lstStyle/>
                    <a:p>
                      <a:pPr algn="ctr" indent="0" marL="0">
                        <a:buNone/>
                      </a:pPr>
                      <a:r>
                        <a:rPr lang="en-US" sz="1000" b="1" dirty="0">
                          <a:solidFill>
                            <a:srgbClr val="FFFFFF"/>
                          </a:solidFill>
                        </a:rPr>
                        <a:t>HR Head</a:t>
                      </a:r>
                      <a:endParaRPr lang="en-US" sz="10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c>
                  <a:txBody>
                    <a:bodyPr/>
                    <a:lstStyle/>
                    <a:p>
                      <a:pPr algn="ctr" indent="0" marL="0">
                        <a:buNone/>
                      </a:pPr>
                      <a:r>
                        <a:rPr lang="en-US" sz="1000" b="1" dirty="0">
                          <a:solidFill>
                            <a:srgbClr val="FFFFFF"/>
                          </a:solidFill>
                        </a:rPr>
                        <a:t>HR</a:t>
                      </a:r>
                      <a:endParaRPr lang="en-US" sz="10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c>
                  <a:txBody>
                    <a:bodyPr/>
                    <a:lstStyle/>
                    <a:p>
                      <a:pPr algn="ctr" indent="0" marL="0">
                        <a:buNone/>
                      </a:pPr>
                      <a:r>
                        <a:rPr lang="en-US" sz="1000" b="1" dirty="0">
                          <a:solidFill>
                            <a:srgbClr val="FFFFFF"/>
                          </a:solidFill>
                        </a:rPr>
                        <a:t>Accts Head</a:t>
                      </a:r>
                      <a:endParaRPr lang="en-US" sz="10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c>
                  <a:txBody>
                    <a:bodyPr/>
                    <a:lstStyle/>
                    <a:p>
                      <a:pPr algn="ctr" indent="0" marL="0">
                        <a:buNone/>
                      </a:pPr>
                      <a:r>
                        <a:rPr lang="en-US" sz="1000" b="1" dirty="0">
                          <a:solidFill>
                            <a:srgbClr val="FFFFFF"/>
                          </a:solidFill>
                        </a:rPr>
                        <a:t>Accounts</a:t>
                      </a:r>
                      <a:endParaRPr lang="en-US" sz="10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c>
                  <a:txBody>
                    <a:bodyPr/>
                    <a:lstStyle/>
                    <a:p>
                      <a:pPr algn="ctr" indent="0" marL="0">
                        <a:buNone/>
                      </a:pPr>
                      <a:r>
                        <a:rPr lang="en-US" sz="1000" b="1" dirty="0">
                          <a:solidFill>
                            <a:srgbClr val="FFFFFF"/>
                          </a:solidFill>
                        </a:rPr>
                        <a:t>Sr Manager</a:t>
                      </a:r>
                      <a:endParaRPr lang="en-US" sz="10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c>
                  <a:txBody>
                    <a:bodyPr/>
                    <a:lstStyle/>
                    <a:p>
                      <a:pPr algn="ctr" indent="0" marL="0">
                        <a:buNone/>
                      </a:pPr>
                      <a:r>
                        <a:rPr lang="en-US" sz="1000" b="1" dirty="0">
                          <a:solidFill>
                            <a:srgbClr val="FFFFFF"/>
                          </a:solidFill>
                        </a:rPr>
                        <a:t>Manager</a:t>
                      </a:r>
                      <a:endParaRPr lang="en-US" sz="10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c>
                  <a:txBody>
                    <a:bodyPr/>
                    <a:lstStyle/>
                    <a:p>
                      <a:pPr algn="ctr" indent="0" marL="0">
                        <a:buNone/>
                      </a:pPr>
                      <a:r>
                        <a:rPr lang="en-US" sz="1000" b="1" dirty="0">
                          <a:solidFill>
                            <a:srgbClr val="FFFFFF"/>
                          </a:solidFill>
                        </a:rPr>
                        <a:t>Sr Consultant</a:t>
                      </a:r>
                      <a:endParaRPr lang="en-US" sz="10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c>
                  <a:txBody>
                    <a:bodyPr/>
                    <a:lstStyle/>
                    <a:p>
                      <a:pPr algn="ctr" indent="0" marL="0">
                        <a:buNone/>
                      </a:pPr>
                      <a:r>
                        <a:rPr lang="en-US" sz="1000" b="1" dirty="0">
                          <a:solidFill>
                            <a:srgbClr val="FFFFFF"/>
                          </a:solidFill>
                        </a:rPr>
                        <a:t>Staff*</a:t>
                      </a:r>
                      <a:endParaRPr lang="en-US" sz="10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D"/>
                    </a:solidFill>
                  </a:tcPr>
                </a:tc>
              </a:tr>
              <a:tr h="292608">
                <a:tc>
                  <a:txBody>
                    <a:bodyPr/>
                    <a:lstStyle/>
                    <a:p>
                      <a:pPr indent="0" marL="0">
                        <a:buNone/>
                      </a:pPr>
                      <a:r>
                        <a:rPr lang="en-US" sz="1100" dirty="0">
                          <a:solidFill>
                            <a:srgbClr val="0F172A"/>
                          </a:solidFill>
                        </a:rPr>
                        <a:t>My Work, Timesheets, Engagements, Clients</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r>
              <a:tr h="292608">
                <a:tc>
                  <a:txBody>
                    <a:bodyPr/>
                    <a:lstStyle/>
                    <a:p>
                      <a:pPr indent="0" marL="0">
                        <a:buNone/>
                      </a:pPr>
                      <a:r>
                        <a:rPr lang="en-US" sz="1100" dirty="0">
                          <a:solidFill>
                            <a:srgbClr val="0F172A"/>
                          </a:solidFill>
                        </a:rPr>
                        <a:t>Audit Dashboard</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0F172A"/>
                          </a:solidFill>
                        </a:rPr>
                        <a:t>Team Workload &amp; Audit Checklists</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r>
              <a:tr h="292608">
                <a:tc>
                  <a:txBody>
                    <a:bodyPr/>
                    <a:lstStyle/>
                    <a:p>
                      <a:pPr indent="0" marL="0">
                        <a:buNone/>
                      </a:pPr>
                      <a:r>
                        <a:rPr lang="en-US" sz="1100" dirty="0">
                          <a:solidFill>
                            <a:srgbClr val="0F172A"/>
                          </a:solidFill>
                        </a:rPr>
                        <a:t>Billing &amp; Invoices</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0F172A"/>
                          </a:solidFill>
                        </a:rPr>
                        <a:t>Projects &amp; My Tasks</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r>
              <a:tr h="292608">
                <a:tc>
                  <a:txBody>
                    <a:bodyPr/>
                    <a:lstStyle/>
                    <a:p>
                      <a:pPr indent="0" marL="0">
                        <a:buNone/>
                      </a:pPr>
                      <a:r>
                        <a:rPr lang="en-US" sz="1100" dirty="0">
                          <a:solidFill>
                            <a:srgbClr val="0F172A"/>
                          </a:solidFill>
                        </a:rPr>
                        <a:t>My Payslips &amp; Loans</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0F172A"/>
                          </a:solidFill>
                        </a:rPr>
                        <a:t>Salary Structure</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r>
              <a:tr h="292608">
                <a:tc>
                  <a:txBody>
                    <a:bodyPr/>
                    <a:lstStyle/>
                    <a:p>
                      <a:pPr indent="0" marL="0">
                        <a:buNone/>
                      </a:pPr>
                      <a:r>
                        <a:rPr lang="en-US" sz="1100" dirty="0">
                          <a:solidFill>
                            <a:srgbClr val="0F172A"/>
                          </a:solidFill>
                        </a:rPr>
                        <a:t>Payroll Runs</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0F172A"/>
                          </a:solidFill>
                        </a:rPr>
                        <a:t>My Expenses</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r>
              <a:tr h="292608">
                <a:tc>
                  <a:txBody>
                    <a:bodyPr/>
                    <a:lstStyle/>
                    <a:p>
                      <a:pPr indent="0" marL="0">
                        <a:buNone/>
                      </a:pPr>
                      <a:r>
                        <a:rPr lang="en-US" sz="1100" dirty="0">
                          <a:solidFill>
                            <a:srgbClr val="0F172A"/>
                          </a:solidFill>
                        </a:rPr>
                        <a:t>Expense Approvals</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0F172A"/>
                          </a:solidFill>
                        </a:rPr>
                        <a:t>Asset Register &amp; Who Has What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r>
              <a:tr h="292608">
                <a:tc>
                  <a:txBody>
                    <a:bodyPr/>
                    <a:lstStyle/>
                    <a:p>
                      <a:pPr indent="0" marL="0">
                        <a:buNone/>
                      </a:pPr>
                      <a:r>
                        <a:rPr lang="en-US" sz="1100" dirty="0">
                          <a:solidFill>
                            <a:srgbClr val="0F172A"/>
                          </a:solidFill>
                        </a:rPr>
                        <a:t>Reports</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0F172A"/>
                          </a:solidFill>
                        </a:rPr>
                        <a:t>Settings &amp; Audit Logs</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b="1" dirty="0">
                          <a:solidFill>
                            <a:srgbClr val="059669"/>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c>
                  <a:txBody>
                    <a:bodyPr/>
                    <a:lstStyle/>
                    <a:p>
                      <a:pPr algn="ctr" indent="0" marL="0">
                        <a:buNone/>
                      </a:pPr>
                      <a:r>
                        <a:rPr lang="en-US" sz="1100" dirty="0">
                          <a:solidFill>
                            <a:srgbClr val="CBD5E1"/>
                          </a:solidFill>
                        </a:rPr>
                        <a:t>–</a:t>
                      </a:r>
                      <a:endParaRPr lang="en-US" sz="11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3F5FA"/>
                    </a:solidFill>
                  </a:tcPr>
                </a:tc>
              </a:tr>
            </a:tbl>
          </a:graphicData>
        </a:graphic>
      </p:graphicFrame>
      <p:sp>
        <p:nvSpPr>
          <p:cNvPr id="5" name="Text 2"/>
          <p:cNvSpPr txBox="1"/>
          <p:nvPr/>
        </p:nvSpPr>
        <p:spPr>
          <a:xfrm>
            <a:off x="548640" y="6016752"/>
            <a:ext cx="11064240" cy="347472"/>
          </a:xfrm>
          <a:prstGeom prst="rect">
            <a:avLst/>
          </a:prstGeom>
          <a:noFill/>
          <a:ln/>
        </p:spPr>
        <p:txBody>
          <a:bodyPr wrap="square" lIns="0" tIns="0" rIns="0" bIns="0" rtlCol="0" anchor="t"/>
          <a:lstStyle/>
          <a:p>
            <a:pPr indent="0" marL="0">
              <a:buNone/>
            </a:pPr>
            <a:r>
              <a:rPr lang="en-US" sz="1000" dirty="0">
                <a:solidFill>
                  <a:srgbClr val="64748B"/>
                </a:solidFill>
              </a:rPr>
              <a:t>* Staff = Consultants, Junior Consultants and Associates. Team screens (Team Attendance, approvals, Location Log, Reports) also appear for anyone who has people reporting to them. Directors see the same as Partners. Admins can change any of this in Settings › Access Control.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200" b="1" dirty="0">
                <a:solidFill>
                  <a:schemeClr val="tx2"/>
                </a:solidFill>
              </a:rPr>
              <a:t>What each status means</a:t>
            </a:r>
            <a:endParaRPr lang="en-US" sz="32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rgbClr val="64748B"/>
                </a:solidFill>
              </a:rPr>
              <a:t>The same words appear on every screen.</a:t>
            </a:r>
            <a:endParaRPr lang="en-US" sz="1500" dirty="0"/>
          </a:p>
        </p:txBody>
      </p:sp>
      <p:sp>
        <p:nvSpPr>
          <p:cNvPr id="4" name="Text 2"/>
          <p:cNvSpPr txBox="1"/>
          <p:nvPr/>
        </p:nvSpPr>
        <p:spPr>
          <a:xfrm>
            <a:off x="548640" y="1508760"/>
            <a:ext cx="1828800" cy="384048"/>
          </a:xfrm>
          <a:prstGeom prst="rect">
            <a:avLst/>
          </a:prstGeom>
          <a:noFill/>
          <a:ln/>
        </p:spPr>
        <p:txBody>
          <a:bodyPr wrap="square" lIns="0" tIns="0" rIns="0" bIns="0" rtlCol="0" anchor="ctr"/>
          <a:lstStyle/>
          <a:p>
            <a:pPr indent="0" marL="0">
              <a:buNone/>
            </a:pPr>
            <a:r>
              <a:rPr lang="en-US" sz="1500" b="1" dirty="0">
                <a:solidFill>
                  <a:srgbClr val="0F172A"/>
                </a:solidFill>
              </a:rPr>
              <a:t>Audit task</a:t>
            </a:r>
            <a:endParaRPr lang="en-US" sz="1500" dirty="0"/>
          </a:p>
        </p:txBody>
      </p:sp>
      <p:sp>
        <p:nvSpPr>
          <p:cNvPr id="5" name="chip-Audit task-0"/>
          <p:cNvSpPr/>
          <p:nvPr/>
        </p:nvSpPr>
        <p:spPr>
          <a:xfrm>
            <a:off x="2468880" y="1508760"/>
            <a:ext cx="1036930" cy="384048"/>
          </a:xfrm>
          <a:prstGeom prst="roundRect">
            <a:avLst>
              <a:gd name="adj" fmla="val 50000"/>
            </a:avLst>
          </a:prstGeom>
          <a:solidFill>
            <a:srgbClr val="94A3B8"/>
          </a:solidFill>
          <a:ln w="12700">
            <a:solidFill>
              <a:srgbClr val="94A3B8"/>
            </a:solidFill>
            <a:prstDash val="solid"/>
          </a:ln>
        </p:spPr>
      </p:sp>
      <p:sp>
        <p:nvSpPr>
          <p:cNvPr id="6" name="Text 4"/>
          <p:cNvSpPr txBox="1"/>
          <p:nvPr/>
        </p:nvSpPr>
        <p:spPr>
          <a:xfrm>
            <a:off x="2468880" y="1508760"/>
            <a:ext cx="1036930" cy="384048"/>
          </a:xfrm>
          <a:prstGeom prst="rect">
            <a:avLst/>
          </a:prstGeom>
          <a:noFill/>
          <a:ln/>
        </p:spPr>
        <p:txBody>
          <a:bodyPr wrap="square" lIns="0" tIns="0" rIns="0" bIns="0" rtlCol="0" anchor="ctr"/>
          <a:lstStyle/>
          <a:p>
            <a:pPr algn="ctr" indent="0" marL="0">
              <a:buNone/>
            </a:pPr>
            <a:r>
              <a:rPr lang="en-US" sz="1050" b="1" dirty="0">
                <a:solidFill>
                  <a:srgbClr val="FFFFFF"/>
                </a:solidFill>
              </a:rPr>
              <a:t>Not Started</a:t>
            </a:r>
            <a:endParaRPr lang="en-US" sz="1050" dirty="0"/>
          </a:p>
        </p:txBody>
      </p:sp>
      <p:pic>
        <p:nvPicPr>
          <p:cNvPr id="7" name="chev-Audit task-0" descr="preencoded.png">    </p:cNvPr>
          <p:cNvPicPr>
            <a:picLocks noChangeAspect="1"/>
          </p:cNvPicPr>
          <p:nvPr/>
        </p:nvPicPr>
        <p:blipFill>
          <a:blip r:embed="rId1"/>
          <a:stretch>
            <a:fillRect/>
          </a:stretch>
        </p:blipFill>
        <p:spPr>
          <a:xfrm>
            <a:off x="3542386" y="1600200"/>
            <a:ext cx="201168" cy="201168"/>
          </a:xfrm>
          <a:prstGeom prst="rect">
            <a:avLst/>
          </a:prstGeom>
        </p:spPr>
      </p:pic>
      <p:sp>
        <p:nvSpPr>
          <p:cNvPr id="8" name="chip-Audit task-1"/>
          <p:cNvSpPr/>
          <p:nvPr/>
        </p:nvSpPr>
        <p:spPr>
          <a:xfrm>
            <a:off x="3761842" y="1508760"/>
            <a:ext cx="833933" cy="384048"/>
          </a:xfrm>
          <a:prstGeom prst="roundRect">
            <a:avLst>
              <a:gd name="adj" fmla="val 50000"/>
            </a:avLst>
          </a:prstGeom>
          <a:solidFill>
            <a:srgbClr val="64748B"/>
          </a:solidFill>
          <a:ln w="12700">
            <a:solidFill>
              <a:srgbClr val="64748B"/>
            </a:solidFill>
            <a:prstDash val="solid"/>
          </a:ln>
        </p:spPr>
      </p:sp>
      <p:sp>
        <p:nvSpPr>
          <p:cNvPr id="9" name="Text 6"/>
          <p:cNvSpPr txBox="1"/>
          <p:nvPr/>
        </p:nvSpPr>
        <p:spPr>
          <a:xfrm>
            <a:off x="3761842" y="1508760"/>
            <a:ext cx="833933" cy="384048"/>
          </a:xfrm>
          <a:prstGeom prst="rect">
            <a:avLst/>
          </a:prstGeom>
          <a:noFill/>
          <a:ln/>
        </p:spPr>
        <p:txBody>
          <a:bodyPr wrap="square" lIns="0" tIns="0" rIns="0" bIns="0" rtlCol="0" anchor="ctr"/>
          <a:lstStyle/>
          <a:p>
            <a:pPr algn="ctr" indent="0" marL="0">
              <a:buNone/>
            </a:pPr>
            <a:r>
              <a:rPr lang="en-US" sz="1050" b="1" dirty="0">
                <a:solidFill>
                  <a:srgbClr val="FFFFFF"/>
                </a:solidFill>
              </a:rPr>
              <a:t>Assigned</a:t>
            </a:r>
            <a:endParaRPr lang="en-US" sz="1050" dirty="0"/>
          </a:p>
        </p:txBody>
      </p:sp>
      <p:pic>
        <p:nvPicPr>
          <p:cNvPr id="10" name="chev-Audit task-1" descr="preencoded.png">    </p:cNvPr>
          <p:cNvPicPr>
            <a:picLocks noChangeAspect="1"/>
          </p:cNvPicPr>
          <p:nvPr/>
        </p:nvPicPr>
        <p:blipFill>
          <a:blip r:embed="rId2"/>
          <a:stretch>
            <a:fillRect/>
          </a:stretch>
        </p:blipFill>
        <p:spPr>
          <a:xfrm>
            <a:off x="4632350" y="1600200"/>
            <a:ext cx="201168" cy="201168"/>
          </a:xfrm>
          <a:prstGeom prst="rect">
            <a:avLst/>
          </a:prstGeom>
        </p:spPr>
      </p:pic>
      <p:sp>
        <p:nvSpPr>
          <p:cNvPr id="11" name="chip-Audit task-2"/>
          <p:cNvSpPr/>
          <p:nvPr/>
        </p:nvSpPr>
        <p:spPr>
          <a:xfrm>
            <a:off x="4851806" y="1508760"/>
            <a:ext cx="713232" cy="384048"/>
          </a:xfrm>
          <a:prstGeom prst="roundRect">
            <a:avLst>
              <a:gd name="adj" fmla="val 50000"/>
            </a:avLst>
          </a:prstGeom>
          <a:solidFill>
            <a:srgbClr val="0284C7"/>
          </a:solidFill>
          <a:ln w="12700">
            <a:solidFill>
              <a:srgbClr val="0284C7"/>
            </a:solidFill>
            <a:prstDash val="solid"/>
          </a:ln>
        </p:spPr>
      </p:sp>
      <p:sp>
        <p:nvSpPr>
          <p:cNvPr id="12" name="Text 8"/>
          <p:cNvSpPr txBox="1"/>
          <p:nvPr/>
        </p:nvSpPr>
        <p:spPr>
          <a:xfrm>
            <a:off x="4851806" y="1508760"/>
            <a:ext cx="713232" cy="384048"/>
          </a:xfrm>
          <a:prstGeom prst="rect">
            <a:avLst/>
          </a:prstGeom>
          <a:noFill/>
          <a:ln/>
        </p:spPr>
        <p:txBody>
          <a:bodyPr wrap="square" lIns="0" tIns="0" rIns="0" bIns="0" rtlCol="0" anchor="ctr"/>
          <a:lstStyle/>
          <a:p>
            <a:pPr algn="ctr" indent="0" marL="0">
              <a:buNone/>
            </a:pPr>
            <a:r>
              <a:rPr lang="en-US" sz="1050" b="1" dirty="0">
                <a:solidFill>
                  <a:srgbClr val="FFFFFF"/>
                </a:solidFill>
              </a:rPr>
              <a:t>Ready</a:t>
            </a:r>
            <a:endParaRPr lang="en-US" sz="1050" dirty="0"/>
          </a:p>
        </p:txBody>
      </p:sp>
      <p:pic>
        <p:nvPicPr>
          <p:cNvPr id="13" name="chev-Audit task-2" descr="preencoded.png">    </p:cNvPr>
          <p:cNvPicPr>
            <a:picLocks noChangeAspect="1"/>
          </p:cNvPicPr>
          <p:nvPr/>
        </p:nvPicPr>
        <p:blipFill>
          <a:blip r:embed="rId3"/>
          <a:stretch>
            <a:fillRect/>
          </a:stretch>
        </p:blipFill>
        <p:spPr>
          <a:xfrm>
            <a:off x="5601614" y="1600200"/>
            <a:ext cx="201168" cy="201168"/>
          </a:xfrm>
          <a:prstGeom prst="rect">
            <a:avLst/>
          </a:prstGeom>
        </p:spPr>
      </p:pic>
      <p:sp>
        <p:nvSpPr>
          <p:cNvPr id="14" name="chip-Audit task-3"/>
          <p:cNvSpPr/>
          <p:nvPr/>
        </p:nvSpPr>
        <p:spPr>
          <a:xfrm>
            <a:off x="5821070" y="1508760"/>
            <a:ext cx="1036930" cy="384048"/>
          </a:xfrm>
          <a:prstGeom prst="roundRect">
            <a:avLst>
              <a:gd name="adj" fmla="val 50000"/>
            </a:avLst>
          </a:prstGeom>
          <a:solidFill>
            <a:srgbClr val="2563EB"/>
          </a:solidFill>
          <a:ln w="12700">
            <a:solidFill>
              <a:srgbClr val="2563EB"/>
            </a:solidFill>
            <a:prstDash val="solid"/>
          </a:ln>
        </p:spPr>
      </p:sp>
      <p:sp>
        <p:nvSpPr>
          <p:cNvPr id="15" name="Text 10"/>
          <p:cNvSpPr txBox="1"/>
          <p:nvPr/>
        </p:nvSpPr>
        <p:spPr>
          <a:xfrm>
            <a:off x="5821070" y="1508760"/>
            <a:ext cx="1036930" cy="384048"/>
          </a:xfrm>
          <a:prstGeom prst="rect">
            <a:avLst/>
          </a:prstGeom>
          <a:noFill/>
          <a:ln/>
        </p:spPr>
        <p:txBody>
          <a:bodyPr wrap="square" lIns="0" tIns="0" rIns="0" bIns="0" rtlCol="0" anchor="ctr"/>
          <a:lstStyle/>
          <a:p>
            <a:pPr algn="ctr" indent="0" marL="0">
              <a:buNone/>
            </a:pPr>
            <a:r>
              <a:rPr lang="en-US" sz="1050" b="1" dirty="0">
                <a:solidFill>
                  <a:srgbClr val="FFFFFF"/>
                </a:solidFill>
              </a:rPr>
              <a:t>In Progress</a:t>
            </a:r>
            <a:endParaRPr lang="en-US" sz="1050" dirty="0"/>
          </a:p>
        </p:txBody>
      </p:sp>
      <p:pic>
        <p:nvPicPr>
          <p:cNvPr id="16" name="chev-Audit task-3" descr="preencoded.png">    </p:cNvPr>
          <p:cNvPicPr>
            <a:picLocks noChangeAspect="1"/>
          </p:cNvPicPr>
          <p:nvPr/>
        </p:nvPicPr>
        <p:blipFill>
          <a:blip r:embed="rId4"/>
          <a:stretch>
            <a:fillRect/>
          </a:stretch>
        </p:blipFill>
        <p:spPr>
          <a:xfrm>
            <a:off x="6894576" y="1600200"/>
            <a:ext cx="201168" cy="201168"/>
          </a:xfrm>
          <a:prstGeom prst="rect">
            <a:avLst/>
          </a:prstGeom>
        </p:spPr>
      </p:pic>
      <p:sp>
        <p:nvSpPr>
          <p:cNvPr id="17" name="chip-Audit task-4"/>
          <p:cNvSpPr/>
          <p:nvPr/>
        </p:nvSpPr>
        <p:spPr>
          <a:xfrm>
            <a:off x="7114032" y="1508760"/>
            <a:ext cx="901598" cy="384048"/>
          </a:xfrm>
          <a:prstGeom prst="roundRect">
            <a:avLst>
              <a:gd name="adj" fmla="val 50000"/>
            </a:avLst>
          </a:prstGeom>
          <a:solidFill>
            <a:srgbClr val="7C3AED"/>
          </a:solidFill>
          <a:ln w="12700">
            <a:solidFill>
              <a:srgbClr val="7C3AED"/>
            </a:solidFill>
            <a:prstDash val="solid"/>
          </a:ln>
        </p:spPr>
      </p:sp>
      <p:sp>
        <p:nvSpPr>
          <p:cNvPr id="18" name="Text 12"/>
          <p:cNvSpPr txBox="1"/>
          <p:nvPr/>
        </p:nvSpPr>
        <p:spPr>
          <a:xfrm>
            <a:off x="7114032" y="1508760"/>
            <a:ext cx="901598" cy="384048"/>
          </a:xfrm>
          <a:prstGeom prst="rect">
            <a:avLst/>
          </a:prstGeom>
          <a:noFill/>
          <a:ln/>
        </p:spPr>
        <p:txBody>
          <a:bodyPr wrap="square" lIns="0" tIns="0" rIns="0" bIns="0" rtlCol="0" anchor="ctr"/>
          <a:lstStyle/>
          <a:p>
            <a:pPr algn="ctr" indent="0" marL="0">
              <a:buNone/>
            </a:pPr>
            <a:r>
              <a:rPr lang="en-US" sz="1050" b="1" dirty="0">
                <a:solidFill>
                  <a:srgbClr val="FFFFFF"/>
                </a:solidFill>
              </a:rPr>
              <a:t>Submitted</a:t>
            </a:r>
            <a:endParaRPr lang="en-US" sz="1050" dirty="0"/>
          </a:p>
        </p:txBody>
      </p:sp>
      <p:pic>
        <p:nvPicPr>
          <p:cNvPr id="19" name="chev-Audit task-4" descr="preencoded.png">    </p:cNvPr>
          <p:cNvPicPr>
            <a:picLocks noChangeAspect="1"/>
          </p:cNvPicPr>
          <p:nvPr/>
        </p:nvPicPr>
        <p:blipFill>
          <a:blip r:embed="rId5"/>
          <a:stretch>
            <a:fillRect/>
          </a:stretch>
        </p:blipFill>
        <p:spPr>
          <a:xfrm>
            <a:off x="8052206" y="1600200"/>
            <a:ext cx="201168" cy="201168"/>
          </a:xfrm>
          <a:prstGeom prst="rect">
            <a:avLst/>
          </a:prstGeom>
        </p:spPr>
      </p:pic>
      <p:sp>
        <p:nvSpPr>
          <p:cNvPr id="20" name="chip-Audit task-5"/>
          <p:cNvSpPr/>
          <p:nvPr/>
        </p:nvSpPr>
        <p:spPr>
          <a:xfrm>
            <a:off x="8271662" y="1508760"/>
            <a:ext cx="1104595" cy="384048"/>
          </a:xfrm>
          <a:prstGeom prst="roundRect">
            <a:avLst>
              <a:gd name="adj" fmla="val 50000"/>
            </a:avLst>
          </a:prstGeom>
          <a:solidFill>
            <a:srgbClr val="9333EA"/>
          </a:solidFill>
          <a:ln w="12700">
            <a:solidFill>
              <a:srgbClr val="9333EA"/>
            </a:solidFill>
            <a:prstDash val="solid"/>
          </a:ln>
        </p:spPr>
      </p:sp>
      <p:sp>
        <p:nvSpPr>
          <p:cNvPr id="21" name="Text 14"/>
          <p:cNvSpPr txBox="1"/>
          <p:nvPr/>
        </p:nvSpPr>
        <p:spPr>
          <a:xfrm>
            <a:off x="8271662" y="1508760"/>
            <a:ext cx="1104595" cy="384048"/>
          </a:xfrm>
          <a:prstGeom prst="rect">
            <a:avLst/>
          </a:prstGeom>
          <a:noFill/>
          <a:ln/>
        </p:spPr>
        <p:txBody>
          <a:bodyPr wrap="square" lIns="0" tIns="0" rIns="0" bIns="0" rtlCol="0" anchor="ctr"/>
          <a:lstStyle/>
          <a:p>
            <a:pPr algn="ctr" indent="0" marL="0">
              <a:buNone/>
            </a:pPr>
            <a:r>
              <a:rPr lang="en-US" sz="1050" b="1" dirty="0">
                <a:solidFill>
                  <a:srgbClr val="FFFFFF"/>
                </a:solidFill>
              </a:rPr>
              <a:t>Under Review</a:t>
            </a:r>
            <a:endParaRPr lang="en-US" sz="1050" dirty="0"/>
          </a:p>
        </p:txBody>
      </p:sp>
      <p:pic>
        <p:nvPicPr>
          <p:cNvPr id="22" name="chev-Audit task-5" descr="preencoded.png">    </p:cNvPr>
          <p:cNvPicPr>
            <a:picLocks noChangeAspect="1"/>
          </p:cNvPicPr>
          <p:nvPr/>
        </p:nvPicPr>
        <p:blipFill>
          <a:blip r:embed="rId6"/>
          <a:stretch>
            <a:fillRect/>
          </a:stretch>
        </p:blipFill>
        <p:spPr>
          <a:xfrm>
            <a:off x="9412834" y="1600200"/>
            <a:ext cx="201168" cy="201168"/>
          </a:xfrm>
          <a:prstGeom prst="rect">
            <a:avLst/>
          </a:prstGeom>
        </p:spPr>
      </p:pic>
      <p:sp>
        <p:nvSpPr>
          <p:cNvPr id="23" name="chip-Audit task-6"/>
          <p:cNvSpPr/>
          <p:nvPr/>
        </p:nvSpPr>
        <p:spPr>
          <a:xfrm>
            <a:off x="9632290" y="1508760"/>
            <a:ext cx="833933" cy="384048"/>
          </a:xfrm>
          <a:prstGeom prst="roundRect">
            <a:avLst>
              <a:gd name="adj" fmla="val 50000"/>
            </a:avLst>
          </a:prstGeom>
          <a:solidFill>
            <a:srgbClr val="059669"/>
          </a:solidFill>
          <a:ln w="12700">
            <a:solidFill>
              <a:srgbClr val="059669"/>
            </a:solidFill>
            <a:prstDash val="solid"/>
          </a:ln>
        </p:spPr>
      </p:sp>
      <p:sp>
        <p:nvSpPr>
          <p:cNvPr id="24" name="Text 16"/>
          <p:cNvSpPr txBox="1"/>
          <p:nvPr/>
        </p:nvSpPr>
        <p:spPr>
          <a:xfrm>
            <a:off x="9632290" y="1508760"/>
            <a:ext cx="833933" cy="384048"/>
          </a:xfrm>
          <a:prstGeom prst="rect">
            <a:avLst/>
          </a:prstGeom>
          <a:noFill/>
          <a:ln/>
        </p:spPr>
        <p:txBody>
          <a:bodyPr wrap="square" lIns="0" tIns="0" rIns="0" bIns="0" rtlCol="0" anchor="ctr"/>
          <a:lstStyle/>
          <a:p>
            <a:pPr algn="ctr" indent="0" marL="0">
              <a:buNone/>
            </a:pPr>
            <a:r>
              <a:rPr lang="en-US" sz="1050" b="1" dirty="0">
                <a:solidFill>
                  <a:srgbClr val="FFFFFF"/>
                </a:solidFill>
              </a:rPr>
              <a:t>Approved</a:t>
            </a:r>
            <a:endParaRPr lang="en-US" sz="1050" dirty="0"/>
          </a:p>
        </p:txBody>
      </p:sp>
      <p:pic>
        <p:nvPicPr>
          <p:cNvPr id="25" name="chev-Audit task-6" descr="preencoded.png">    </p:cNvPr>
          <p:cNvPicPr>
            <a:picLocks noChangeAspect="1"/>
          </p:cNvPicPr>
          <p:nvPr/>
        </p:nvPicPr>
        <p:blipFill>
          <a:blip r:embed="rId7"/>
          <a:stretch>
            <a:fillRect/>
          </a:stretch>
        </p:blipFill>
        <p:spPr>
          <a:xfrm>
            <a:off x="10502798" y="1600200"/>
            <a:ext cx="201168" cy="201168"/>
          </a:xfrm>
          <a:prstGeom prst="rect">
            <a:avLst/>
          </a:prstGeom>
        </p:spPr>
      </p:pic>
      <p:sp>
        <p:nvSpPr>
          <p:cNvPr id="26" name="chip-Audit task-7"/>
          <p:cNvSpPr/>
          <p:nvPr/>
        </p:nvSpPr>
        <p:spPr>
          <a:xfrm>
            <a:off x="10722254" y="1508760"/>
            <a:ext cx="901598" cy="384048"/>
          </a:xfrm>
          <a:prstGeom prst="roundRect">
            <a:avLst>
              <a:gd name="adj" fmla="val 50000"/>
            </a:avLst>
          </a:prstGeom>
          <a:solidFill>
            <a:srgbClr val="10B981"/>
          </a:solidFill>
          <a:ln w="12700">
            <a:solidFill>
              <a:srgbClr val="10B981"/>
            </a:solidFill>
            <a:prstDash val="solid"/>
          </a:ln>
        </p:spPr>
      </p:sp>
      <p:sp>
        <p:nvSpPr>
          <p:cNvPr id="27" name="Text 18"/>
          <p:cNvSpPr txBox="1"/>
          <p:nvPr/>
        </p:nvSpPr>
        <p:spPr>
          <a:xfrm>
            <a:off x="10722254" y="1508760"/>
            <a:ext cx="901598" cy="384048"/>
          </a:xfrm>
          <a:prstGeom prst="rect">
            <a:avLst/>
          </a:prstGeom>
          <a:noFill/>
          <a:ln/>
        </p:spPr>
        <p:txBody>
          <a:bodyPr wrap="square" lIns="0" tIns="0" rIns="0" bIns="0" rtlCol="0" anchor="ctr"/>
          <a:lstStyle/>
          <a:p>
            <a:pPr algn="ctr" indent="0" marL="0">
              <a:buNone/>
            </a:pPr>
            <a:r>
              <a:rPr lang="en-US" sz="1050" b="1" dirty="0">
                <a:solidFill>
                  <a:srgbClr val="FFFFFF"/>
                </a:solidFill>
              </a:rPr>
              <a:t>Completed</a:t>
            </a:r>
            <a:endParaRPr lang="en-US" sz="1050" dirty="0"/>
          </a:p>
        </p:txBody>
      </p:sp>
      <p:sp>
        <p:nvSpPr>
          <p:cNvPr id="28" name="Text 19"/>
          <p:cNvSpPr txBox="1"/>
          <p:nvPr/>
        </p:nvSpPr>
        <p:spPr>
          <a:xfrm>
            <a:off x="2468880" y="1938528"/>
            <a:ext cx="8961120" cy="292608"/>
          </a:xfrm>
          <a:prstGeom prst="rect">
            <a:avLst/>
          </a:prstGeom>
          <a:noFill/>
          <a:ln/>
        </p:spPr>
        <p:txBody>
          <a:bodyPr wrap="square" lIns="0" tIns="0" rIns="0" bIns="0" rtlCol="0" anchor="ctr"/>
          <a:lstStyle/>
          <a:p>
            <a:pPr indent="0" marL="0">
              <a:buNone/>
            </a:pPr>
            <a:r>
              <a:rPr lang="en-US" sz="1200" dirty="0">
                <a:solidFill>
                  <a:srgbClr val="64748B"/>
                </a:solidFill>
              </a:rPr>
              <a:t>Side states: Blocked, Changes Requested (back to the owner), Cancelled</a:t>
            </a:r>
            <a:endParaRPr lang="en-US" sz="1200" dirty="0"/>
          </a:p>
        </p:txBody>
      </p:sp>
      <p:sp>
        <p:nvSpPr>
          <p:cNvPr id="29" name="Text 20"/>
          <p:cNvSpPr txBox="1"/>
          <p:nvPr/>
        </p:nvSpPr>
        <p:spPr>
          <a:xfrm>
            <a:off x="548640" y="2441448"/>
            <a:ext cx="1828800" cy="384048"/>
          </a:xfrm>
          <a:prstGeom prst="rect">
            <a:avLst/>
          </a:prstGeom>
          <a:noFill/>
          <a:ln/>
        </p:spPr>
        <p:txBody>
          <a:bodyPr wrap="square" lIns="0" tIns="0" rIns="0" bIns="0" rtlCol="0" anchor="ctr"/>
          <a:lstStyle/>
          <a:p>
            <a:pPr indent="0" marL="0">
              <a:buNone/>
            </a:pPr>
            <a:r>
              <a:rPr lang="en-US" sz="1500" b="1" dirty="0">
                <a:solidFill>
                  <a:srgbClr val="0F172A"/>
                </a:solidFill>
              </a:rPr>
              <a:t>Timesheet entry</a:t>
            </a:r>
            <a:endParaRPr lang="en-US" sz="1500" dirty="0"/>
          </a:p>
        </p:txBody>
      </p:sp>
      <p:sp>
        <p:nvSpPr>
          <p:cNvPr id="30" name="chip-Timesheet entry-0"/>
          <p:cNvSpPr/>
          <p:nvPr/>
        </p:nvSpPr>
        <p:spPr>
          <a:xfrm>
            <a:off x="2468880" y="2441448"/>
            <a:ext cx="713232" cy="384048"/>
          </a:xfrm>
          <a:prstGeom prst="roundRect">
            <a:avLst>
              <a:gd name="adj" fmla="val 50000"/>
            </a:avLst>
          </a:prstGeom>
          <a:solidFill>
            <a:srgbClr val="94A3B8"/>
          </a:solidFill>
          <a:ln w="12700">
            <a:solidFill>
              <a:srgbClr val="94A3B8"/>
            </a:solidFill>
            <a:prstDash val="solid"/>
          </a:ln>
        </p:spPr>
      </p:sp>
      <p:sp>
        <p:nvSpPr>
          <p:cNvPr id="31" name="Text 22"/>
          <p:cNvSpPr txBox="1"/>
          <p:nvPr/>
        </p:nvSpPr>
        <p:spPr>
          <a:xfrm>
            <a:off x="2468880" y="2441448"/>
            <a:ext cx="713232" cy="384048"/>
          </a:xfrm>
          <a:prstGeom prst="rect">
            <a:avLst/>
          </a:prstGeom>
          <a:noFill/>
          <a:ln/>
        </p:spPr>
        <p:txBody>
          <a:bodyPr wrap="square" lIns="0" tIns="0" rIns="0" bIns="0" rtlCol="0" anchor="ctr"/>
          <a:lstStyle/>
          <a:p>
            <a:pPr algn="ctr" indent="0" marL="0">
              <a:buNone/>
            </a:pPr>
            <a:r>
              <a:rPr lang="en-US" sz="1050" b="1" dirty="0">
                <a:solidFill>
                  <a:srgbClr val="FFFFFF"/>
                </a:solidFill>
              </a:rPr>
              <a:t>Draft</a:t>
            </a:r>
            <a:endParaRPr lang="en-US" sz="1050" dirty="0"/>
          </a:p>
        </p:txBody>
      </p:sp>
      <p:pic>
        <p:nvPicPr>
          <p:cNvPr id="32" name="chev-Timesheet entry-0" descr="preencoded.png">    </p:cNvPr>
          <p:cNvPicPr>
            <a:picLocks noChangeAspect="1"/>
          </p:cNvPicPr>
          <p:nvPr/>
        </p:nvPicPr>
        <p:blipFill>
          <a:blip r:embed="rId8"/>
          <a:stretch>
            <a:fillRect/>
          </a:stretch>
        </p:blipFill>
        <p:spPr>
          <a:xfrm>
            <a:off x="3218688" y="2532888"/>
            <a:ext cx="201168" cy="201168"/>
          </a:xfrm>
          <a:prstGeom prst="rect">
            <a:avLst/>
          </a:prstGeom>
        </p:spPr>
      </p:pic>
      <p:sp>
        <p:nvSpPr>
          <p:cNvPr id="33" name="chip-Timesheet entry-1"/>
          <p:cNvSpPr/>
          <p:nvPr/>
        </p:nvSpPr>
        <p:spPr>
          <a:xfrm>
            <a:off x="3438144" y="2441448"/>
            <a:ext cx="901598" cy="384048"/>
          </a:xfrm>
          <a:prstGeom prst="roundRect">
            <a:avLst>
              <a:gd name="adj" fmla="val 50000"/>
            </a:avLst>
          </a:prstGeom>
          <a:solidFill>
            <a:srgbClr val="7C3AED"/>
          </a:solidFill>
          <a:ln w="12700">
            <a:solidFill>
              <a:srgbClr val="7C3AED"/>
            </a:solidFill>
            <a:prstDash val="solid"/>
          </a:ln>
        </p:spPr>
      </p:sp>
      <p:sp>
        <p:nvSpPr>
          <p:cNvPr id="34" name="Text 24"/>
          <p:cNvSpPr txBox="1"/>
          <p:nvPr/>
        </p:nvSpPr>
        <p:spPr>
          <a:xfrm>
            <a:off x="3438144" y="2441448"/>
            <a:ext cx="901598" cy="384048"/>
          </a:xfrm>
          <a:prstGeom prst="rect">
            <a:avLst/>
          </a:prstGeom>
          <a:noFill/>
          <a:ln/>
        </p:spPr>
        <p:txBody>
          <a:bodyPr wrap="square" lIns="0" tIns="0" rIns="0" bIns="0" rtlCol="0" anchor="ctr"/>
          <a:lstStyle/>
          <a:p>
            <a:pPr algn="ctr" indent="0" marL="0">
              <a:buNone/>
            </a:pPr>
            <a:r>
              <a:rPr lang="en-US" sz="1050" b="1" dirty="0">
                <a:solidFill>
                  <a:srgbClr val="FFFFFF"/>
                </a:solidFill>
              </a:rPr>
              <a:t>Submitted</a:t>
            </a:r>
            <a:endParaRPr lang="en-US" sz="1050" dirty="0"/>
          </a:p>
        </p:txBody>
      </p:sp>
      <p:pic>
        <p:nvPicPr>
          <p:cNvPr id="35" name="chev-Timesheet entry-1" descr="preencoded.png">    </p:cNvPr>
          <p:cNvPicPr>
            <a:picLocks noChangeAspect="1"/>
          </p:cNvPicPr>
          <p:nvPr/>
        </p:nvPicPr>
        <p:blipFill>
          <a:blip r:embed="rId9"/>
          <a:stretch>
            <a:fillRect/>
          </a:stretch>
        </p:blipFill>
        <p:spPr>
          <a:xfrm>
            <a:off x="4376318" y="2532888"/>
            <a:ext cx="201168" cy="201168"/>
          </a:xfrm>
          <a:prstGeom prst="rect">
            <a:avLst/>
          </a:prstGeom>
        </p:spPr>
      </p:pic>
      <p:sp>
        <p:nvSpPr>
          <p:cNvPr id="36" name="chip-Timesheet entry-2"/>
          <p:cNvSpPr/>
          <p:nvPr/>
        </p:nvSpPr>
        <p:spPr>
          <a:xfrm>
            <a:off x="4595774" y="2441448"/>
            <a:ext cx="833933" cy="384048"/>
          </a:xfrm>
          <a:prstGeom prst="roundRect">
            <a:avLst>
              <a:gd name="adj" fmla="val 50000"/>
            </a:avLst>
          </a:prstGeom>
          <a:solidFill>
            <a:srgbClr val="059669"/>
          </a:solidFill>
          <a:ln w="12700">
            <a:solidFill>
              <a:srgbClr val="059669"/>
            </a:solidFill>
            <a:prstDash val="solid"/>
          </a:ln>
        </p:spPr>
      </p:sp>
      <p:sp>
        <p:nvSpPr>
          <p:cNvPr id="37" name="Text 26"/>
          <p:cNvSpPr txBox="1"/>
          <p:nvPr/>
        </p:nvSpPr>
        <p:spPr>
          <a:xfrm>
            <a:off x="4595774" y="2441448"/>
            <a:ext cx="833933" cy="384048"/>
          </a:xfrm>
          <a:prstGeom prst="rect">
            <a:avLst/>
          </a:prstGeom>
          <a:noFill/>
          <a:ln/>
        </p:spPr>
        <p:txBody>
          <a:bodyPr wrap="square" lIns="0" tIns="0" rIns="0" bIns="0" rtlCol="0" anchor="ctr"/>
          <a:lstStyle/>
          <a:p>
            <a:pPr algn="ctr" indent="0" marL="0">
              <a:buNone/>
            </a:pPr>
            <a:r>
              <a:rPr lang="en-US" sz="1050" b="1" dirty="0">
                <a:solidFill>
                  <a:srgbClr val="FFFFFF"/>
                </a:solidFill>
              </a:rPr>
              <a:t>Approved</a:t>
            </a:r>
            <a:endParaRPr lang="en-US" sz="1050" dirty="0"/>
          </a:p>
        </p:txBody>
      </p:sp>
      <p:sp>
        <p:nvSpPr>
          <p:cNvPr id="38" name="Text 27"/>
          <p:cNvSpPr txBox="1"/>
          <p:nvPr/>
        </p:nvSpPr>
        <p:spPr>
          <a:xfrm>
            <a:off x="2468880" y="2871216"/>
            <a:ext cx="8961120" cy="292608"/>
          </a:xfrm>
          <a:prstGeom prst="rect">
            <a:avLst/>
          </a:prstGeom>
          <a:noFill/>
          <a:ln/>
        </p:spPr>
        <p:txBody>
          <a:bodyPr wrap="square" lIns="0" tIns="0" rIns="0" bIns="0" rtlCol="0" anchor="ctr"/>
          <a:lstStyle/>
          <a:p>
            <a:pPr indent="0" marL="0">
              <a:buNone/>
            </a:pPr>
            <a:r>
              <a:rPr lang="en-US" sz="1200" dirty="0">
                <a:solidFill>
                  <a:srgbClr val="64748B"/>
                </a:solidFill>
              </a:rPr>
              <a:t>Or Rejected: fix it and submit again</a:t>
            </a:r>
            <a:endParaRPr lang="en-US" sz="1200" dirty="0"/>
          </a:p>
        </p:txBody>
      </p:sp>
      <p:sp>
        <p:nvSpPr>
          <p:cNvPr id="39" name="Text 28"/>
          <p:cNvSpPr txBox="1"/>
          <p:nvPr/>
        </p:nvSpPr>
        <p:spPr>
          <a:xfrm>
            <a:off x="548640" y="3374136"/>
            <a:ext cx="1828800" cy="384048"/>
          </a:xfrm>
          <a:prstGeom prst="rect">
            <a:avLst/>
          </a:prstGeom>
          <a:noFill/>
          <a:ln/>
        </p:spPr>
        <p:txBody>
          <a:bodyPr wrap="square" lIns="0" tIns="0" rIns="0" bIns="0" rtlCol="0" anchor="ctr"/>
          <a:lstStyle/>
          <a:p>
            <a:pPr indent="0" marL="0">
              <a:buNone/>
            </a:pPr>
            <a:r>
              <a:rPr lang="en-US" sz="1500" b="1" dirty="0">
                <a:solidFill>
                  <a:srgbClr val="0F172A"/>
                </a:solidFill>
              </a:rPr>
              <a:t>Expense claim</a:t>
            </a:r>
            <a:endParaRPr lang="en-US" sz="1500" dirty="0"/>
          </a:p>
        </p:txBody>
      </p:sp>
      <p:sp>
        <p:nvSpPr>
          <p:cNvPr id="40" name="chip-Expense claim-0"/>
          <p:cNvSpPr/>
          <p:nvPr/>
        </p:nvSpPr>
        <p:spPr>
          <a:xfrm>
            <a:off x="2468880" y="3374136"/>
            <a:ext cx="766267" cy="384048"/>
          </a:xfrm>
          <a:prstGeom prst="roundRect">
            <a:avLst>
              <a:gd name="adj" fmla="val 50000"/>
            </a:avLst>
          </a:prstGeom>
          <a:solidFill>
            <a:srgbClr val="D97706"/>
          </a:solidFill>
          <a:ln w="12700">
            <a:solidFill>
              <a:srgbClr val="D97706"/>
            </a:solidFill>
            <a:prstDash val="solid"/>
          </a:ln>
        </p:spPr>
      </p:sp>
      <p:sp>
        <p:nvSpPr>
          <p:cNvPr id="41" name="Text 30"/>
          <p:cNvSpPr txBox="1"/>
          <p:nvPr/>
        </p:nvSpPr>
        <p:spPr>
          <a:xfrm>
            <a:off x="2468880" y="3374136"/>
            <a:ext cx="766267" cy="384048"/>
          </a:xfrm>
          <a:prstGeom prst="rect">
            <a:avLst/>
          </a:prstGeom>
          <a:noFill/>
          <a:ln/>
        </p:spPr>
        <p:txBody>
          <a:bodyPr wrap="square" lIns="0" tIns="0" rIns="0" bIns="0" rtlCol="0" anchor="ctr"/>
          <a:lstStyle/>
          <a:p>
            <a:pPr algn="ctr" indent="0" marL="0">
              <a:buNone/>
            </a:pPr>
            <a:r>
              <a:rPr lang="en-US" sz="1050" b="1" dirty="0">
                <a:solidFill>
                  <a:srgbClr val="FFFFFF"/>
                </a:solidFill>
              </a:rPr>
              <a:t>Pending</a:t>
            </a:r>
            <a:endParaRPr lang="en-US" sz="1050" dirty="0"/>
          </a:p>
        </p:txBody>
      </p:sp>
      <p:pic>
        <p:nvPicPr>
          <p:cNvPr id="42" name="chev-Expense claim-0" descr="preencoded.png">    </p:cNvPr>
          <p:cNvPicPr>
            <a:picLocks noChangeAspect="1"/>
          </p:cNvPicPr>
          <p:nvPr/>
        </p:nvPicPr>
        <p:blipFill>
          <a:blip r:embed="rId10"/>
          <a:stretch>
            <a:fillRect/>
          </a:stretch>
        </p:blipFill>
        <p:spPr>
          <a:xfrm>
            <a:off x="3271723" y="3465576"/>
            <a:ext cx="201168" cy="201168"/>
          </a:xfrm>
          <a:prstGeom prst="rect">
            <a:avLst/>
          </a:prstGeom>
        </p:spPr>
      </p:pic>
      <p:sp>
        <p:nvSpPr>
          <p:cNvPr id="43" name="chip-Expense claim-1"/>
          <p:cNvSpPr/>
          <p:nvPr/>
        </p:nvSpPr>
        <p:spPr>
          <a:xfrm>
            <a:off x="3491179" y="3374136"/>
            <a:ext cx="833933" cy="384048"/>
          </a:xfrm>
          <a:prstGeom prst="roundRect">
            <a:avLst>
              <a:gd name="adj" fmla="val 50000"/>
            </a:avLst>
          </a:prstGeom>
          <a:solidFill>
            <a:srgbClr val="0284C7"/>
          </a:solidFill>
          <a:ln w="12700">
            <a:solidFill>
              <a:srgbClr val="0284C7"/>
            </a:solidFill>
            <a:prstDash val="solid"/>
          </a:ln>
        </p:spPr>
      </p:sp>
      <p:sp>
        <p:nvSpPr>
          <p:cNvPr id="44" name="Text 32"/>
          <p:cNvSpPr txBox="1"/>
          <p:nvPr/>
        </p:nvSpPr>
        <p:spPr>
          <a:xfrm>
            <a:off x="3491179" y="3374136"/>
            <a:ext cx="833933" cy="384048"/>
          </a:xfrm>
          <a:prstGeom prst="rect">
            <a:avLst/>
          </a:prstGeom>
          <a:noFill/>
          <a:ln/>
        </p:spPr>
        <p:txBody>
          <a:bodyPr wrap="square" lIns="0" tIns="0" rIns="0" bIns="0" rtlCol="0" anchor="ctr"/>
          <a:lstStyle/>
          <a:p>
            <a:pPr algn="ctr" indent="0" marL="0">
              <a:buNone/>
            </a:pPr>
            <a:r>
              <a:rPr lang="en-US" sz="1050" b="1" dirty="0">
                <a:solidFill>
                  <a:srgbClr val="FFFFFF"/>
                </a:solidFill>
              </a:rPr>
              <a:t>Approved</a:t>
            </a:r>
            <a:endParaRPr lang="en-US" sz="1050" dirty="0"/>
          </a:p>
        </p:txBody>
      </p:sp>
      <p:pic>
        <p:nvPicPr>
          <p:cNvPr id="45" name="chev-Expense claim-1" descr="preencoded.png">    </p:cNvPr>
          <p:cNvPicPr>
            <a:picLocks noChangeAspect="1"/>
          </p:cNvPicPr>
          <p:nvPr/>
        </p:nvPicPr>
        <p:blipFill>
          <a:blip r:embed="rId11"/>
          <a:stretch>
            <a:fillRect/>
          </a:stretch>
        </p:blipFill>
        <p:spPr>
          <a:xfrm>
            <a:off x="4361688" y="3465576"/>
            <a:ext cx="201168" cy="201168"/>
          </a:xfrm>
          <a:prstGeom prst="rect">
            <a:avLst/>
          </a:prstGeom>
        </p:spPr>
      </p:pic>
      <p:sp>
        <p:nvSpPr>
          <p:cNvPr id="46" name="chip-Expense claim-2"/>
          <p:cNvSpPr/>
          <p:nvPr/>
        </p:nvSpPr>
        <p:spPr>
          <a:xfrm>
            <a:off x="4581144" y="3374136"/>
            <a:ext cx="969264" cy="384048"/>
          </a:xfrm>
          <a:prstGeom prst="roundRect">
            <a:avLst>
              <a:gd name="adj" fmla="val 50000"/>
            </a:avLst>
          </a:prstGeom>
          <a:solidFill>
            <a:srgbClr val="059669"/>
          </a:solidFill>
          <a:ln w="12700">
            <a:solidFill>
              <a:srgbClr val="059669"/>
            </a:solidFill>
            <a:prstDash val="solid"/>
          </a:ln>
        </p:spPr>
      </p:sp>
      <p:sp>
        <p:nvSpPr>
          <p:cNvPr id="47" name="Text 34"/>
          <p:cNvSpPr txBox="1"/>
          <p:nvPr/>
        </p:nvSpPr>
        <p:spPr>
          <a:xfrm>
            <a:off x="4581144" y="3374136"/>
            <a:ext cx="969264" cy="384048"/>
          </a:xfrm>
          <a:prstGeom prst="rect">
            <a:avLst/>
          </a:prstGeom>
          <a:noFill/>
          <a:ln/>
        </p:spPr>
        <p:txBody>
          <a:bodyPr wrap="square" lIns="0" tIns="0" rIns="0" bIns="0" rtlCol="0" anchor="ctr"/>
          <a:lstStyle/>
          <a:p>
            <a:pPr algn="ctr" indent="0" marL="0">
              <a:buNone/>
            </a:pPr>
            <a:r>
              <a:rPr lang="en-US" sz="1050" b="1" dirty="0">
                <a:solidFill>
                  <a:srgbClr val="FFFFFF"/>
                </a:solidFill>
              </a:rPr>
              <a:t>Reimbursed</a:t>
            </a:r>
            <a:endParaRPr lang="en-US" sz="1050" dirty="0"/>
          </a:p>
        </p:txBody>
      </p:sp>
      <p:sp>
        <p:nvSpPr>
          <p:cNvPr id="48" name="Text 35"/>
          <p:cNvSpPr txBox="1"/>
          <p:nvPr/>
        </p:nvSpPr>
        <p:spPr>
          <a:xfrm>
            <a:off x="2468880" y="3803904"/>
            <a:ext cx="8961120" cy="292608"/>
          </a:xfrm>
          <a:prstGeom prst="rect">
            <a:avLst/>
          </a:prstGeom>
          <a:noFill/>
          <a:ln/>
        </p:spPr>
        <p:txBody>
          <a:bodyPr wrap="square" lIns="0" tIns="0" rIns="0" bIns="0" rtlCol="0" anchor="ctr"/>
          <a:lstStyle/>
          <a:p>
            <a:pPr indent="0" marL="0">
              <a:buNone/>
            </a:pPr>
            <a:r>
              <a:rPr lang="en-US" sz="1200" dirty="0">
                <a:solidFill>
                  <a:srgbClr val="64748B"/>
                </a:solidFill>
              </a:rPr>
              <a:t>Or Rejected</a:t>
            </a:r>
            <a:endParaRPr lang="en-US" sz="1200" dirty="0"/>
          </a:p>
        </p:txBody>
      </p:sp>
      <p:sp>
        <p:nvSpPr>
          <p:cNvPr id="49" name="Text 36"/>
          <p:cNvSpPr txBox="1"/>
          <p:nvPr/>
        </p:nvSpPr>
        <p:spPr>
          <a:xfrm>
            <a:off x="548640" y="4306824"/>
            <a:ext cx="1828800" cy="384048"/>
          </a:xfrm>
          <a:prstGeom prst="rect">
            <a:avLst/>
          </a:prstGeom>
          <a:noFill/>
          <a:ln/>
        </p:spPr>
        <p:txBody>
          <a:bodyPr wrap="square" lIns="0" tIns="0" rIns="0" bIns="0" rtlCol="0" anchor="ctr"/>
          <a:lstStyle/>
          <a:p>
            <a:pPr indent="0" marL="0">
              <a:buNone/>
            </a:pPr>
            <a:r>
              <a:rPr lang="en-US" sz="1500" b="1" dirty="0">
                <a:solidFill>
                  <a:srgbClr val="0F172A"/>
                </a:solidFill>
              </a:rPr>
              <a:t>Leave &amp; missed punch</a:t>
            </a:r>
            <a:endParaRPr lang="en-US" sz="1500" dirty="0"/>
          </a:p>
        </p:txBody>
      </p:sp>
      <p:sp>
        <p:nvSpPr>
          <p:cNvPr id="50" name="chip-Leave &amp; missed punch-0"/>
          <p:cNvSpPr/>
          <p:nvPr/>
        </p:nvSpPr>
        <p:spPr>
          <a:xfrm>
            <a:off x="2468880" y="4306824"/>
            <a:ext cx="766267" cy="384048"/>
          </a:xfrm>
          <a:prstGeom prst="roundRect">
            <a:avLst>
              <a:gd name="adj" fmla="val 50000"/>
            </a:avLst>
          </a:prstGeom>
          <a:solidFill>
            <a:srgbClr val="D97706"/>
          </a:solidFill>
          <a:ln w="12700">
            <a:solidFill>
              <a:srgbClr val="D97706"/>
            </a:solidFill>
            <a:prstDash val="solid"/>
          </a:ln>
        </p:spPr>
      </p:sp>
      <p:sp>
        <p:nvSpPr>
          <p:cNvPr id="51" name="Text 38"/>
          <p:cNvSpPr txBox="1"/>
          <p:nvPr/>
        </p:nvSpPr>
        <p:spPr>
          <a:xfrm>
            <a:off x="2468880" y="4306824"/>
            <a:ext cx="766267" cy="384048"/>
          </a:xfrm>
          <a:prstGeom prst="rect">
            <a:avLst/>
          </a:prstGeom>
          <a:noFill/>
          <a:ln/>
        </p:spPr>
        <p:txBody>
          <a:bodyPr wrap="square" lIns="0" tIns="0" rIns="0" bIns="0" rtlCol="0" anchor="ctr"/>
          <a:lstStyle/>
          <a:p>
            <a:pPr algn="ctr" indent="0" marL="0">
              <a:buNone/>
            </a:pPr>
            <a:r>
              <a:rPr lang="en-US" sz="1050" b="1" dirty="0">
                <a:solidFill>
                  <a:srgbClr val="FFFFFF"/>
                </a:solidFill>
              </a:rPr>
              <a:t>Pending</a:t>
            </a:r>
            <a:endParaRPr lang="en-US" sz="1050" dirty="0"/>
          </a:p>
        </p:txBody>
      </p:sp>
      <p:pic>
        <p:nvPicPr>
          <p:cNvPr id="52" name="chev-Leave &amp; missed punch-0" descr="preencoded.png">    </p:cNvPr>
          <p:cNvPicPr>
            <a:picLocks noChangeAspect="1"/>
          </p:cNvPicPr>
          <p:nvPr/>
        </p:nvPicPr>
        <p:blipFill>
          <a:blip r:embed="rId12"/>
          <a:stretch>
            <a:fillRect/>
          </a:stretch>
        </p:blipFill>
        <p:spPr>
          <a:xfrm>
            <a:off x="3271723" y="4398264"/>
            <a:ext cx="201168" cy="201168"/>
          </a:xfrm>
          <a:prstGeom prst="rect">
            <a:avLst/>
          </a:prstGeom>
        </p:spPr>
      </p:pic>
      <p:sp>
        <p:nvSpPr>
          <p:cNvPr id="53" name="chip-Leave &amp; missed punch-1"/>
          <p:cNvSpPr/>
          <p:nvPr/>
        </p:nvSpPr>
        <p:spPr>
          <a:xfrm>
            <a:off x="3491179" y="4306824"/>
            <a:ext cx="833933" cy="384048"/>
          </a:xfrm>
          <a:prstGeom prst="roundRect">
            <a:avLst>
              <a:gd name="adj" fmla="val 50000"/>
            </a:avLst>
          </a:prstGeom>
          <a:solidFill>
            <a:srgbClr val="059669"/>
          </a:solidFill>
          <a:ln w="12700">
            <a:solidFill>
              <a:srgbClr val="059669"/>
            </a:solidFill>
            <a:prstDash val="solid"/>
          </a:ln>
        </p:spPr>
      </p:sp>
      <p:sp>
        <p:nvSpPr>
          <p:cNvPr id="54" name="Text 40"/>
          <p:cNvSpPr txBox="1"/>
          <p:nvPr/>
        </p:nvSpPr>
        <p:spPr>
          <a:xfrm>
            <a:off x="3491179" y="4306824"/>
            <a:ext cx="833933" cy="384048"/>
          </a:xfrm>
          <a:prstGeom prst="rect">
            <a:avLst/>
          </a:prstGeom>
          <a:noFill/>
          <a:ln/>
        </p:spPr>
        <p:txBody>
          <a:bodyPr wrap="square" lIns="0" tIns="0" rIns="0" bIns="0" rtlCol="0" anchor="ctr"/>
          <a:lstStyle/>
          <a:p>
            <a:pPr algn="ctr" indent="0" marL="0">
              <a:buNone/>
            </a:pPr>
            <a:r>
              <a:rPr lang="en-US" sz="1050" b="1" dirty="0">
                <a:solidFill>
                  <a:srgbClr val="FFFFFF"/>
                </a:solidFill>
              </a:rPr>
              <a:t>Approved</a:t>
            </a:r>
            <a:endParaRPr lang="en-US" sz="1050" dirty="0"/>
          </a:p>
        </p:txBody>
      </p:sp>
      <p:sp>
        <p:nvSpPr>
          <p:cNvPr id="55" name="Text 41"/>
          <p:cNvSpPr txBox="1"/>
          <p:nvPr/>
        </p:nvSpPr>
        <p:spPr>
          <a:xfrm>
            <a:off x="2468880" y="4736592"/>
            <a:ext cx="8961120" cy="292608"/>
          </a:xfrm>
          <a:prstGeom prst="rect">
            <a:avLst/>
          </a:prstGeom>
          <a:noFill/>
          <a:ln/>
        </p:spPr>
        <p:txBody>
          <a:bodyPr wrap="square" lIns="0" tIns="0" rIns="0" bIns="0" rtlCol="0" anchor="ctr"/>
          <a:lstStyle/>
          <a:p>
            <a:pPr indent="0" marL="0">
              <a:buNone/>
            </a:pPr>
            <a:r>
              <a:rPr lang="en-US" sz="1200" dirty="0">
                <a:solidFill>
                  <a:srgbClr val="64748B"/>
                </a:solidFill>
              </a:rPr>
              <a:t>Or Rejected; leave can also be Cancelled</a:t>
            </a:r>
            <a:endParaRPr lang="en-US" sz="1200" dirty="0"/>
          </a:p>
        </p:txBody>
      </p:sp>
      <p:sp>
        <p:nvSpPr>
          <p:cNvPr id="56" name="Text 42"/>
          <p:cNvSpPr txBox="1"/>
          <p:nvPr/>
        </p:nvSpPr>
        <p:spPr>
          <a:xfrm>
            <a:off x="548640" y="5239512"/>
            <a:ext cx="1828800" cy="384048"/>
          </a:xfrm>
          <a:prstGeom prst="rect">
            <a:avLst/>
          </a:prstGeom>
          <a:noFill/>
          <a:ln/>
        </p:spPr>
        <p:txBody>
          <a:bodyPr wrap="square" lIns="0" tIns="0" rIns="0" bIns="0" rtlCol="0" anchor="ctr"/>
          <a:lstStyle/>
          <a:p>
            <a:pPr indent="0" marL="0">
              <a:buNone/>
            </a:pPr>
            <a:r>
              <a:rPr lang="en-US" sz="1500" b="1" dirty="0">
                <a:solidFill>
                  <a:srgbClr val="0F172A"/>
                </a:solidFill>
              </a:rPr>
              <a:t>Helpdesk ticket</a:t>
            </a:r>
            <a:endParaRPr lang="en-US" sz="1500" dirty="0"/>
          </a:p>
        </p:txBody>
      </p:sp>
      <p:sp>
        <p:nvSpPr>
          <p:cNvPr id="57" name="chip-Helpdesk ticket-0"/>
          <p:cNvSpPr/>
          <p:nvPr/>
        </p:nvSpPr>
        <p:spPr>
          <a:xfrm>
            <a:off x="2468880" y="5239512"/>
            <a:ext cx="713232" cy="384048"/>
          </a:xfrm>
          <a:prstGeom prst="roundRect">
            <a:avLst>
              <a:gd name="adj" fmla="val 50000"/>
            </a:avLst>
          </a:prstGeom>
          <a:solidFill>
            <a:srgbClr val="0284C7"/>
          </a:solidFill>
          <a:ln w="12700">
            <a:solidFill>
              <a:srgbClr val="0284C7"/>
            </a:solidFill>
            <a:prstDash val="solid"/>
          </a:ln>
        </p:spPr>
      </p:sp>
      <p:sp>
        <p:nvSpPr>
          <p:cNvPr id="58" name="Text 44"/>
          <p:cNvSpPr txBox="1"/>
          <p:nvPr/>
        </p:nvSpPr>
        <p:spPr>
          <a:xfrm>
            <a:off x="2468880" y="5239512"/>
            <a:ext cx="713232" cy="384048"/>
          </a:xfrm>
          <a:prstGeom prst="rect">
            <a:avLst/>
          </a:prstGeom>
          <a:noFill/>
          <a:ln/>
        </p:spPr>
        <p:txBody>
          <a:bodyPr wrap="square" lIns="0" tIns="0" rIns="0" bIns="0" rtlCol="0" anchor="ctr"/>
          <a:lstStyle/>
          <a:p>
            <a:pPr algn="ctr" indent="0" marL="0">
              <a:buNone/>
            </a:pPr>
            <a:r>
              <a:rPr lang="en-US" sz="1050" b="1" dirty="0">
                <a:solidFill>
                  <a:srgbClr val="FFFFFF"/>
                </a:solidFill>
              </a:rPr>
              <a:t>Open</a:t>
            </a:r>
            <a:endParaRPr lang="en-US" sz="1050" dirty="0"/>
          </a:p>
        </p:txBody>
      </p:sp>
      <p:pic>
        <p:nvPicPr>
          <p:cNvPr id="59" name="chev-Helpdesk ticket-0" descr="preencoded.png">    </p:cNvPr>
          <p:cNvPicPr>
            <a:picLocks noChangeAspect="1"/>
          </p:cNvPicPr>
          <p:nvPr/>
        </p:nvPicPr>
        <p:blipFill>
          <a:blip r:embed="rId13"/>
          <a:stretch>
            <a:fillRect/>
          </a:stretch>
        </p:blipFill>
        <p:spPr>
          <a:xfrm>
            <a:off x="3218688" y="5330952"/>
            <a:ext cx="201168" cy="201168"/>
          </a:xfrm>
          <a:prstGeom prst="rect">
            <a:avLst/>
          </a:prstGeom>
        </p:spPr>
      </p:pic>
      <p:sp>
        <p:nvSpPr>
          <p:cNvPr id="60" name="chip-Helpdesk ticket-1"/>
          <p:cNvSpPr/>
          <p:nvPr/>
        </p:nvSpPr>
        <p:spPr>
          <a:xfrm>
            <a:off x="3438144" y="5239512"/>
            <a:ext cx="833933" cy="384048"/>
          </a:xfrm>
          <a:prstGeom prst="roundRect">
            <a:avLst>
              <a:gd name="adj" fmla="val 50000"/>
            </a:avLst>
          </a:prstGeom>
          <a:solidFill>
            <a:srgbClr val="64748B"/>
          </a:solidFill>
          <a:ln w="12700">
            <a:solidFill>
              <a:srgbClr val="64748B"/>
            </a:solidFill>
            <a:prstDash val="solid"/>
          </a:ln>
        </p:spPr>
      </p:sp>
      <p:sp>
        <p:nvSpPr>
          <p:cNvPr id="61" name="Text 46"/>
          <p:cNvSpPr txBox="1"/>
          <p:nvPr/>
        </p:nvSpPr>
        <p:spPr>
          <a:xfrm>
            <a:off x="3438144" y="5239512"/>
            <a:ext cx="833933" cy="384048"/>
          </a:xfrm>
          <a:prstGeom prst="rect">
            <a:avLst/>
          </a:prstGeom>
          <a:noFill/>
          <a:ln/>
        </p:spPr>
        <p:txBody>
          <a:bodyPr wrap="square" lIns="0" tIns="0" rIns="0" bIns="0" rtlCol="0" anchor="ctr"/>
          <a:lstStyle/>
          <a:p>
            <a:pPr algn="ctr" indent="0" marL="0">
              <a:buNone/>
            </a:pPr>
            <a:r>
              <a:rPr lang="en-US" sz="1050" b="1" dirty="0">
                <a:solidFill>
                  <a:srgbClr val="FFFFFF"/>
                </a:solidFill>
              </a:rPr>
              <a:t>Assigned</a:t>
            </a:r>
            <a:endParaRPr lang="en-US" sz="1050" dirty="0"/>
          </a:p>
        </p:txBody>
      </p:sp>
      <p:pic>
        <p:nvPicPr>
          <p:cNvPr id="62" name="chev-Helpdesk ticket-1" descr="preencoded.png">    </p:cNvPr>
          <p:cNvPicPr>
            <a:picLocks noChangeAspect="1"/>
          </p:cNvPicPr>
          <p:nvPr/>
        </p:nvPicPr>
        <p:blipFill>
          <a:blip r:embed="rId14"/>
          <a:stretch>
            <a:fillRect/>
          </a:stretch>
        </p:blipFill>
        <p:spPr>
          <a:xfrm>
            <a:off x="4308653" y="5330952"/>
            <a:ext cx="201168" cy="201168"/>
          </a:xfrm>
          <a:prstGeom prst="rect">
            <a:avLst/>
          </a:prstGeom>
        </p:spPr>
      </p:pic>
      <p:sp>
        <p:nvSpPr>
          <p:cNvPr id="63" name="chip-Helpdesk ticket-2"/>
          <p:cNvSpPr/>
          <p:nvPr/>
        </p:nvSpPr>
        <p:spPr>
          <a:xfrm>
            <a:off x="4528109" y="5239512"/>
            <a:ext cx="1036930" cy="384048"/>
          </a:xfrm>
          <a:prstGeom prst="roundRect">
            <a:avLst>
              <a:gd name="adj" fmla="val 50000"/>
            </a:avLst>
          </a:prstGeom>
          <a:solidFill>
            <a:srgbClr val="2563EB"/>
          </a:solidFill>
          <a:ln w="12700">
            <a:solidFill>
              <a:srgbClr val="2563EB"/>
            </a:solidFill>
            <a:prstDash val="solid"/>
          </a:ln>
        </p:spPr>
      </p:sp>
      <p:sp>
        <p:nvSpPr>
          <p:cNvPr id="64" name="Text 48"/>
          <p:cNvSpPr txBox="1"/>
          <p:nvPr/>
        </p:nvSpPr>
        <p:spPr>
          <a:xfrm>
            <a:off x="4528109" y="5239512"/>
            <a:ext cx="1036930" cy="384048"/>
          </a:xfrm>
          <a:prstGeom prst="rect">
            <a:avLst/>
          </a:prstGeom>
          <a:noFill/>
          <a:ln/>
        </p:spPr>
        <p:txBody>
          <a:bodyPr wrap="square" lIns="0" tIns="0" rIns="0" bIns="0" rtlCol="0" anchor="ctr"/>
          <a:lstStyle/>
          <a:p>
            <a:pPr algn="ctr" indent="0" marL="0">
              <a:buNone/>
            </a:pPr>
            <a:r>
              <a:rPr lang="en-US" sz="1050" b="1" dirty="0">
                <a:solidFill>
                  <a:srgbClr val="FFFFFF"/>
                </a:solidFill>
              </a:rPr>
              <a:t>In Progress</a:t>
            </a:r>
            <a:endParaRPr lang="en-US" sz="1050" dirty="0"/>
          </a:p>
        </p:txBody>
      </p:sp>
      <p:pic>
        <p:nvPicPr>
          <p:cNvPr id="65" name="chev-Helpdesk ticket-2" descr="preencoded.png">    </p:cNvPr>
          <p:cNvPicPr>
            <a:picLocks noChangeAspect="1"/>
          </p:cNvPicPr>
          <p:nvPr/>
        </p:nvPicPr>
        <p:blipFill>
          <a:blip r:embed="rId15"/>
          <a:stretch>
            <a:fillRect/>
          </a:stretch>
        </p:blipFill>
        <p:spPr>
          <a:xfrm>
            <a:off x="5601614" y="5330952"/>
            <a:ext cx="201168" cy="201168"/>
          </a:xfrm>
          <a:prstGeom prst="rect">
            <a:avLst/>
          </a:prstGeom>
        </p:spPr>
      </p:pic>
      <p:sp>
        <p:nvSpPr>
          <p:cNvPr id="66" name="chip-Helpdesk ticket-3"/>
          <p:cNvSpPr/>
          <p:nvPr/>
        </p:nvSpPr>
        <p:spPr>
          <a:xfrm>
            <a:off x="5821070" y="5239512"/>
            <a:ext cx="1713586" cy="384048"/>
          </a:xfrm>
          <a:prstGeom prst="roundRect">
            <a:avLst>
              <a:gd name="adj" fmla="val 50000"/>
            </a:avLst>
          </a:prstGeom>
          <a:solidFill>
            <a:srgbClr val="D97706"/>
          </a:solidFill>
          <a:ln w="12700">
            <a:solidFill>
              <a:srgbClr val="D97706"/>
            </a:solidFill>
            <a:prstDash val="solid"/>
          </a:ln>
        </p:spPr>
      </p:sp>
      <p:sp>
        <p:nvSpPr>
          <p:cNvPr id="67" name="Text 50"/>
          <p:cNvSpPr txBox="1"/>
          <p:nvPr/>
        </p:nvSpPr>
        <p:spPr>
          <a:xfrm>
            <a:off x="5821070" y="5239512"/>
            <a:ext cx="1713586" cy="384048"/>
          </a:xfrm>
          <a:prstGeom prst="rect">
            <a:avLst/>
          </a:prstGeom>
          <a:noFill/>
          <a:ln/>
        </p:spPr>
        <p:txBody>
          <a:bodyPr wrap="square" lIns="0" tIns="0" rIns="0" bIns="0" rtlCol="0" anchor="ctr"/>
          <a:lstStyle/>
          <a:p>
            <a:pPr algn="ctr" indent="0" marL="0">
              <a:buNone/>
            </a:pPr>
            <a:r>
              <a:rPr lang="en-US" sz="1050" b="1" dirty="0">
                <a:solidFill>
                  <a:srgbClr val="FFFFFF"/>
                </a:solidFill>
              </a:rPr>
              <a:t>Pending Employee / HR</a:t>
            </a:r>
            <a:endParaRPr lang="en-US" sz="1050" dirty="0"/>
          </a:p>
        </p:txBody>
      </p:sp>
      <p:pic>
        <p:nvPicPr>
          <p:cNvPr id="68" name="chev-Helpdesk ticket-3" descr="preencoded.png">    </p:cNvPr>
          <p:cNvPicPr>
            <a:picLocks noChangeAspect="1"/>
          </p:cNvPicPr>
          <p:nvPr/>
        </p:nvPicPr>
        <p:blipFill>
          <a:blip r:embed="rId16"/>
          <a:stretch>
            <a:fillRect/>
          </a:stretch>
        </p:blipFill>
        <p:spPr>
          <a:xfrm>
            <a:off x="7571232" y="5330952"/>
            <a:ext cx="201168" cy="201168"/>
          </a:xfrm>
          <a:prstGeom prst="rect">
            <a:avLst/>
          </a:prstGeom>
        </p:spPr>
      </p:pic>
      <p:sp>
        <p:nvSpPr>
          <p:cNvPr id="69" name="chip-Helpdesk ticket-4"/>
          <p:cNvSpPr/>
          <p:nvPr/>
        </p:nvSpPr>
        <p:spPr>
          <a:xfrm>
            <a:off x="7790688" y="5239512"/>
            <a:ext cx="833933" cy="384048"/>
          </a:xfrm>
          <a:prstGeom prst="roundRect">
            <a:avLst>
              <a:gd name="adj" fmla="val 50000"/>
            </a:avLst>
          </a:prstGeom>
          <a:solidFill>
            <a:srgbClr val="059669"/>
          </a:solidFill>
          <a:ln w="12700">
            <a:solidFill>
              <a:srgbClr val="059669"/>
            </a:solidFill>
            <a:prstDash val="solid"/>
          </a:ln>
        </p:spPr>
      </p:sp>
      <p:sp>
        <p:nvSpPr>
          <p:cNvPr id="70" name="Text 52"/>
          <p:cNvSpPr txBox="1"/>
          <p:nvPr/>
        </p:nvSpPr>
        <p:spPr>
          <a:xfrm>
            <a:off x="7790688" y="5239512"/>
            <a:ext cx="833933" cy="384048"/>
          </a:xfrm>
          <a:prstGeom prst="rect">
            <a:avLst/>
          </a:prstGeom>
          <a:noFill/>
          <a:ln/>
        </p:spPr>
        <p:txBody>
          <a:bodyPr wrap="square" lIns="0" tIns="0" rIns="0" bIns="0" rtlCol="0" anchor="ctr"/>
          <a:lstStyle/>
          <a:p>
            <a:pPr algn="ctr" indent="0" marL="0">
              <a:buNone/>
            </a:pPr>
            <a:r>
              <a:rPr lang="en-US" sz="1050" b="1" dirty="0">
                <a:solidFill>
                  <a:srgbClr val="FFFFFF"/>
                </a:solidFill>
              </a:rPr>
              <a:t>Resolved</a:t>
            </a:r>
            <a:endParaRPr lang="en-US" sz="1050" dirty="0"/>
          </a:p>
        </p:txBody>
      </p:sp>
      <p:pic>
        <p:nvPicPr>
          <p:cNvPr id="71" name="chev-Helpdesk ticket-4" descr="preencoded.png">    </p:cNvPr>
          <p:cNvPicPr>
            <a:picLocks noChangeAspect="1"/>
          </p:cNvPicPr>
          <p:nvPr/>
        </p:nvPicPr>
        <p:blipFill>
          <a:blip r:embed="rId17"/>
          <a:stretch>
            <a:fillRect/>
          </a:stretch>
        </p:blipFill>
        <p:spPr>
          <a:xfrm>
            <a:off x="8661197" y="5330952"/>
            <a:ext cx="201168" cy="201168"/>
          </a:xfrm>
          <a:prstGeom prst="rect">
            <a:avLst/>
          </a:prstGeom>
        </p:spPr>
      </p:pic>
      <p:sp>
        <p:nvSpPr>
          <p:cNvPr id="72" name="chip-Helpdesk ticket-5"/>
          <p:cNvSpPr/>
          <p:nvPr/>
        </p:nvSpPr>
        <p:spPr>
          <a:xfrm>
            <a:off x="8880653" y="5239512"/>
            <a:ext cx="713232" cy="384048"/>
          </a:xfrm>
          <a:prstGeom prst="roundRect">
            <a:avLst>
              <a:gd name="adj" fmla="val 50000"/>
            </a:avLst>
          </a:prstGeom>
          <a:solidFill>
            <a:srgbClr val="10B981"/>
          </a:solidFill>
          <a:ln w="12700">
            <a:solidFill>
              <a:srgbClr val="10B981"/>
            </a:solidFill>
            <a:prstDash val="solid"/>
          </a:ln>
        </p:spPr>
      </p:sp>
      <p:sp>
        <p:nvSpPr>
          <p:cNvPr id="73" name="Text 54"/>
          <p:cNvSpPr txBox="1"/>
          <p:nvPr/>
        </p:nvSpPr>
        <p:spPr>
          <a:xfrm>
            <a:off x="8880653" y="5239512"/>
            <a:ext cx="713232" cy="384048"/>
          </a:xfrm>
          <a:prstGeom prst="rect">
            <a:avLst/>
          </a:prstGeom>
          <a:noFill/>
          <a:ln/>
        </p:spPr>
        <p:txBody>
          <a:bodyPr wrap="square" lIns="0" tIns="0" rIns="0" bIns="0" rtlCol="0" anchor="ctr"/>
          <a:lstStyle/>
          <a:p>
            <a:pPr algn="ctr" indent="0" marL="0">
              <a:buNone/>
            </a:pPr>
            <a:r>
              <a:rPr lang="en-US" sz="1050" b="1" dirty="0">
                <a:solidFill>
                  <a:srgbClr val="FFFFFF"/>
                </a:solidFill>
              </a:rPr>
              <a:t>Closed</a:t>
            </a:r>
            <a:endParaRPr lang="en-US" sz="1050" dirty="0"/>
          </a:p>
        </p:txBody>
      </p:sp>
      <p:sp>
        <p:nvSpPr>
          <p:cNvPr id="74" name="Text 55"/>
          <p:cNvSpPr txBox="1"/>
          <p:nvPr/>
        </p:nvSpPr>
        <p:spPr>
          <a:xfrm>
            <a:off x="2468880" y="5669280"/>
            <a:ext cx="8961120" cy="292608"/>
          </a:xfrm>
          <a:prstGeom prst="rect">
            <a:avLst/>
          </a:prstGeom>
          <a:noFill/>
          <a:ln/>
        </p:spPr>
        <p:txBody>
          <a:bodyPr wrap="square" lIns="0" tIns="0" rIns="0" bIns="0" rtlCol="0" anchor="ctr"/>
          <a:lstStyle/>
          <a:p>
            <a:pPr indent="0" marL="0">
              <a:buNone/>
            </a:pPr>
            <a:r>
              <a:rPr lang="en-US" sz="1200" dirty="0">
                <a:solidFill>
                  <a:srgbClr val="64748B"/>
                </a:solidFill>
              </a:rPr>
              <a:t>Side states: Escalated, Reopened, Rejected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200" b="1" dirty="0">
                <a:solidFill>
                  <a:schemeClr val="tx2"/>
                </a:solidFill>
              </a:rPr>
              <a:t>Where do I…?</a:t>
            </a:r>
            <a:endParaRPr lang="en-US" sz="32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rgbClr val="64748B"/>
                </a:solidFill>
              </a:rPr>
              <a:t>The quickest path to the things people ask about most.</a:t>
            </a:r>
            <a:endParaRPr lang="en-US" sz="1500" dirty="0"/>
          </a:p>
        </p:txBody>
      </p:sp>
      <p:sp>
        <p:nvSpPr>
          <p:cNvPr id="4" name="qa-0-0"/>
          <p:cNvSpPr/>
          <p:nvPr/>
        </p:nvSpPr>
        <p:spPr>
          <a:xfrm>
            <a:off x="548640" y="1554480"/>
            <a:ext cx="5394960" cy="621792"/>
          </a:xfrm>
          <a:prstGeom prst="roundRect">
            <a:avLst>
              <a:gd name="adj" fmla="val 14706"/>
            </a:avLst>
          </a:prstGeom>
          <a:solidFill>
            <a:srgbClr val="F3F5FA"/>
          </a:solidFill>
          <a:ln w="12700">
            <a:solidFill>
              <a:srgbClr val="F3F5FA"/>
            </a:solidFill>
            <a:prstDash val="solid"/>
          </a:ln>
        </p:spPr>
      </p:sp>
      <p:sp>
        <p:nvSpPr>
          <p:cNvPr id="5" name="Text 3"/>
          <p:cNvSpPr txBox="1"/>
          <p:nvPr/>
        </p:nvSpPr>
        <p:spPr>
          <a:xfrm>
            <a:off x="731520" y="1554480"/>
            <a:ext cx="2377440" cy="621792"/>
          </a:xfrm>
          <a:prstGeom prst="rect">
            <a:avLst/>
          </a:prstGeom>
          <a:noFill/>
          <a:ln/>
        </p:spPr>
        <p:txBody>
          <a:bodyPr wrap="square" lIns="0" tIns="0" rIns="0" bIns="0" rtlCol="0" anchor="ctr"/>
          <a:lstStyle/>
          <a:p>
            <a:pPr indent="0" marL="0">
              <a:buNone/>
            </a:pPr>
            <a:r>
              <a:rPr lang="en-US" sz="1400" b="1" dirty="0">
                <a:solidFill>
                  <a:srgbClr val="0F172A"/>
                </a:solidFill>
              </a:rPr>
              <a:t>Check in or out</a:t>
            </a:r>
            <a:endParaRPr lang="en-US" sz="1400" dirty="0"/>
          </a:p>
        </p:txBody>
      </p:sp>
      <p:sp>
        <p:nvSpPr>
          <p:cNvPr id="6" name="Text 4"/>
          <p:cNvSpPr txBox="1"/>
          <p:nvPr/>
        </p:nvSpPr>
        <p:spPr>
          <a:xfrm>
            <a:off x="3154680" y="1554480"/>
            <a:ext cx="2697480" cy="621792"/>
          </a:xfrm>
          <a:prstGeom prst="rect">
            <a:avLst/>
          </a:prstGeom>
          <a:noFill/>
          <a:ln/>
        </p:spPr>
        <p:txBody>
          <a:bodyPr wrap="square" lIns="0" tIns="0" rIns="0" bIns="0" rtlCol="0" anchor="ctr"/>
          <a:lstStyle/>
          <a:p>
            <a:pPr indent="0" marL="0">
              <a:buNone/>
            </a:pPr>
            <a:r>
              <a:rPr lang="en-US" sz="1300" dirty="0">
                <a:solidFill>
                  <a:srgbClr val="1E40AF"/>
                </a:solidFill>
              </a:rPr>
              <a:t>Dashboard › My day</a:t>
            </a:r>
            <a:endParaRPr lang="en-US" sz="1300" dirty="0"/>
          </a:p>
        </p:txBody>
      </p:sp>
      <p:sp>
        <p:nvSpPr>
          <p:cNvPr id="7" name="qa-0-1"/>
          <p:cNvSpPr/>
          <p:nvPr/>
        </p:nvSpPr>
        <p:spPr>
          <a:xfrm>
            <a:off x="548640" y="2304288"/>
            <a:ext cx="5394960" cy="621792"/>
          </a:xfrm>
          <a:prstGeom prst="roundRect">
            <a:avLst>
              <a:gd name="adj" fmla="val 14706"/>
            </a:avLst>
          </a:prstGeom>
          <a:solidFill>
            <a:srgbClr val="F3F5FA"/>
          </a:solidFill>
          <a:ln w="12700">
            <a:solidFill>
              <a:srgbClr val="F3F5FA"/>
            </a:solidFill>
            <a:prstDash val="solid"/>
          </a:ln>
        </p:spPr>
      </p:sp>
      <p:sp>
        <p:nvSpPr>
          <p:cNvPr id="8" name="Text 6"/>
          <p:cNvSpPr txBox="1"/>
          <p:nvPr/>
        </p:nvSpPr>
        <p:spPr>
          <a:xfrm>
            <a:off x="731520" y="2304288"/>
            <a:ext cx="2377440" cy="621792"/>
          </a:xfrm>
          <a:prstGeom prst="rect">
            <a:avLst/>
          </a:prstGeom>
          <a:noFill/>
          <a:ln/>
        </p:spPr>
        <p:txBody>
          <a:bodyPr wrap="square" lIns="0" tIns="0" rIns="0" bIns="0" rtlCol="0" anchor="ctr"/>
          <a:lstStyle/>
          <a:p>
            <a:pPr indent="0" marL="0">
              <a:buNone/>
            </a:pPr>
            <a:r>
              <a:rPr lang="en-US" sz="1400" b="1" dirty="0">
                <a:solidFill>
                  <a:srgbClr val="0F172A"/>
                </a:solidFill>
              </a:rPr>
              <a:t>Fix a missed punch</a:t>
            </a:r>
            <a:endParaRPr lang="en-US" sz="1400" dirty="0"/>
          </a:p>
        </p:txBody>
      </p:sp>
      <p:sp>
        <p:nvSpPr>
          <p:cNvPr id="9" name="Text 7"/>
          <p:cNvSpPr txBox="1"/>
          <p:nvPr/>
        </p:nvSpPr>
        <p:spPr>
          <a:xfrm>
            <a:off x="3154680" y="2304288"/>
            <a:ext cx="2697480" cy="621792"/>
          </a:xfrm>
          <a:prstGeom prst="rect">
            <a:avLst/>
          </a:prstGeom>
          <a:noFill/>
          <a:ln/>
        </p:spPr>
        <p:txBody>
          <a:bodyPr wrap="square" lIns="0" tIns="0" rIns="0" bIns="0" rtlCol="0" anchor="ctr"/>
          <a:lstStyle/>
          <a:p>
            <a:pPr indent="0" marL="0">
              <a:buNone/>
            </a:pPr>
            <a:r>
              <a:rPr lang="en-US" sz="1300" dirty="0">
                <a:solidFill>
                  <a:srgbClr val="1E40AF"/>
                </a:solidFill>
              </a:rPr>
              <a:t>Attendance › Regularization</a:t>
            </a:r>
            <a:endParaRPr lang="en-US" sz="1300" dirty="0"/>
          </a:p>
        </p:txBody>
      </p:sp>
      <p:sp>
        <p:nvSpPr>
          <p:cNvPr id="10" name="qa-0-2"/>
          <p:cNvSpPr/>
          <p:nvPr/>
        </p:nvSpPr>
        <p:spPr>
          <a:xfrm>
            <a:off x="548640" y="3054096"/>
            <a:ext cx="5394960" cy="621792"/>
          </a:xfrm>
          <a:prstGeom prst="roundRect">
            <a:avLst>
              <a:gd name="adj" fmla="val 14706"/>
            </a:avLst>
          </a:prstGeom>
          <a:solidFill>
            <a:srgbClr val="F3F5FA"/>
          </a:solidFill>
          <a:ln w="12700">
            <a:solidFill>
              <a:srgbClr val="F3F5FA"/>
            </a:solidFill>
            <a:prstDash val="solid"/>
          </a:ln>
        </p:spPr>
      </p:sp>
      <p:sp>
        <p:nvSpPr>
          <p:cNvPr id="11" name="Text 9"/>
          <p:cNvSpPr txBox="1"/>
          <p:nvPr/>
        </p:nvSpPr>
        <p:spPr>
          <a:xfrm>
            <a:off x="731520" y="3054096"/>
            <a:ext cx="2377440" cy="621792"/>
          </a:xfrm>
          <a:prstGeom prst="rect">
            <a:avLst/>
          </a:prstGeom>
          <a:noFill/>
          <a:ln/>
        </p:spPr>
        <p:txBody>
          <a:bodyPr wrap="square" lIns="0" tIns="0" rIns="0" bIns="0" rtlCol="0" anchor="ctr"/>
          <a:lstStyle/>
          <a:p>
            <a:pPr indent="0" marL="0">
              <a:buNone/>
            </a:pPr>
            <a:r>
              <a:rPr lang="en-US" sz="1400" b="1" dirty="0">
                <a:solidFill>
                  <a:srgbClr val="0F172A"/>
                </a:solidFill>
              </a:rPr>
              <a:t>Apply for leave</a:t>
            </a:r>
            <a:endParaRPr lang="en-US" sz="1400" dirty="0"/>
          </a:p>
        </p:txBody>
      </p:sp>
      <p:sp>
        <p:nvSpPr>
          <p:cNvPr id="12" name="Text 10"/>
          <p:cNvSpPr txBox="1"/>
          <p:nvPr/>
        </p:nvSpPr>
        <p:spPr>
          <a:xfrm>
            <a:off x="3154680" y="3054096"/>
            <a:ext cx="2697480" cy="621792"/>
          </a:xfrm>
          <a:prstGeom prst="rect">
            <a:avLst/>
          </a:prstGeom>
          <a:noFill/>
          <a:ln/>
        </p:spPr>
        <p:txBody>
          <a:bodyPr wrap="square" lIns="0" tIns="0" rIns="0" bIns="0" rtlCol="0" anchor="ctr"/>
          <a:lstStyle/>
          <a:p>
            <a:pPr indent="0" marL="0">
              <a:buNone/>
            </a:pPr>
            <a:r>
              <a:rPr lang="en-US" sz="1300" dirty="0">
                <a:solidFill>
                  <a:srgbClr val="1E40AF"/>
                </a:solidFill>
              </a:rPr>
              <a:t>Leave › Apply Leave</a:t>
            </a:r>
            <a:endParaRPr lang="en-US" sz="1300" dirty="0"/>
          </a:p>
        </p:txBody>
      </p:sp>
      <p:sp>
        <p:nvSpPr>
          <p:cNvPr id="13" name="qa-0-3"/>
          <p:cNvSpPr/>
          <p:nvPr/>
        </p:nvSpPr>
        <p:spPr>
          <a:xfrm>
            <a:off x="548640" y="3803904"/>
            <a:ext cx="5394960" cy="621792"/>
          </a:xfrm>
          <a:prstGeom prst="roundRect">
            <a:avLst>
              <a:gd name="adj" fmla="val 14706"/>
            </a:avLst>
          </a:prstGeom>
          <a:solidFill>
            <a:srgbClr val="F3F5FA"/>
          </a:solidFill>
          <a:ln w="12700">
            <a:solidFill>
              <a:srgbClr val="F3F5FA"/>
            </a:solidFill>
            <a:prstDash val="solid"/>
          </a:ln>
        </p:spPr>
      </p:sp>
      <p:sp>
        <p:nvSpPr>
          <p:cNvPr id="14" name="Text 12"/>
          <p:cNvSpPr txBox="1"/>
          <p:nvPr/>
        </p:nvSpPr>
        <p:spPr>
          <a:xfrm>
            <a:off x="731520" y="3803904"/>
            <a:ext cx="2377440" cy="621792"/>
          </a:xfrm>
          <a:prstGeom prst="rect">
            <a:avLst/>
          </a:prstGeom>
          <a:noFill/>
          <a:ln/>
        </p:spPr>
        <p:txBody>
          <a:bodyPr wrap="square" lIns="0" tIns="0" rIns="0" bIns="0" rtlCol="0" anchor="ctr"/>
          <a:lstStyle/>
          <a:p>
            <a:pPr indent="0" marL="0">
              <a:buNone/>
            </a:pPr>
            <a:r>
              <a:rPr lang="en-US" sz="1400" b="1" dirty="0">
                <a:solidFill>
                  <a:srgbClr val="0F172A"/>
                </a:solidFill>
              </a:rPr>
              <a:t>Start audit work</a:t>
            </a:r>
            <a:endParaRPr lang="en-US" sz="1400" dirty="0"/>
          </a:p>
        </p:txBody>
      </p:sp>
      <p:sp>
        <p:nvSpPr>
          <p:cNvPr id="15" name="Text 13"/>
          <p:cNvSpPr txBox="1"/>
          <p:nvPr/>
        </p:nvSpPr>
        <p:spPr>
          <a:xfrm>
            <a:off x="3154680" y="3803904"/>
            <a:ext cx="2697480" cy="621792"/>
          </a:xfrm>
          <a:prstGeom prst="rect">
            <a:avLst/>
          </a:prstGeom>
          <a:noFill/>
          <a:ln/>
        </p:spPr>
        <p:txBody>
          <a:bodyPr wrap="square" lIns="0" tIns="0" rIns="0" bIns="0" rtlCol="0" anchor="ctr"/>
          <a:lstStyle/>
          <a:p>
            <a:pPr indent="0" marL="0">
              <a:buNone/>
            </a:pPr>
            <a:r>
              <a:rPr lang="en-US" sz="1300" dirty="0">
                <a:solidFill>
                  <a:srgbClr val="1E40AF"/>
                </a:solidFill>
              </a:rPr>
              <a:t>Audits › My Work › Start</a:t>
            </a:r>
            <a:endParaRPr lang="en-US" sz="1300" dirty="0"/>
          </a:p>
        </p:txBody>
      </p:sp>
      <p:sp>
        <p:nvSpPr>
          <p:cNvPr id="16" name="qa-0-4"/>
          <p:cNvSpPr/>
          <p:nvPr/>
        </p:nvSpPr>
        <p:spPr>
          <a:xfrm>
            <a:off x="548640" y="4553712"/>
            <a:ext cx="5394960" cy="621792"/>
          </a:xfrm>
          <a:prstGeom prst="roundRect">
            <a:avLst>
              <a:gd name="adj" fmla="val 14706"/>
            </a:avLst>
          </a:prstGeom>
          <a:solidFill>
            <a:srgbClr val="F3F5FA"/>
          </a:solidFill>
          <a:ln w="12700">
            <a:solidFill>
              <a:srgbClr val="F3F5FA"/>
            </a:solidFill>
            <a:prstDash val="solid"/>
          </a:ln>
        </p:spPr>
      </p:sp>
      <p:sp>
        <p:nvSpPr>
          <p:cNvPr id="17" name="Text 15"/>
          <p:cNvSpPr txBox="1"/>
          <p:nvPr/>
        </p:nvSpPr>
        <p:spPr>
          <a:xfrm>
            <a:off x="731520" y="4553712"/>
            <a:ext cx="2377440" cy="621792"/>
          </a:xfrm>
          <a:prstGeom prst="rect">
            <a:avLst/>
          </a:prstGeom>
          <a:noFill/>
          <a:ln/>
        </p:spPr>
        <p:txBody>
          <a:bodyPr wrap="square" lIns="0" tIns="0" rIns="0" bIns="0" rtlCol="0" anchor="ctr"/>
          <a:lstStyle/>
          <a:p>
            <a:pPr indent="0" marL="0">
              <a:buNone/>
            </a:pPr>
            <a:r>
              <a:rPr lang="en-US" sz="1400" b="1" dirty="0">
                <a:solidFill>
                  <a:srgbClr val="0F172A"/>
                </a:solidFill>
              </a:rPr>
              <a:t>Log time I forgot to time</a:t>
            </a:r>
            <a:endParaRPr lang="en-US" sz="1400" dirty="0"/>
          </a:p>
        </p:txBody>
      </p:sp>
      <p:sp>
        <p:nvSpPr>
          <p:cNvPr id="18" name="Text 16"/>
          <p:cNvSpPr txBox="1"/>
          <p:nvPr/>
        </p:nvSpPr>
        <p:spPr>
          <a:xfrm>
            <a:off x="3154680" y="4553712"/>
            <a:ext cx="2697480" cy="621792"/>
          </a:xfrm>
          <a:prstGeom prst="rect">
            <a:avLst/>
          </a:prstGeom>
          <a:noFill/>
          <a:ln/>
        </p:spPr>
        <p:txBody>
          <a:bodyPr wrap="square" lIns="0" tIns="0" rIns="0" bIns="0" rtlCol="0" anchor="ctr"/>
          <a:lstStyle/>
          <a:p>
            <a:pPr indent="0" marL="0">
              <a:buNone/>
            </a:pPr>
            <a:r>
              <a:rPr lang="en-US" sz="1300" dirty="0">
                <a:solidFill>
                  <a:srgbClr val="1E40AF"/>
                </a:solidFill>
              </a:rPr>
              <a:t>Audits › Timesheets › Add time</a:t>
            </a:r>
            <a:endParaRPr lang="en-US" sz="1300" dirty="0"/>
          </a:p>
        </p:txBody>
      </p:sp>
      <p:sp>
        <p:nvSpPr>
          <p:cNvPr id="19" name="qa-0-5"/>
          <p:cNvSpPr/>
          <p:nvPr/>
        </p:nvSpPr>
        <p:spPr>
          <a:xfrm>
            <a:off x="548640" y="5303520"/>
            <a:ext cx="5394960" cy="621792"/>
          </a:xfrm>
          <a:prstGeom prst="roundRect">
            <a:avLst>
              <a:gd name="adj" fmla="val 14706"/>
            </a:avLst>
          </a:prstGeom>
          <a:solidFill>
            <a:srgbClr val="F3F5FA"/>
          </a:solidFill>
          <a:ln w="12700">
            <a:solidFill>
              <a:srgbClr val="F3F5FA"/>
            </a:solidFill>
            <a:prstDash val="solid"/>
          </a:ln>
        </p:spPr>
      </p:sp>
      <p:sp>
        <p:nvSpPr>
          <p:cNvPr id="20" name="Text 18"/>
          <p:cNvSpPr txBox="1"/>
          <p:nvPr/>
        </p:nvSpPr>
        <p:spPr>
          <a:xfrm>
            <a:off x="731520" y="5303520"/>
            <a:ext cx="2377440" cy="621792"/>
          </a:xfrm>
          <a:prstGeom prst="rect">
            <a:avLst/>
          </a:prstGeom>
          <a:noFill/>
          <a:ln/>
        </p:spPr>
        <p:txBody>
          <a:bodyPr wrap="square" lIns="0" tIns="0" rIns="0" bIns="0" rtlCol="0" anchor="ctr"/>
          <a:lstStyle/>
          <a:p>
            <a:pPr indent="0" marL="0">
              <a:buNone/>
            </a:pPr>
            <a:r>
              <a:rPr lang="en-US" sz="1400" b="1" dirty="0">
                <a:solidFill>
                  <a:srgbClr val="0F172A"/>
                </a:solidFill>
              </a:rPr>
              <a:t>Submit my week</a:t>
            </a:r>
            <a:endParaRPr lang="en-US" sz="1400" dirty="0"/>
          </a:p>
        </p:txBody>
      </p:sp>
      <p:sp>
        <p:nvSpPr>
          <p:cNvPr id="21" name="Text 19"/>
          <p:cNvSpPr txBox="1"/>
          <p:nvPr/>
        </p:nvSpPr>
        <p:spPr>
          <a:xfrm>
            <a:off x="3154680" y="5303520"/>
            <a:ext cx="2697480" cy="621792"/>
          </a:xfrm>
          <a:prstGeom prst="rect">
            <a:avLst/>
          </a:prstGeom>
          <a:noFill/>
          <a:ln/>
        </p:spPr>
        <p:txBody>
          <a:bodyPr wrap="square" lIns="0" tIns="0" rIns="0" bIns="0" rtlCol="0" anchor="ctr"/>
          <a:lstStyle/>
          <a:p>
            <a:pPr indent="0" marL="0">
              <a:buNone/>
            </a:pPr>
            <a:r>
              <a:rPr lang="en-US" sz="1300" dirty="0">
                <a:solidFill>
                  <a:srgbClr val="1E40AF"/>
                </a:solidFill>
              </a:rPr>
              <a:t>Audits › Timesheets › Submit week</a:t>
            </a:r>
            <a:endParaRPr lang="en-US" sz="1300" dirty="0"/>
          </a:p>
        </p:txBody>
      </p:sp>
      <p:sp>
        <p:nvSpPr>
          <p:cNvPr id="22" name="qa-1-0"/>
          <p:cNvSpPr/>
          <p:nvPr/>
        </p:nvSpPr>
        <p:spPr>
          <a:xfrm>
            <a:off x="6217920" y="1554480"/>
            <a:ext cx="5394960" cy="621792"/>
          </a:xfrm>
          <a:prstGeom prst="roundRect">
            <a:avLst>
              <a:gd name="adj" fmla="val 14706"/>
            </a:avLst>
          </a:prstGeom>
          <a:solidFill>
            <a:srgbClr val="F3F5FA"/>
          </a:solidFill>
          <a:ln w="12700">
            <a:solidFill>
              <a:srgbClr val="F3F5FA"/>
            </a:solidFill>
            <a:prstDash val="solid"/>
          </a:ln>
        </p:spPr>
      </p:sp>
      <p:sp>
        <p:nvSpPr>
          <p:cNvPr id="23" name="Text 21"/>
          <p:cNvSpPr txBox="1"/>
          <p:nvPr/>
        </p:nvSpPr>
        <p:spPr>
          <a:xfrm>
            <a:off x="6400800" y="1554480"/>
            <a:ext cx="2377440" cy="621792"/>
          </a:xfrm>
          <a:prstGeom prst="rect">
            <a:avLst/>
          </a:prstGeom>
          <a:noFill/>
          <a:ln/>
        </p:spPr>
        <p:txBody>
          <a:bodyPr wrap="square" lIns="0" tIns="0" rIns="0" bIns="0" rtlCol="0" anchor="ctr"/>
          <a:lstStyle/>
          <a:p>
            <a:pPr indent="0" marL="0">
              <a:buNone/>
            </a:pPr>
            <a:r>
              <a:rPr lang="en-US" sz="1400" b="1" dirty="0">
                <a:solidFill>
                  <a:srgbClr val="0F172A"/>
                </a:solidFill>
              </a:rPr>
              <a:t>Claim an expense</a:t>
            </a:r>
            <a:endParaRPr lang="en-US" sz="1400" dirty="0"/>
          </a:p>
        </p:txBody>
      </p:sp>
      <p:sp>
        <p:nvSpPr>
          <p:cNvPr id="24" name="Text 22"/>
          <p:cNvSpPr txBox="1"/>
          <p:nvPr/>
        </p:nvSpPr>
        <p:spPr>
          <a:xfrm>
            <a:off x="8823960" y="1554480"/>
            <a:ext cx="2697480" cy="621792"/>
          </a:xfrm>
          <a:prstGeom prst="rect">
            <a:avLst/>
          </a:prstGeom>
          <a:noFill/>
          <a:ln/>
        </p:spPr>
        <p:txBody>
          <a:bodyPr wrap="square" lIns="0" tIns="0" rIns="0" bIns="0" rtlCol="0" anchor="ctr"/>
          <a:lstStyle/>
          <a:p>
            <a:pPr indent="0" marL="0">
              <a:buNone/>
            </a:pPr>
            <a:r>
              <a:rPr lang="en-US" sz="1300" dirty="0">
                <a:solidFill>
                  <a:srgbClr val="1E40AF"/>
                </a:solidFill>
              </a:rPr>
              <a:t>Expenses › My Expenses › New claim</a:t>
            </a:r>
            <a:endParaRPr lang="en-US" sz="1300" dirty="0"/>
          </a:p>
        </p:txBody>
      </p:sp>
      <p:sp>
        <p:nvSpPr>
          <p:cNvPr id="25" name="qa-1-1"/>
          <p:cNvSpPr/>
          <p:nvPr/>
        </p:nvSpPr>
        <p:spPr>
          <a:xfrm>
            <a:off x="6217920" y="2304288"/>
            <a:ext cx="5394960" cy="621792"/>
          </a:xfrm>
          <a:prstGeom prst="roundRect">
            <a:avLst>
              <a:gd name="adj" fmla="val 14706"/>
            </a:avLst>
          </a:prstGeom>
          <a:solidFill>
            <a:srgbClr val="F3F5FA"/>
          </a:solidFill>
          <a:ln w="12700">
            <a:solidFill>
              <a:srgbClr val="F3F5FA"/>
            </a:solidFill>
            <a:prstDash val="solid"/>
          </a:ln>
        </p:spPr>
      </p:sp>
      <p:sp>
        <p:nvSpPr>
          <p:cNvPr id="26" name="Text 24"/>
          <p:cNvSpPr txBox="1"/>
          <p:nvPr/>
        </p:nvSpPr>
        <p:spPr>
          <a:xfrm>
            <a:off x="6400800" y="2304288"/>
            <a:ext cx="2377440" cy="621792"/>
          </a:xfrm>
          <a:prstGeom prst="rect">
            <a:avLst/>
          </a:prstGeom>
          <a:noFill/>
          <a:ln/>
        </p:spPr>
        <p:txBody>
          <a:bodyPr wrap="square" lIns="0" tIns="0" rIns="0" bIns="0" rtlCol="0" anchor="ctr"/>
          <a:lstStyle/>
          <a:p>
            <a:pPr indent="0" marL="0">
              <a:buNone/>
            </a:pPr>
            <a:r>
              <a:rPr lang="en-US" sz="1400" b="1" dirty="0">
                <a:solidFill>
                  <a:srgbClr val="0F172A"/>
                </a:solidFill>
              </a:rPr>
              <a:t>Ask HR a question</a:t>
            </a:r>
            <a:endParaRPr lang="en-US" sz="1400" dirty="0"/>
          </a:p>
        </p:txBody>
      </p:sp>
      <p:sp>
        <p:nvSpPr>
          <p:cNvPr id="27" name="Text 25"/>
          <p:cNvSpPr txBox="1"/>
          <p:nvPr/>
        </p:nvSpPr>
        <p:spPr>
          <a:xfrm>
            <a:off x="8823960" y="2304288"/>
            <a:ext cx="2697480" cy="621792"/>
          </a:xfrm>
          <a:prstGeom prst="rect">
            <a:avLst/>
          </a:prstGeom>
          <a:noFill/>
          <a:ln/>
        </p:spPr>
        <p:txBody>
          <a:bodyPr wrap="square" lIns="0" tIns="0" rIns="0" bIns="0" rtlCol="0" anchor="ctr"/>
          <a:lstStyle/>
          <a:p>
            <a:pPr indent="0" marL="0">
              <a:buNone/>
            </a:pPr>
            <a:r>
              <a:rPr lang="en-US" sz="1300" dirty="0">
                <a:solidFill>
                  <a:srgbClr val="1E40AF"/>
                </a:solidFill>
              </a:rPr>
              <a:t>HR Helpdesk › Raise a ticket</a:t>
            </a:r>
            <a:endParaRPr lang="en-US" sz="1300" dirty="0"/>
          </a:p>
        </p:txBody>
      </p:sp>
      <p:sp>
        <p:nvSpPr>
          <p:cNvPr id="28" name="qa-1-2"/>
          <p:cNvSpPr/>
          <p:nvPr/>
        </p:nvSpPr>
        <p:spPr>
          <a:xfrm>
            <a:off x="6217920" y="3054096"/>
            <a:ext cx="5394960" cy="621792"/>
          </a:xfrm>
          <a:prstGeom prst="roundRect">
            <a:avLst>
              <a:gd name="adj" fmla="val 14706"/>
            </a:avLst>
          </a:prstGeom>
          <a:solidFill>
            <a:srgbClr val="F3F5FA"/>
          </a:solidFill>
          <a:ln w="12700">
            <a:solidFill>
              <a:srgbClr val="F3F5FA"/>
            </a:solidFill>
            <a:prstDash val="solid"/>
          </a:ln>
        </p:spPr>
      </p:sp>
      <p:sp>
        <p:nvSpPr>
          <p:cNvPr id="29" name="Text 27"/>
          <p:cNvSpPr txBox="1"/>
          <p:nvPr/>
        </p:nvSpPr>
        <p:spPr>
          <a:xfrm>
            <a:off x="6400800" y="3054096"/>
            <a:ext cx="2377440" cy="621792"/>
          </a:xfrm>
          <a:prstGeom prst="rect">
            <a:avLst/>
          </a:prstGeom>
          <a:noFill/>
          <a:ln/>
        </p:spPr>
        <p:txBody>
          <a:bodyPr wrap="square" lIns="0" tIns="0" rIns="0" bIns="0" rtlCol="0" anchor="ctr"/>
          <a:lstStyle/>
          <a:p>
            <a:pPr indent="0" marL="0">
              <a:buNone/>
            </a:pPr>
            <a:r>
              <a:rPr lang="en-US" sz="1400" b="1" dirty="0">
                <a:solidFill>
                  <a:srgbClr val="0F172A"/>
                </a:solidFill>
              </a:rPr>
              <a:t>Download my payslip</a:t>
            </a:r>
            <a:endParaRPr lang="en-US" sz="1400" dirty="0"/>
          </a:p>
        </p:txBody>
      </p:sp>
      <p:sp>
        <p:nvSpPr>
          <p:cNvPr id="30" name="Text 28"/>
          <p:cNvSpPr txBox="1"/>
          <p:nvPr/>
        </p:nvSpPr>
        <p:spPr>
          <a:xfrm>
            <a:off x="8823960" y="3054096"/>
            <a:ext cx="2697480" cy="621792"/>
          </a:xfrm>
          <a:prstGeom prst="rect">
            <a:avLst/>
          </a:prstGeom>
          <a:noFill/>
          <a:ln/>
        </p:spPr>
        <p:txBody>
          <a:bodyPr wrap="square" lIns="0" tIns="0" rIns="0" bIns="0" rtlCol="0" anchor="ctr"/>
          <a:lstStyle/>
          <a:p>
            <a:pPr indent="0" marL="0">
              <a:buNone/>
            </a:pPr>
            <a:r>
              <a:rPr lang="en-US" sz="1300" dirty="0">
                <a:solidFill>
                  <a:srgbClr val="1E40AF"/>
                </a:solidFill>
              </a:rPr>
              <a:t>Payroll › My Payslips</a:t>
            </a:r>
            <a:endParaRPr lang="en-US" sz="1300" dirty="0"/>
          </a:p>
        </p:txBody>
      </p:sp>
      <p:sp>
        <p:nvSpPr>
          <p:cNvPr id="31" name="qa-1-3"/>
          <p:cNvSpPr/>
          <p:nvPr/>
        </p:nvSpPr>
        <p:spPr>
          <a:xfrm>
            <a:off x="6217920" y="3803904"/>
            <a:ext cx="5394960" cy="621792"/>
          </a:xfrm>
          <a:prstGeom prst="roundRect">
            <a:avLst>
              <a:gd name="adj" fmla="val 14706"/>
            </a:avLst>
          </a:prstGeom>
          <a:solidFill>
            <a:srgbClr val="F3F5FA"/>
          </a:solidFill>
          <a:ln w="12700">
            <a:solidFill>
              <a:srgbClr val="F3F5FA"/>
            </a:solidFill>
            <a:prstDash val="solid"/>
          </a:ln>
        </p:spPr>
      </p:sp>
      <p:sp>
        <p:nvSpPr>
          <p:cNvPr id="32" name="Text 30"/>
          <p:cNvSpPr txBox="1"/>
          <p:nvPr/>
        </p:nvSpPr>
        <p:spPr>
          <a:xfrm>
            <a:off x="6400800" y="3803904"/>
            <a:ext cx="2377440" cy="621792"/>
          </a:xfrm>
          <a:prstGeom prst="rect">
            <a:avLst/>
          </a:prstGeom>
          <a:noFill/>
          <a:ln/>
        </p:spPr>
        <p:txBody>
          <a:bodyPr wrap="square" lIns="0" tIns="0" rIns="0" bIns="0" rtlCol="0" anchor="ctr"/>
          <a:lstStyle/>
          <a:p>
            <a:pPr indent="0" marL="0">
              <a:buNone/>
            </a:pPr>
            <a:r>
              <a:rPr lang="en-US" sz="1400" b="1" dirty="0">
                <a:solidFill>
                  <a:srgbClr val="0F172A"/>
                </a:solidFill>
              </a:rPr>
              <a:t>Create an audit (managers)</a:t>
            </a:r>
            <a:endParaRPr lang="en-US" sz="1400" dirty="0"/>
          </a:p>
        </p:txBody>
      </p:sp>
      <p:sp>
        <p:nvSpPr>
          <p:cNvPr id="33" name="Text 31"/>
          <p:cNvSpPr txBox="1"/>
          <p:nvPr/>
        </p:nvSpPr>
        <p:spPr>
          <a:xfrm>
            <a:off x="8823960" y="3803904"/>
            <a:ext cx="2697480" cy="621792"/>
          </a:xfrm>
          <a:prstGeom prst="rect">
            <a:avLst/>
          </a:prstGeom>
          <a:noFill/>
          <a:ln/>
        </p:spPr>
        <p:txBody>
          <a:bodyPr wrap="square" lIns="0" tIns="0" rIns="0" bIns="0" rtlCol="0" anchor="ctr"/>
          <a:lstStyle/>
          <a:p>
            <a:pPr indent="0" marL="0">
              <a:buNone/>
            </a:pPr>
            <a:r>
              <a:rPr lang="en-US" sz="1300" dirty="0">
                <a:solidFill>
                  <a:srgbClr val="1E40AF"/>
                </a:solidFill>
              </a:rPr>
              <a:t>Audits › Engagements › New engagement</a:t>
            </a:r>
            <a:endParaRPr lang="en-US" sz="1300" dirty="0"/>
          </a:p>
        </p:txBody>
      </p:sp>
      <p:sp>
        <p:nvSpPr>
          <p:cNvPr id="34" name="qa-1-4"/>
          <p:cNvSpPr/>
          <p:nvPr/>
        </p:nvSpPr>
        <p:spPr>
          <a:xfrm>
            <a:off x="6217920" y="4553712"/>
            <a:ext cx="5394960" cy="621792"/>
          </a:xfrm>
          <a:prstGeom prst="roundRect">
            <a:avLst>
              <a:gd name="adj" fmla="val 14706"/>
            </a:avLst>
          </a:prstGeom>
          <a:solidFill>
            <a:srgbClr val="F3F5FA"/>
          </a:solidFill>
          <a:ln w="12700">
            <a:solidFill>
              <a:srgbClr val="F3F5FA"/>
            </a:solidFill>
            <a:prstDash val="solid"/>
          </a:ln>
        </p:spPr>
      </p:sp>
      <p:sp>
        <p:nvSpPr>
          <p:cNvPr id="35" name="Text 33"/>
          <p:cNvSpPr txBox="1"/>
          <p:nvPr/>
        </p:nvSpPr>
        <p:spPr>
          <a:xfrm>
            <a:off x="6400800" y="4553712"/>
            <a:ext cx="2377440" cy="621792"/>
          </a:xfrm>
          <a:prstGeom prst="rect">
            <a:avLst/>
          </a:prstGeom>
          <a:noFill/>
          <a:ln/>
        </p:spPr>
        <p:txBody>
          <a:bodyPr wrap="square" lIns="0" tIns="0" rIns="0" bIns="0" rtlCol="0" anchor="ctr"/>
          <a:lstStyle/>
          <a:p>
            <a:pPr indent="0" marL="0">
              <a:buNone/>
            </a:pPr>
            <a:r>
              <a:rPr lang="en-US" sz="1400" b="1" dirty="0">
                <a:solidFill>
                  <a:srgbClr val="0F172A"/>
                </a:solidFill>
              </a:rPr>
              <a:t>Rebalance the team (managers)</a:t>
            </a:r>
            <a:endParaRPr lang="en-US" sz="1400" dirty="0"/>
          </a:p>
        </p:txBody>
      </p:sp>
      <p:sp>
        <p:nvSpPr>
          <p:cNvPr id="36" name="Text 34"/>
          <p:cNvSpPr txBox="1"/>
          <p:nvPr/>
        </p:nvSpPr>
        <p:spPr>
          <a:xfrm>
            <a:off x="8823960" y="4553712"/>
            <a:ext cx="2697480" cy="621792"/>
          </a:xfrm>
          <a:prstGeom prst="rect">
            <a:avLst/>
          </a:prstGeom>
          <a:noFill/>
          <a:ln/>
        </p:spPr>
        <p:txBody>
          <a:bodyPr wrap="square" lIns="0" tIns="0" rIns="0" bIns="0" rtlCol="0" anchor="ctr"/>
          <a:lstStyle/>
          <a:p>
            <a:pPr indent="0" marL="0">
              <a:buNone/>
            </a:pPr>
            <a:r>
              <a:rPr lang="en-US" sz="1300" dirty="0">
                <a:solidFill>
                  <a:srgbClr val="1E40AF"/>
                </a:solidFill>
              </a:rPr>
              <a:t>Audits › Team Workload</a:t>
            </a:r>
            <a:endParaRPr lang="en-US" sz="1300" dirty="0"/>
          </a:p>
        </p:txBody>
      </p:sp>
      <p:sp>
        <p:nvSpPr>
          <p:cNvPr id="37" name="qa-1-5"/>
          <p:cNvSpPr/>
          <p:nvPr/>
        </p:nvSpPr>
        <p:spPr>
          <a:xfrm>
            <a:off x="6217920" y="5303520"/>
            <a:ext cx="5394960" cy="621792"/>
          </a:xfrm>
          <a:prstGeom prst="roundRect">
            <a:avLst>
              <a:gd name="adj" fmla="val 14706"/>
            </a:avLst>
          </a:prstGeom>
          <a:solidFill>
            <a:srgbClr val="F3F5FA"/>
          </a:solidFill>
          <a:ln w="12700">
            <a:solidFill>
              <a:srgbClr val="F3F5FA"/>
            </a:solidFill>
            <a:prstDash val="solid"/>
          </a:ln>
        </p:spPr>
      </p:sp>
      <p:sp>
        <p:nvSpPr>
          <p:cNvPr id="38" name="Text 36"/>
          <p:cNvSpPr txBox="1"/>
          <p:nvPr/>
        </p:nvSpPr>
        <p:spPr>
          <a:xfrm>
            <a:off x="6400800" y="5303520"/>
            <a:ext cx="2377440" cy="621792"/>
          </a:xfrm>
          <a:prstGeom prst="rect">
            <a:avLst/>
          </a:prstGeom>
          <a:noFill/>
          <a:ln/>
        </p:spPr>
        <p:txBody>
          <a:bodyPr wrap="square" lIns="0" tIns="0" rIns="0" bIns="0" rtlCol="0" anchor="ctr"/>
          <a:lstStyle/>
          <a:p>
            <a:pPr indent="0" marL="0">
              <a:buNone/>
            </a:pPr>
            <a:r>
              <a:rPr lang="en-US" sz="1400" b="1" dirty="0">
                <a:solidFill>
                  <a:srgbClr val="0F172A"/>
                </a:solidFill>
              </a:rPr>
              <a:t>Bill a client (accounts, partners)</a:t>
            </a:r>
            <a:endParaRPr lang="en-US" sz="1400" dirty="0"/>
          </a:p>
        </p:txBody>
      </p:sp>
      <p:sp>
        <p:nvSpPr>
          <p:cNvPr id="39" name="Text 37"/>
          <p:cNvSpPr txBox="1"/>
          <p:nvPr/>
        </p:nvSpPr>
        <p:spPr>
          <a:xfrm>
            <a:off x="8823960" y="5303520"/>
            <a:ext cx="2697480" cy="621792"/>
          </a:xfrm>
          <a:prstGeom prst="rect">
            <a:avLst/>
          </a:prstGeom>
          <a:noFill/>
          <a:ln/>
        </p:spPr>
        <p:txBody>
          <a:bodyPr wrap="square" lIns="0" tIns="0" rIns="0" bIns="0" rtlCol="0" anchor="ctr"/>
          <a:lstStyle/>
          <a:p>
            <a:pPr indent="0" marL="0">
              <a:buNone/>
            </a:pPr>
            <a:r>
              <a:rPr lang="en-US" sz="1300" dirty="0">
                <a:solidFill>
                  <a:srgbClr val="1E40AF"/>
                </a:solidFill>
              </a:rPr>
              <a:t>Audits › Billing &amp; Invoices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05840"/>
          </a:xfrm>
          <a:prstGeom prst="rect">
            <a:avLst/>
          </a:prstGeom>
          <a:noFill/>
          <a:ln/>
        </p:spPr>
        <p:txBody>
          <a:bodyPr wrap="square" lIns="0" tIns="0" rIns="0" bIns="0" rtlCol="0" anchor="b"/>
          <a:lstStyle/>
          <a:p>
            <a:pPr algn="l" indent="0" marL="0">
              <a:buNone/>
            </a:pPr>
            <a:r>
              <a:rPr lang="en-US" sz="4400" b="1" dirty="0">
                <a:solidFill>
                  <a:schemeClr val="bg1"/>
                </a:solidFill>
              </a:rPr>
              <a:t>Don’t see a screen you need?</a:t>
            </a:r>
            <a:endParaRPr lang="en-US" sz="4400" dirty="0"/>
          </a:p>
        </p:txBody>
      </p:sp>
      <p:sp>
        <p:nvSpPr>
          <p:cNvPr id="3" name="Text 0"/>
          <p:cNvSpPr/>
          <p:nvPr>
            <p:ph idx="101" type="body" hasCustomPrompt="1"/>
          </p:nvPr>
        </p:nvSpPr>
        <p:spPr>
          <a:xfrm>
            <a:off x="731520" y="3794760"/>
            <a:ext cx="10058400" cy="1097280"/>
          </a:xfrm>
          <a:prstGeom prst="rect">
            <a:avLst/>
          </a:prstGeom>
          <a:noFill/>
          <a:ln/>
        </p:spPr>
        <p:txBody>
          <a:bodyPr wrap="square" lIns="0" tIns="0" rIns="0" bIns="0" rtlCol="0" anchor="t"/>
          <a:lstStyle/>
          <a:p>
            <a:pPr algn="l" indent="0" marL="0">
              <a:buNone/>
            </a:pPr>
            <a:r>
              <a:rPr lang="en-US" sz="1800" dirty="0">
                <a:solidFill>
                  <a:srgbClr val="CBD5E1"/>
                </a:solidFill>
              </a:rPr>
              <a:t>Ask a Partner or Director to grant it in Settings › Access Control. Changes apply the next time you sign in.</a:t>
            </a:r>
            <a:endParaRPr lang="en-US" sz="1800" dirty="0"/>
          </a:p>
        </p:txBody>
      </p:sp>
    </p:spTree>
  </p:cSld>
  <p:clrMapOvr>
    <a:masterClrMapping/>
  </p:clrMapOvr>
</p:sld>
</file>

<file path=ppt/theme/theme1.xml><?xml version="1.0" encoding="utf-8"?>
<a:theme xmlns:a="http://schemas.openxmlformats.org/drawingml/2006/main" name="Astral Workspace">
  <a:themeElements>
    <a:clrScheme name="Astral Workspace">
      <a:dk1>
        <a:srgbClr val="0F172A"/>
      </a:dk1>
      <a:lt1>
        <a:srgbClr val="FFFFFF"/>
      </a:lt1>
      <a:dk2>
        <a:srgbClr val="0F1E3D"/>
      </a:dk2>
      <a:lt2>
        <a:srgbClr val="F3F5FA"/>
      </a:lt2>
      <a:accent1>
        <a:srgbClr val="C8102E"/>
      </a:accent1>
      <a:accent2>
        <a:srgbClr val="1E40AF"/>
      </a:accent2>
      <a:accent3>
        <a:srgbClr val="059669"/>
      </a:accent3>
      <a:accent4>
        <a:srgbClr val="D97706"/>
      </a:accent4>
      <a:accent5>
        <a:srgbClr val="7C3AED"/>
      </a:accent5>
      <a:accent6>
        <a:srgbClr val="0284C7"/>
      </a:accent6>
      <a:hlink>
        <a:srgbClr val="1E40AF"/>
      </a:hlink>
      <a:folHlink>
        <a:srgbClr val="7C3AED"/>
      </a:folHlink>
    </a:clrScheme>
    <a:fontScheme name="Astral Workspa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Astral Consulting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Astral Workspace — Role &amp; screen guide</dc:title>
  <dc:subject>PptxGenJS Presentation</dc:subject>
  <dc:creator>Astral Consulting Limited</dc:creator>
  <cp:lastModifiedBy>Astral Consulting Limited</cp:lastModifiedBy>
  <cp:revision>1</cp:revision>
  <dcterms:created xsi:type="dcterms:W3CDTF">2026-10-26T11:54:52Z</dcterms:created>
  <dcterms:modified xsi:type="dcterms:W3CDTF">2026-10-26T11:54:52Z</dcterms:modified>
</cp:coreProperties>
</file>